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Playfair Display" panose="00000500000000000000" pitchFamily="2" charset="0"/>
      <p:regular r:id="rId25"/>
      <p:bold r:id="rId26"/>
      <p:italic r:id="rId27"/>
      <p:boldItalic r:id="rId28"/>
    </p:embeddedFont>
    <p:embeddedFont>
      <p:font typeface="Playfair Display SemiBold" panose="020B0604020202020204" charset="0"/>
      <p:regular r:id="rId29"/>
      <p:bold r:id="rId30"/>
      <p:italic r:id="rId31"/>
      <p:boldItalic r:id="rId32"/>
    </p:embeddedFont>
    <p:embeddedFont>
      <p:font typeface="Plus Jakarta Sans" panose="020B0604020202020204" charset="0"/>
      <p:regular r:id="rId33"/>
      <p:bold r:id="rId34"/>
      <p:italic r:id="rId35"/>
      <p:boldItalic r:id="rId36"/>
    </p:embeddedFont>
    <p:embeddedFont>
      <p:font typeface="Plus Jakarta Sans Medium" panose="020B0604020202020204" charset="0"/>
      <p:regular r:id="rId37"/>
      <p:bold r:id="rId38"/>
      <p:italic r:id="rId39"/>
      <p:boldItalic r:id="rId40"/>
    </p:embeddedFont>
    <p:embeddedFont>
      <p:font typeface="Plus Jakarta Sans SemiBold" panose="020B060402020202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3C2146-B867-4D5D-ABA1-988120CD81A7}">
  <a:tblStyle styleId="{DF3C2146-B867-4D5D-ABA1-988120CD81A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693" autoAdjust="0"/>
  </p:normalViewPr>
  <p:slideViewPr>
    <p:cSldViewPr snapToGrid="0">
      <p:cViewPr>
        <p:scale>
          <a:sx n="100" d="100"/>
          <a:sy n="100" d="100"/>
        </p:scale>
        <p:origin x="954" y="-4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err="1">
                <a:solidFill>
                  <a:srgbClr val="000000"/>
                </a:solidFill>
                <a:effectLst/>
                <a:latin typeface="Arial"/>
                <a:ea typeface="Arial"/>
                <a:cs typeface="Arial"/>
                <a:sym typeface="Arial"/>
              </a:rPr>
              <a:t>Máy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tính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hiện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dùng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hai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loại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bộ</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nhớ</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chính</a:t>
            </a:r>
            <a:r>
              <a:rPr lang="en-US" sz="1100" b="0" i="0" u="none" strike="noStrike" cap="none" dirty="0">
                <a:solidFill>
                  <a:srgbClr val="000000"/>
                </a:solidFill>
                <a:effectLst/>
                <a:latin typeface="Arial"/>
                <a:ea typeface="Arial"/>
                <a:cs typeface="Arial"/>
                <a:sym typeface="Arial"/>
              </a:rPr>
              <a:t>: RAM — </a:t>
            </a:r>
            <a:r>
              <a:rPr lang="en-US" sz="1100" b="0" i="0" u="none" strike="noStrike" cap="none" dirty="0" err="1">
                <a:solidFill>
                  <a:srgbClr val="000000"/>
                </a:solidFill>
                <a:effectLst/>
                <a:latin typeface="Arial"/>
                <a:ea typeface="Arial"/>
                <a:cs typeface="Arial"/>
                <a:sym typeface="Arial"/>
              </a:rPr>
              <a:t>rất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nhanh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nhưng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mất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tắt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điện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và</a:t>
            </a:r>
            <a:r>
              <a:rPr lang="en-US" sz="1100" b="0" i="0" u="none" strike="noStrike" cap="none" dirty="0">
                <a:solidFill>
                  <a:srgbClr val="000000"/>
                </a:solidFill>
                <a:effectLst/>
                <a:latin typeface="Arial"/>
                <a:ea typeface="Arial"/>
                <a:cs typeface="Arial"/>
                <a:sym typeface="Arial"/>
              </a:rPr>
              <a:t> ổ SSD </a:t>
            </a:r>
            <a:r>
              <a:rPr lang="en-US" sz="1100" b="0" i="0" u="none" strike="noStrike" cap="none" dirty="0" err="1">
                <a:solidFill>
                  <a:srgbClr val="000000"/>
                </a:solidFill>
                <a:effectLst/>
                <a:latin typeface="Arial"/>
                <a:ea typeface="Arial"/>
                <a:cs typeface="Arial"/>
                <a:sym typeface="Arial"/>
              </a:rPr>
              <a:t>hoặc</a:t>
            </a:r>
            <a:r>
              <a:rPr lang="en-US" sz="1100" b="0" i="0" u="none" strike="noStrike" cap="none" dirty="0">
                <a:solidFill>
                  <a:srgbClr val="000000"/>
                </a:solidFill>
                <a:effectLst/>
                <a:latin typeface="Arial"/>
                <a:ea typeface="Arial"/>
                <a:cs typeface="Arial"/>
                <a:sym typeface="Arial"/>
              </a:rPr>
              <a:t> HDD — </a:t>
            </a:r>
            <a:r>
              <a:rPr lang="en-US" sz="1100" b="0" i="0" u="none" strike="noStrike" cap="none" dirty="0" err="1">
                <a:solidFill>
                  <a:srgbClr val="000000"/>
                </a:solidFill>
                <a:effectLst/>
                <a:latin typeface="Arial"/>
                <a:ea typeface="Arial"/>
                <a:cs typeface="Arial"/>
                <a:sym typeface="Arial"/>
              </a:rPr>
              <a:t>lưu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bền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nhưng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chậm</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hơn</a:t>
            </a:r>
            <a:r>
              <a:rPr lang="en-US" sz="1100" b="0" i="0" u="none" strike="noStrike" cap="none" dirty="0">
                <a:solidFill>
                  <a:srgbClr val="000000"/>
                </a:solidFill>
                <a:effectLst/>
                <a:latin typeface="Arial"/>
                <a:ea typeface="Arial"/>
                <a:cs typeface="Arial"/>
                <a:sym typeface="Arial"/>
              </a:rPr>
              <a:t> RAM </a:t>
            </a:r>
            <a:r>
              <a:rPr lang="en-US" sz="1100" b="0" i="0" u="none" strike="noStrike" cap="none" dirty="0" err="1">
                <a:solidFill>
                  <a:srgbClr val="000000"/>
                </a:solidFill>
                <a:effectLst/>
                <a:latin typeface="Arial"/>
                <a:ea typeface="Arial"/>
                <a:cs typeface="Arial"/>
                <a:sym typeface="Arial"/>
              </a:rPr>
              <a:t>khoảng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một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nghìn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lần</a:t>
            </a:r>
            <a:r>
              <a:rPr lang="en-US" sz="1100" b="0" i="0" u="none" strike="noStrike" cap="none" dirty="0">
                <a:solidFill>
                  <a:srgbClr val="000000"/>
                </a:solidFill>
                <a:effectLst/>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err="1">
                <a:solidFill>
                  <a:srgbClr val="000000"/>
                </a:solidFill>
                <a:effectLst/>
                <a:latin typeface="Arial"/>
                <a:ea typeface="Arial"/>
                <a:cs typeface="Arial"/>
                <a:sym typeface="Arial"/>
              </a:rPr>
              <a:t>Vấn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đề</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có</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gì</a:t>
            </a:r>
            <a:r>
              <a:rPr lang="en-US" sz="1100" b="0" i="0" u="none" strike="noStrike" cap="none" dirty="0">
                <a:solidFill>
                  <a:srgbClr val="000000"/>
                </a:solidFill>
                <a:effectLst/>
                <a:latin typeface="Arial"/>
                <a:ea typeface="Arial"/>
                <a:cs typeface="Arial"/>
                <a:sym typeface="Arial"/>
              </a:rPr>
              <a:t> ở </a:t>
            </a:r>
            <a:r>
              <a:rPr lang="en-US" sz="1100" b="0" i="0" u="none" strike="noStrike" cap="none" dirty="0" err="1">
                <a:solidFill>
                  <a:srgbClr val="000000"/>
                </a:solidFill>
                <a:effectLst/>
                <a:latin typeface="Arial"/>
                <a:ea typeface="Arial"/>
                <a:cs typeface="Arial"/>
                <a:sym typeface="Arial"/>
              </a:rPr>
              <a:t>giữa</a:t>
            </a:r>
            <a:r>
              <a:rPr lang="en-US" sz="1100" b="0" i="0" u="none" strike="noStrike" cap="none" dirty="0">
                <a:solidFill>
                  <a:srgbClr val="000000"/>
                </a:solidFill>
                <a:effectLst/>
                <a:latin typeface="Arial"/>
                <a:ea typeface="Arial"/>
                <a:cs typeface="Arial"/>
                <a:sym typeface="Arial"/>
              </a:rPr>
              <a:t>. Khi </a:t>
            </a:r>
            <a:r>
              <a:rPr lang="en-US" sz="1100" b="0" i="0" u="none" strike="noStrike" cap="none" dirty="0" err="1">
                <a:solidFill>
                  <a:srgbClr val="000000"/>
                </a:solidFill>
                <a:effectLst/>
                <a:latin typeface="Arial"/>
                <a:ea typeface="Arial"/>
                <a:cs typeface="Arial"/>
                <a:sym typeface="Arial"/>
              </a:rPr>
              <a:t>ứng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dụng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cần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xử</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lý</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lượng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lớn</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ví</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dụ</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huấn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luyện</a:t>
            </a:r>
            <a:r>
              <a:rPr lang="en-US" sz="1100" b="0" i="0" u="none" strike="noStrike" cap="none" dirty="0">
                <a:solidFill>
                  <a:srgbClr val="000000"/>
                </a:solidFill>
                <a:effectLst/>
                <a:latin typeface="Arial"/>
                <a:ea typeface="Arial"/>
                <a:cs typeface="Arial"/>
                <a:sym typeface="Arial"/>
              </a:rPr>
              <a:t> AI hay </a:t>
            </a:r>
            <a:r>
              <a:rPr lang="en-US" sz="1100" b="0" i="0" u="none" strike="noStrike" cap="none" dirty="0" err="1">
                <a:solidFill>
                  <a:srgbClr val="000000"/>
                </a:solidFill>
                <a:effectLst/>
                <a:latin typeface="Arial"/>
                <a:ea typeface="Arial"/>
                <a:cs typeface="Arial"/>
                <a:sym typeface="Arial"/>
              </a:rPr>
              <a:t>phân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tích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thực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thời</a:t>
            </a:r>
            <a:r>
              <a:rPr lang="en-US" sz="1100" b="0" i="0" u="none" strike="noStrike" cap="none" dirty="0">
                <a:solidFill>
                  <a:srgbClr val="000000"/>
                </a:solidFill>
                <a:effectLst/>
                <a:latin typeface="Arial"/>
                <a:ea typeface="Arial"/>
                <a:cs typeface="Arial"/>
                <a:sym typeface="Arial"/>
              </a:rPr>
              <a:t> — CPU </a:t>
            </a:r>
            <a:r>
              <a:rPr lang="en-US" sz="1100" b="0" i="0" u="none" strike="noStrike" cap="none" dirty="0" err="1">
                <a:solidFill>
                  <a:srgbClr val="000000"/>
                </a:solidFill>
                <a:effectLst/>
                <a:latin typeface="Arial"/>
                <a:ea typeface="Arial"/>
                <a:cs typeface="Arial"/>
                <a:sym typeface="Arial"/>
              </a:rPr>
              <a:t>liên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tục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phải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chờ</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dữ</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từ</a:t>
            </a:r>
            <a:r>
              <a:rPr lang="en-US" sz="1100" b="0" i="0" u="none" strike="noStrike" cap="none" dirty="0">
                <a:solidFill>
                  <a:srgbClr val="000000"/>
                </a:solidFill>
                <a:effectLst/>
                <a:latin typeface="Arial"/>
                <a:ea typeface="Arial"/>
                <a:cs typeface="Arial"/>
                <a:sym typeface="Arial"/>
              </a:rPr>
              <a:t> ổ </a:t>
            </a:r>
            <a:r>
              <a:rPr lang="en-US" sz="1100" b="0" i="0" u="none" strike="noStrike" cap="none" dirty="0" err="1">
                <a:solidFill>
                  <a:srgbClr val="000000"/>
                </a:solidFill>
                <a:effectLst/>
                <a:latin typeface="Arial"/>
                <a:ea typeface="Arial"/>
                <a:cs typeface="Arial"/>
                <a:sym typeface="Arial"/>
              </a:rPr>
              <a:t>cứng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lên</a:t>
            </a:r>
            <a:r>
              <a:rPr lang="en-US" sz="1100" b="0" i="0" u="none" strike="noStrike" cap="none" dirty="0">
                <a:solidFill>
                  <a:srgbClr val="000000"/>
                </a:solidFill>
                <a:effectLst/>
                <a:latin typeface="Arial"/>
                <a:ea typeface="Arial"/>
                <a:cs typeface="Arial"/>
                <a:sym typeface="Arial"/>
              </a:rPr>
              <a:t> RAM. </a:t>
            </a:r>
            <a:r>
              <a:rPr lang="en-US" sz="1100" b="0" i="0" u="none" strike="noStrike" cap="none" dirty="0" err="1">
                <a:solidFill>
                  <a:srgbClr val="000000"/>
                </a:solidFill>
                <a:effectLst/>
                <a:latin typeface="Arial"/>
                <a:ea typeface="Arial"/>
                <a:cs typeface="Arial"/>
                <a:sym typeface="Arial"/>
              </a:rPr>
              <a:t>Cái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khoảng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trống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này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người</a:t>
            </a:r>
            <a:r>
              <a:rPr lang="en-US" sz="1100" b="0" i="0" u="none" strike="noStrike" cap="none" dirty="0">
                <a:solidFill>
                  <a:srgbClr val="000000"/>
                </a:solidFill>
                <a:effectLst/>
                <a:latin typeface="Arial"/>
                <a:ea typeface="Arial"/>
                <a:cs typeface="Arial"/>
                <a:sym typeface="Arial"/>
              </a:rPr>
              <a:t> ta </a:t>
            </a:r>
            <a:r>
              <a:rPr lang="en-US" sz="1100" b="0" i="0" u="none" strike="noStrike" cap="none" dirty="0" err="1">
                <a:solidFill>
                  <a:srgbClr val="000000"/>
                </a:solidFill>
                <a:effectLst/>
                <a:latin typeface="Arial"/>
                <a:ea typeface="Arial"/>
                <a:cs typeface="Arial"/>
                <a:sym typeface="Arial"/>
              </a:rPr>
              <a:t>gọi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là</a:t>
            </a:r>
            <a:r>
              <a:rPr lang="en-US" sz="1100" b="0" i="0" u="none" strike="noStrike" cap="none" dirty="0">
                <a:solidFill>
                  <a:srgbClr val="000000"/>
                </a:solidFill>
                <a:effectLst/>
                <a:latin typeface="Arial"/>
                <a:ea typeface="Arial"/>
                <a:cs typeface="Arial"/>
                <a:sym typeface="Arial"/>
              </a:rPr>
              <a:t> Memory Wall — </a:t>
            </a:r>
            <a:r>
              <a:rPr lang="en-US" sz="1100" b="0" i="0" u="none" strike="noStrike" cap="none" dirty="0" err="1">
                <a:solidFill>
                  <a:srgbClr val="000000"/>
                </a:solidFill>
                <a:effectLst/>
                <a:latin typeface="Arial"/>
                <a:ea typeface="Arial"/>
                <a:cs typeface="Arial"/>
                <a:sym typeface="Arial"/>
              </a:rPr>
              <a:t>bức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tường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hiệu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năng</a:t>
            </a:r>
            <a:r>
              <a:rPr lang="en-US" sz="1100" b="0" i="0" u="none" strike="noStrike" cap="none" dirty="0">
                <a:solidFill>
                  <a:srgbClr val="000000"/>
                </a:solidFill>
                <a:effectLst/>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1" name="Google Shape;591;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20.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sp>
        <p:nvSpPr>
          <p:cNvPr id="87" name="Google Shape;87;p13"/>
          <p:cNvSpPr txBox="1"/>
          <p:nvPr/>
        </p:nvSpPr>
        <p:spPr>
          <a:xfrm>
            <a:off x="9728745" y="552450"/>
            <a:ext cx="1691729"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dirty="0">
                <a:solidFill>
                  <a:srgbClr val="64748B"/>
                </a:solidFill>
                <a:latin typeface="Plus Jakarta Sans Medium"/>
                <a:ea typeface="Plus Jakarta Sans Medium"/>
                <a:cs typeface="Plus Jakarta Sans Medium"/>
                <a:sym typeface="Plus Jakarta Sans Medium"/>
              </a:rPr>
              <a:t> IT2004.CH201</a:t>
            </a:r>
            <a:endParaRPr dirty="0"/>
          </a:p>
        </p:txBody>
      </p:sp>
      <p:sp>
        <p:nvSpPr>
          <p:cNvPr id="89" name="Google Shape;89;p13"/>
          <p:cNvSpPr txBox="1"/>
          <p:nvPr/>
        </p:nvSpPr>
        <p:spPr>
          <a:xfrm>
            <a:off x="771525" y="2316063"/>
            <a:ext cx="10001250" cy="1643062"/>
          </a:xfrm>
          <a:prstGeom prst="rect">
            <a:avLst/>
          </a:prstGeom>
          <a:noFill/>
          <a:ln>
            <a:noFill/>
          </a:ln>
        </p:spPr>
        <p:txBody>
          <a:bodyPr spcFirstLastPara="1" wrap="square" lIns="0" tIns="0" rIns="0" bIns="0" anchor="t" anchorCtr="0">
            <a:spAutoFit/>
          </a:bodyPr>
          <a:lstStyle/>
          <a:p>
            <a:pPr marL="0" marR="0" lvl="0" indent="0" algn="l" rtl="0">
              <a:lnSpc>
                <a:spcPct val="124985"/>
              </a:lnSpc>
              <a:spcBef>
                <a:spcPts val="0"/>
              </a:spcBef>
              <a:spcAft>
                <a:spcPts val="0"/>
              </a:spcAft>
              <a:buNone/>
            </a:pPr>
            <a:r>
              <a:rPr lang="en-US" sz="3450" b="1" i="0" u="none" strike="noStrike" cap="none">
                <a:solidFill>
                  <a:srgbClr val="0F172A"/>
                </a:solidFill>
                <a:latin typeface="Playfair Display"/>
                <a:ea typeface="Playfair Display"/>
                <a:cs typeface="Playfair Display"/>
                <a:sym typeface="Playfair Display"/>
              </a:rPr>
              <a:t>Kiến Trúc Bộ Nhớ Phi Khả Biến Dựa Trên ReRAM/PCM và Ứng Dụng Trong Storage-Class Memory (SCM)</a:t>
            </a:r>
            <a:endParaRPr/>
          </a:p>
        </p:txBody>
      </p:sp>
      <p:sp>
        <p:nvSpPr>
          <p:cNvPr id="91" name="Google Shape;91;p13"/>
          <p:cNvSpPr txBox="1"/>
          <p:nvPr/>
        </p:nvSpPr>
        <p:spPr>
          <a:xfrm>
            <a:off x="771525" y="4593265"/>
            <a:ext cx="1927224" cy="1269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dirty="0">
                <a:solidFill>
                  <a:srgbClr val="94A3B8"/>
                </a:solidFill>
                <a:latin typeface="Plus Jakarta Sans SemiBold"/>
                <a:ea typeface="Plus Jakarta Sans SemiBold"/>
                <a:cs typeface="Plus Jakarta Sans SemiBold"/>
                <a:sym typeface="Plus Jakarta Sans SemiBold"/>
              </a:rPr>
              <a:t>GIẢNG VIÊN HƯỚNG DẪN</a:t>
            </a:r>
            <a:endParaRPr dirty="0"/>
          </a:p>
        </p:txBody>
      </p:sp>
      <p:sp>
        <p:nvSpPr>
          <p:cNvPr id="92" name="Google Shape;92;p13"/>
          <p:cNvSpPr txBox="1"/>
          <p:nvPr/>
        </p:nvSpPr>
        <p:spPr>
          <a:xfrm>
            <a:off x="771525" y="4755190"/>
            <a:ext cx="1927224"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dirty="0">
                <a:solidFill>
                  <a:srgbClr val="334155"/>
                </a:solidFill>
                <a:latin typeface="Plus Jakarta Sans SemiBold"/>
                <a:ea typeface="Plus Jakarta Sans SemiBold"/>
                <a:cs typeface="Plus Jakarta Sans SemiBold"/>
                <a:sym typeface="Plus Jakarta Sans SemiBold"/>
              </a:rPr>
              <a:t>TS. Nguyễn Mạnh Thảo</a:t>
            </a:r>
            <a:endParaRPr dirty="0"/>
          </a:p>
        </p:txBody>
      </p:sp>
      <p:sp>
        <p:nvSpPr>
          <p:cNvPr id="93" name="Google Shape;93;p13"/>
          <p:cNvSpPr txBox="1"/>
          <p:nvPr/>
        </p:nvSpPr>
        <p:spPr>
          <a:xfrm>
            <a:off x="5116831" y="4593265"/>
            <a:ext cx="2769870" cy="1269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dirty="0">
                <a:solidFill>
                  <a:srgbClr val="94A3B8"/>
                </a:solidFill>
                <a:latin typeface="Plus Jakarta Sans SemiBold"/>
                <a:ea typeface="Plus Jakarta Sans SemiBold"/>
                <a:cs typeface="Plus Jakarta Sans SemiBold"/>
                <a:sym typeface="Plus Jakarta Sans SemiBold"/>
              </a:rPr>
              <a:t>DANH SÁCH THÀNH VIÊN</a:t>
            </a:r>
            <a:endParaRPr dirty="0"/>
          </a:p>
        </p:txBody>
      </p:sp>
      <p:sp>
        <p:nvSpPr>
          <p:cNvPr id="94" name="Google Shape;94;p13"/>
          <p:cNvSpPr txBox="1"/>
          <p:nvPr/>
        </p:nvSpPr>
        <p:spPr>
          <a:xfrm>
            <a:off x="5116831" y="4755190"/>
            <a:ext cx="2769870" cy="1050288"/>
          </a:xfrm>
          <a:prstGeom prst="rect">
            <a:avLst/>
          </a:prstGeom>
          <a:noFill/>
          <a:ln>
            <a:noFill/>
          </a:ln>
        </p:spPr>
        <p:txBody>
          <a:bodyPr spcFirstLastPara="1" wrap="square" lIns="0" tIns="0" rIns="0" bIns="0" anchor="t" anchorCtr="0">
            <a:spAutoFit/>
          </a:bodyPr>
          <a:lstStyle/>
          <a:p>
            <a:pPr lvl="0">
              <a:lnSpc>
                <a:spcPct val="139897"/>
              </a:lnSpc>
            </a:pPr>
            <a:r>
              <a:rPr lang="en-US" sz="975" dirty="0">
                <a:solidFill>
                  <a:srgbClr val="475569"/>
                </a:solidFill>
                <a:latin typeface="Plus Jakarta Sans"/>
                <a:ea typeface="Plus Jakarta Sans"/>
                <a:cs typeface="Plus Jakarta Sans"/>
                <a:sym typeface="Plus Jakarta Sans"/>
              </a:rPr>
              <a:t>Phan Văn Minh - 250202014</a:t>
            </a:r>
            <a:endParaRPr lang="en-US" sz="975" b="0" i="0" u="none" strike="noStrike" cap="none" dirty="0">
              <a:solidFill>
                <a:srgbClr val="475569"/>
              </a:solidFill>
              <a:latin typeface="Plus Jakarta Sans"/>
              <a:ea typeface="Plus Jakarta Sans"/>
              <a:cs typeface="Plus Jakarta Sans"/>
              <a:sym typeface="Plus Jakarta Sans"/>
            </a:endParaRPr>
          </a:p>
          <a:p>
            <a:pPr lvl="0">
              <a:lnSpc>
                <a:spcPct val="139897"/>
              </a:lnSpc>
            </a:pPr>
            <a:r>
              <a:rPr lang="en-US" sz="975" b="0" i="0" u="none" strike="noStrike" cap="none" dirty="0">
                <a:solidFill>
                  <a:srgbClr val="475569"/>
                </a:solidFill>
                <a:latin typeface="Plus Jakarta Sans"/>
                <a:ea typeface="Plus Jakarta Sans"/>
                <a:cs typeface="Plus Jakarta Sans"/>
                <a:sym typeface="Plus Jakarta Sans"/>
              </a:rPr>
              <a:t>Bùi </a:t>
            </a:r>
            <a:r>
              <a:rPr lang="en-US" sz="975" b="0" i="0" u="none" strike="noStrike" cap="none" dirty="0" err="1">
                <a:solidFill>
                  <a:srgbClr val="475569"/>
                </a:solidFill>
                <a:latin typeface="Plus Jakarta Sans"/>
                <a:ea typeface="Plus Jakarta Sans"/>
                <a:cs typeface="Plus Jakarta Sans"/>
                <a:sym typeface="Plus Jakarta Sans"/>
              </a:rPr>
              <a:t>Tấn</a:t>
            </a:r>
            <a:r>
              <a:rPr lang="en-US" sz="975" b="0" i="0" u="none" strike="noStrike" cap="none" dirty="0">
                <a:solidFill>
                  <a:srgbClr val="475569"/>
                </a:solidFill>
                <a:latin typeface="Plus Jakarta Sans"/>
                <a:ea typeface="Plus Jakarta Sans"/>
                <a:cs typeface="Plus Jakarta Sans"/>
                <a:sym typeface="Plus Jakarta Sans"/>
              </a:rPr>
              <a:t> </a:t>
            </a:r>
            <a:r>
              <a:rPr lang="en-US" sz="975" b="0" i="0" u="none" strike="noStrike" cap="none" dirty="0" err="1">
                <a:solidFill>
                  <a:srgbClr val="475569"/>
                </a:solidFill>
                <a:latin typeface="Plus Jakarta Sans"/>
                <a:ea typeface="Plus Jakarta Sans"/>
                <a:cs typeface="Plus Jakarta Sans"/>
                <a:sym typeface="Plus Jakarta Sans"/>
              </a:rPr>
              <a:t>Hưng</a:t>
            </a:r>
            <a:r>
              <a:rPr lang="en-US" sz="975" dirty="0">
                <a:solidFill>
                  <a:srgbClr val="475569"/>
                </a:solidFill>
                <a:latin typeface="Plus Jakarta Sans"/>
                <a:ea typeface="Plus Jakarta Sans"/>
                <a:cs typeface="Plus Jakarta Sans"/>
                <a:sym typeface="Plus Jakarta Sans"/>
              </a:rPr>
              <a:t> - 250202039</a:t>
            </a:r>
            <a:endParaRPr lang="en-US" sz="975" b="0" i="0" u="none" strike="noStrike" cap="none" dirty="0">
              <a:solidFill>
                <a:srgbClr val="475569"/>
              </a:solidFill>
              <a:latin typeface="Plus Jakarta Sans"/>
              <a:ea typeface="Plus Jakarta Sans"/>
              <a:cs typeface="Plus Jakarta Sans"/>
              <a:sym typeface="Plus Jakarta Sans"/>
            </a:endParaRPr>
          </a:p>
          <a:p>
            <a:pPr lvl="0">
              <a:lnSpc>
                <a:spcPct val="139897"/>
              </a:lnSpc>
            </a:pPr>
            <a:r>
              <a:rPr lang="en-US" sz="975" b="0" i="0" u="none" strike="noStrike" cap="none" dirty="0">
                <a:solidFill>
                  <a:srgbClr val="475569"/>
                </a:solidFill>
                <a:latin typeface="Plus Jakarta Sans"/>
                <a:ea typeface="Plus Jakarta Sans"/>
                <a:cs typeface="Plus Jakarta Sans"/>
                <a:sym typeface="Plus Jakarta Sans"/>
              </a:rPr>
              <a:t>Nguyễn </a:t>
            </a:r>
            <a:r>
              <a:rPr lang="en-US" sz="975" b="0" i="0" u="none" strike="noStrike" cap="none" dirty="0" err="1">
                <a:solidFill>
                  <a:srgbClr val="475569"/>
                </a:solidFill>
                <a:latin typeface="Plus Jakarta Sans"/>
                <a:ea typeface="Plus Jakarta Sans"/>
                <a:cs typeface="Plus Jakarta Sans"/>
                <a:sym typeface="Plus Jakarta Sans"/>
              </a:rPr>
              <a:t>Tấn</a:t>
            </a:r>
            <a:r>
              <a:rPr lang="en-US" sz="975" b="0" i="0" u="none" strike="noStrike" cap="none" dirty="0">
                <a:solidFill>
                  <a:srgbClr val="475569"/>
                </a:solidFill>
                <a:latin typeface="Plus Jakarta Sans"/>
                <a:ea typeface="Plus Jakarta Sans"/>
                <a:cs typeface="Plus Jakarta Sans"/>
                <a:sym typeface="Plus Jakarta Sans"/>
              </a:rPr>
              <a:t> Đạt</a:t>
            </a:r>
            <a:r>
              <a:rPr lang="en-US" sz="975" dirty="0">
                <a:solidFill>
                  <a:srgbClr val="475569"/>
                </a:solidFill>
                <a:latin typeface="Plus Jakarta Sans"/>
                <a:ea typeface="Plus Jakarta Sans"/>
                <a:cs typeface="Plus Jakarta Sans"/>
                <a:sym typeface="Plus Jakarta Sans"/>
              </a:rPr>
              <a:t> - 250202033 </a:t>
            </a:r>
            <a:endParaRPr lang="en-US" sz="975" b="0" i="0" u="none" strike="noStrike" cap="none" dirty="0">
              <a:solidFill>
                <a:srgbClr val="475569"/>
              </a:solidFill>
              <a:latin typeface="Plus Jakarta Sans"/>
              <a:ea typeface="Plus Jakarta Sans"/>
              <a:cs typeface="Plus Jakarta Sans"/>
              <a:sym typeface="Plus Jakarta Sans"/>
            </a:endParaRPr>
          </a:p>
          <a:p>
            <a:pPr lvl="0">
              <a:lnSpc>
                <a:spcPct val="139897"/>
              </a:lnSpc>
            </a:pPr>
            <a:r>
              <a:rPr lang="en-US" sz="975" b="0" i="0" u="none" strike="noStrike" cap="none" dirty="0">
                <a:solidFill>
                  <a:srgbClr val="475569"/>
                </a:solidFill>
                <a:latin typeface="Plus Jakarta Sans"/>
                <a:ea typeface="Plus Jakarta Sans"/>
                <a:cs typeface="Plus Jakarta Sans"/>
                <a:sym typeface="Plus Jakarta Sans"/>
              </a:rPr>
              <a:t>Đinh Hoàng Lộc</a:t>
            </a:r>
            <a:r>
              <a:rPr lang="en-US" sz="975" dirty="0">
                <a:solidFill>
                  <a:srgbClr val="475569"/>
                </a:solidFill>
                <a:latin typeface="Plus Jakarta Sans"/>
                <a:ea typeface="Plus Jakarta Sans"/>
                <a:cs typeface="Plus Jakarta Sans"/>
                <a:sym typeface="Plus Jakarta Sans"/>
              </a:rPr>
              <a:t> - 250202011 </a:t>
            </a:r>
          </a:p>
          <a:p>
            <a:pPr lvl="0">
              <a:lnSpc>
                <a:spcPct val="139897"/>
              </a:lnSpc>
            </a:pPr>
            <a:r>
              <a:rPr lang="en-US" sz="975" b="0" i="0" u="none" strike="noStrike" cap="none" dirty="0">
                <a:solidFill>
                  <a:srgbClr val="475569"/>
                </a:solidFill>
                <a:latin typeface="Plus Jakarta Sans"/>
                <a:ea typeface="Plus Jakarta Sans"/>
                <a:cs typeface="Plus Jakarta Sans"/>
                <a:sym typeface="Plus Jakarta Sans"/>
              </a:rPr>
              <a:t>Dương Hiển </a:t>
            </a:r>
            <a:r>
              <a:rPr lang="en-US" sz="975" b="0" i="0" u="none" strike="noStrike" cap="none" dirty="0" err="1">
                <a:solidFill>
                  <a:srgbClr val="475569"/>
                </a:solidFill>
                <a:latin typeface="Plus Jakarta Sans"/>
                <a:ea typeface="Plus Jakarta Sans"/>
                <a:cs typeface="Plus Jakarta Sans"/>
                <a:sym typeface="Plus Jakarta Sans"/>
              </a:rPr>
              <a:t>Thế</a:t>
            </a:r>
            <a:r>
              <a:rPr lang="en-US" sz="975" b="0" i="0" u="none" strike="noStrike" cap="none" dirty="0">
                <a:solidFill>
                  <a:srgbClr val="475569"/>
                </a:solidFill>
                <a:latin typeface="Plus Jakarta Sans"/>
                <a:ea typeface="Plus Jakarta Sans"/>
                <a:cs typeface="Plus Jakarta Sans"/>
                <a:sym typeface="Plus Jakarta Sans"/>
              </a:rPr>
              <a:t> </a:t>
            </a:r>
            <a:r>
              <a:rPr lang="en-US" sz="975" dirty="0">
                <a:solidFill>
                  <a:srgbClr val="475569"/>
                </a:solidFill>
                <a:latin typeface="Plus Jakarta Sans"/>
                <a:ea typeface="Plus Jakarta Sans"/>
                <a:cs typeface="Plus Jakarta Sans"/>
                <a:sym typeface="Plus Jakarta Sans"/>
              </a:rPr>
              <a:t> - 250202054 </a:t>
            </a:r>
            <a:endParaRPr lang="en-US" sz="975" b="0" i="0" u="none" strike="noStrike" cap="none" dirty="0">
              <a:solidFill>
                <a:srgbClr val="475569"/>
              </a:solidFill>
              <a:latin typeface="Plus Jakarta Sans"/>
              <a:ea typeface="Plus Jakarta Sans"/>
              <a:cs typeface="Plus Jakarta Sans"/>
              <a:sym typeface="Plus Jakarta Sans"/>
            </a:endParaRPr>
          </a:p>
        </p:txBody>
      </p:sp>
      <p:pic>
        <p:nvPicPr>
          <p:cNvPr id="3" name="Picture 2">
            <a:extLst>
              <a:ext uri="{FF2B5EF4-FFF2-40B4-BE49-F238E27FC236}">
                <a16:creationId xmlns:a16="http://schemas.microsoft.com/office/drawing/2014/main" id="{F57DA47A-0CE7-4047-8195-3CB652BFAA2B}"/>
              </a:ext>
            </a:extLst>
          </p:cNvPr>
          <p:cNvPicPr>
            <a:picLocks noChangeAspect="1"/>
          </p:cNvPicPr>
          <p:nvPr/>
        </p:nvPicPr>
        <p:blipFill>
          <a:blip r:embed="rId3"/>
          <a:stretch>
            <a:fillRect/>
          </a:stretch>
        </p:blipFill>
        <p:spPr>
          <a:xfrm>
            <a:off x="646738" y="226562"/>
            <a:ext cx="1959301" cy="15837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p:cNvSpPr txBox="1"/>
          <p:nvPr/>
        </p:nvSpPr>
        <p:spPr>
          <a:xfrm>
            <a:off x="1000125" y="29469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01. Đặt vấn đề:</a:t>
            </a:r>
            <a:r>
              <a:rPr lang="en-US" sz="1125" b="0" i="0" u="none" strike="noStrike" cap="none">
                <a:solidFill>
                  <a:srgbClr val="475569"/>
                </a:solidFill>
                <a:latin typeface="Plus Jakarta Sans"/>
                <a:ea typeface="Plus Jakarta Sans"/>
                <a:cs typeface="Plus Jakarta Sans"/>
                <a:sym typeface="Plus Jakarta Sans"/>
              </a:rPr>
              <a:t> Giới hạn phân cấp bộ nhớ truyền thống</a:t>
            </a:r>
            <a:endParaRPr/>
          </a:p>
        </p:txBody>
      </p:sp>
      <p:sp>
        <p:nvSpPr>
          <p:cNvPr id="101" name="Google Shape;101;p14"/>
          <p:cNvSpPr txBox="1"/>
          <p:nvPr/>
        </p:nvSpPr>
        <p:spPr>
          <a:xfrm>
            <a:off x="1000125" y="33660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02. Công nghệ PCM:</a:t>
            </a:r>
            <a:r>
              <a:rPr lang="en-US" sz="1125" b="0" i="0" u="none" strike="noStrike" cap="none">
                <a:solidFill>
                  <a:srgbClr val="475569"/>
                </a:solidFill>
                <a:latin typeface="Plus Jakarta Sans"/>
                <a:ea typeface="Plus Jakarta Sans"/>
                <a:cs typeface="Plus Jakarta Sans"/>
                <a:sym typeface="Plus Jakarta Sans"/>
              </a:rPr>
              <a:t> Nguyên lý, thiết kế và thách thức</a:t>
            </a:r>
            <a:endParaRPr/>
          </a:p>
        </p:txBody>
      </p:sp>
      <p:sp>
        <p:nvSpPr>
          <p:cNvPr id="102" name="Google Shape;102;p14"/>
          <p:cNvSpPr txBox="1"/>
          <p:nvPr/>
        </p:nvSpPr>
        <p:spPr>
          <a:xfrm>
            <a:off x="1000125" y="37851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03. Công nghệ ReRAM:</a:t>
            </a:r>
            <a:r>
              <a:rPr lang="en-US" sz="1125" b="0" i="0" u="none" strike="noStrike" cap="none">
                <a:solidFill>
                  <a:srgbClr val="475569"/>
                </a:solidFill>
                <a:latin typeface="Plus Jakarta Sans"/>
                <a:ea typeface="Plus Jakarta Sans"/>
                <a:cs typeface="Plus Jakarta Sans"/>
                <a:sym typeface="Plus Jakarta Sans"/>
              </a:rPr>
              <a:t> Cơ chế vật lý &amp; cấu trúc Crossbar</a:t>
            </a:r>
            <a:endParaRPr/>
          </a:p>
        </p:txBody>
      </p:sp>
      <p:sp>
        <p:nvSpPr>
          <p:cNvPr id="103" name="Google Shape;103;p14"/>
          <p:cNvSpPr txBox="1"/>
          <p:nvPr/>
        </p:nvSpPr>
        <p:spPr>
          <a:xfrm>
            <a:off x="1000125" y="42042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04. Processing-In-Memory (PIM):</a:t>
            </a:r>
            <a:r>
              <a:rPr lang="en-US" sz="1125" b="0" i="0" u="none" strike="noStrike" cap="none">
                <a:solidFill>
                  <a:srgbClr val="475569"/>
                </a:solidFill>
                <a:latin typeface="Plus Jakarta Sans"/>
                <a:ea typeface="Plus Jakarta Sans"/>
                <a:cs typeface="Plus Jakarta Sans"/>
                <a:sym typeface="Plus Jakarta Sans"/>
              </a:rPr>
              <a:t> Ứng dụng ReRAM tính toán</a:t>
            </a:r>
            <a:endParaRPr/>
          </a:p>
        </p:txBody>
      </p:sp>
      <p:sp>
        <p:nvSpPr>
          <p:cNvPr id="104" name="Google Shape;104;p14"/>
          <p:cNvSpPr txBox="1"/>
          <p:nvPr/>
        </p:nvSpPr>
        <p:spPr>
          <a:xfrm>
            <a:off x="6610350" y="29469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05. Storage-Class Memory:</a:t>
            </a:r>
            <a:r>
              <a:rPr lang="en-US" sz="1125" b="0" i="0" u="none" strike="noStrike" cap="none">
                <a:solidFill>
                  <a:srgbClr val="475569"/>
                </a:solidFill>
                <a:latin typeface="Plus Jakarta Sans"/>
                <a:ea typeface="Plus Jakarta Sans"/>
                <a:cs typeface="Plus Jakarta Sans"/>
                <a:sym typeface="Plus Jakarta Sans"/>
              </a:rPr>
              <a:t> Khái niệm &amp; hướng nghiên cứu</a:t>
            </a:r>
            <a:endParaRPr/>
          </a:p>
        </p:txBody>
      </p:sp>
      <p:sp>
        <p:nvSpPr>
          <p:cNvPr id="105" name="Google Shape;105;p14"/>
          <p:cNvSpPr txBox="1"/>
          <p:nvPr/>
        </p:nvSpPr>
        <p:spPr>
          <a:xfrm>
            <a:off x="6610350" y="33660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06. Case study:</a:t>
            </a:r>
            <a:r>
              <a:rPr lang="en-US" sz="1125" b="0" i="0" u="none" strike="noStrike" cap="none">
                <a:solidFill>
                  <a:srgbClr val="475569"/>
                </a:solidFill>
                <a:latin typeface="Plus Jakarta Sans"/>
                <a:ea typeface="Plus Jakarta Sans"/>
                <a:cs typeface="Plus Jakarta Sans"/>
                <a:sym typeface="Plus Jakarta Sans"/>
              </a:rPr>
              <a:t> Intel Optane DC PMM thực tế</a:t>
            </a:r>
            <a:endParaRPr/>
          </a:p>
        </p:txBody>
      </p:sp>
      <p:sp>
        <p:nvSpPr>
          <p:cNvPr id="106" name="Google Shape;106;p14"/>
          <p:cNvSpPr txBox="1"/>
          <p:nvPr/>
        </p:nvSpPr>
        <p:spPr>
          <a:xfrm>
            <a:off x="6610350" y="37851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07. Đánh giá tổng hợp:</a:t>
            </a:r>
            <a:r>
              <a:rPr lang="en-US" sz="1125" b="0" i="0" u="none" strike="noStrike" cap="none">
                <a:solidFill>
                  <a:srgbClr val="475569"/>
                </a:solidFill>
                <a:latin typeface="Plus Jakarta Sans"/>
                <a:ea typeface="Plus Jakarta Sans"/>
                <a:cs typeface="Plus Jakarta Sans"/>
                <a:sym typeface="Plus Jakarta Sans"/>
              </a:rPr>
              <a:t> So sánh định lượng &amp; tương lai</a:t>
            </a:r>
            <a:endParaRPr/>
          </a:p>
        </p:txBody>
      </p:sp>
      <p:sp>
        <p:nvSpPr>
          <p:cNvPr id="107" name="Google Shape;107;p14"/>
          <p:cNvSpPr txBox="1"/>
          <p:nvPr/>
        </p:nvSpPr>
        <p:spPr>
          <a:xfrm>
            <a:off x="6610350" y="4204245"/>
            <a:ext cx="48101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08. Tổng kết &amp; Thảo luận:</a:t>
            </a:r>
            <a:r>
              <a:rPr lang="en-US" sz="1125" b="0" i="0" u="none" strike="noStrike" cap="none">
                <a:solidFill>
                  <a:srgbClr val="475569"/>
                </a:solidFill>
                <a:latin typeface="Plus Jakarta Sans"/>
                <a:ea typeface="Plus Jakarta Sans"/>
                <a:cs typeface="Plus Jakarta Sans"/>
                <a:sym typeface="Plus Jakarta Sans"/>
              </a:rPr>
              <a:t> Kết luận khoa học</a:t>
            </a:r>
            <a:endParaRPr/>
          </a:p>
        </p:txBody>
      </p:sp>
      <p:sp>
        <p:nvSpPr>
          <p:cNvPr id="108" name="Google Shape;108;p14"/>
          <p:cNvSpPr txBox="1"/>
          <p:nvPr/>
        </p:nvSpPr>
        <p:spPr>
          <a:xfrm>
            <a:off x="771525" y="29469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09" name="Google Shape;109;p14"/>
          <p:cNvSpPr txBox="1"/>
          <p:nvPr/>
        </p:nvSpPr>
        <p:spPr>
          <a:xfrm>
            <a:off x="771525" y="33660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0" name="Google Shape;110;p14"/>
          <p:cNvSpPr txBox="1"/>
          <p:nvPr/>
        </p:nvSpPr>
        <p:spPr>
          <a:xfrm>
            <a:off x="771525" y="37851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1" name="Google Shape;111;p14"/>
          <p:cNvSpPr txBox="1"/>
          <p:nvPr/>
        </p:nvSpPr>
        <p:spPr>
          <a:xfrm>
            <a:off x="771525" y="42042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2" name="Google Shape;112;p14"/>
          <p:cNvSpPr txBox="1"/>
          <p:nvPr/>
        </p:nvSpPr>
        <p:spPr>
          <a:xfrm>
            <a:off x="6381750" y="29469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3" name="Google Shape;113;p14"/>
          <p:cNvSpPr txBox="1"/>
          <p:nvPr/>
        </p:nvSpPr>
        <p:spPr>
          <a:xfrm>
            <a:off x="6381750" y="33660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4" name="Google Shape;114;p14"/>
          <p:cNvSpPr txBox="1"/>
          <p:nvPr/>
        </p:nvSpPr>
        <p:spPr>
          <a:xfrm>
            <a:off x="6381750" y="37851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5" name="Google Shape;115;p14"/>
          <p:cNvSpPr txBox="1"/>
          <p:nvPr/>
        </p:nvSpPr>
        <p:spPr>
          <a:xfrm>
            <a:off x="6381750" y="42042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16" name="Google Shape;116;p14"/>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Nội dung trình bày</a:t>
            </a:r>
            <a:endParaRPr/>
          </a:p>
        </p:txBody>
      </p:sp>
      <p:sp>
        <p:nvSpPr>
          <p:cNvPr id="117" name="Google Shape;117;p14"/>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pic>
        <p:nvPicPr>
          <p:cNvPr id="123" name="Google Shape;123;p15" descr="image.png"/>
          <p:cNvPicPr preferRelativeResize="0"/>
          <p:nvPr/>
        </p:nvPicPr>
        <p:blipFill rotWithShape="1">
          <a:blip r:embed="rId3">
            <a:alphaModFix/>
          </a:blip>
          <a:srcRect/>
          <a:stretch/>
        </p:blipFill>
        <p:spPr>
          <a:xfrm>
            <a:off x="771525" y="4328070"/>
            <a:ext cx="5038725" cy="1066800"/>
          </a:xfrm>
          <a:prstGeom prst="rect">
            <a:avLst/>
          </a:prstGeom>
          <a:noFill/>
          <a:ln>
            <a:noFill/>
          </a:ln>
        </p:spPr>
      </p:pic>
      <p:sp>
        <p:nvSpPr>
          <p:cNvPr id="129" name="Google Shape;129;p15"/>
          <p:cNvSpPr txBox="1"/>
          <p:nvPr/>
        </p:nvSpPr>
        <p:spPr>
          <a:xfrm>
            <a:off x="771525" y="2175420"/>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Khoảng trống lớn về hiệu năng (Memory Wall)</a:t>
            </a:r>
            <a:endParaRPr/>
          </a:p>
        </p:txBody>
      </p:sp>
      <p:sp>
        <p:nvSpPr>
          <p:cNvPr id="130" name="Google Shape;130;p15"/>
          <p:cNvSpPr txBox="1"/>
          <p:nvPr/>
        </p:nvSpPr>
        <p:spPr>
          <a:xfrm>
            <a:off x="771525" y="2508795"/>
            <a:ext cx="50387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Mô hình phân cấp hiện tại tạo ra điểm nghẽn nghiêm trọng giữa hai tầng chính:</a:t>
            </a:r>
            <a:endParaRPr/>
          </a:p>
        </p:txBody>
      </p:sp>
      <p:sp>
        <p:nvSpPr>
          <p:cNvPr id="131" name="Google Shape;131;p15"/>
          <p:cNvSpPr txBox="1"/>
          <p:nvPr/>
        </p:nvSpPr>
        <p:spPr>
          <a:xfrm>
            <a:off x="1000125" y="3108870"/>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SRAM/DRAM:</a:t>
            </a:r>
            <a:r>
              <a:rPr lang="en-US" sz="1125" b="0" i="0" u="none" strike="noStrike" cap="none">
                <a:solidFill>
                  <a:srgbClr val="475569"/>
                </a:solidFill>
                <a:latin typeface="Plus Jakarta Sans"/>
                <a:ea typeface="Plus Jakarta Sans"/>
                <a:cs typeface="Plus Jakarta Sans"/>
                <a:sym typeface="Plus Jakarta Sans"/>
              </a:rPr>
              <a:t> Tốc độ cực nhanh nhưng có tính chất </a:t>
            </a:r>
            <a:r>
              <a:rPr lang="en-US" sz="1125" b="0" i="1" u="none" strike="noStrike" cap="none">
                <a:solidFill>
                  <a:srgbClr val="475569"/>
                </a:solidFill>
                <a:latin typeface="Plus Jakarta Sans"/>
                <a:ea typeface="Plus Jakarta Sans"/>
                <a:cs typeface="Plus Jakarta Sans"/>
                <a:sym typeface="Plus Jakarta Sans"/>
              </a:rPr>
              <a:t>volatile</a:t>
            </a:r>
            <a:r>
              <a:rPr lang="en-US" sz="1125" b="0" i="0" u="none" strike="noStrike" cap="none">
                <a:solidFill>
                  <a:srgbClr val="475569"/>
                </a:solidFill>
                <a:latin typeface="Plus Jakarta Sans"/>
                <a:ea typeface="Plus Jakarta Sans"/>
                <a:cs typeface="Plus Jakarta Sans"/>
                <a:sym typeface="Plus Jakarta Sans"/>
              </a:rPr>
              <a:t> (mất điện dữ liệu biến mất) và chi phí sản xuất cực kỳ đắt đỏ.</a:t>
            </a:r>
            <a:endParaRPr/>
          </a:p>
        </p:txBody>
      </p:sp>
      <p:sp>
        <p:nvSpPr>
          <p:cNvPr id="132" name="Google Shape;132;p15"/>
          <p:cNvSpPr txBox="1"/>
          <p:nvPr/>
        </p:nvSpPr>
        <p:spPr>
          <a:xfrm>
            <a:off x="1000125" y="3680370"/>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dirty="0">
                <a:solidFill>
                  <a:srgbClr val="475569"/>
                </a:solidFill>
                <a:latin typeface="Plus Jakarta Sans"/>
                <a:ea typeface="Plus Jakarta Sans"/>
                <a:cs typeface="Plus Jakarta Sans"/>
                <a:sym typeface="Plus Jakarta Sans"/>
              </a:rPr>
              <a:t>Flash/SSD:</a:t>
            </a:r>
            <a:r>
              <a:rPr lang="en-US" sz="1125" b="0" i="0" u="none" strike="noStrike" cap="none" dirty="0">
                <a:solidFill>
                  <a:srgbClr val="475569"/>
                </a:solidFill>
                <a:latin typeface="Plus Jakarta Sans"/>
                <a:ea typeface="Plus Jakarta Sans"/>
                <a:cs typeface="Plus Jakarta Sans"/>
                <a:sym typeface="Plus Jakarta Sans"/>
              </a:rPr>
              <a:t> Dung </a:t>
            </a:r>
            <a:r>
              <a:rPr lang="en-US" sz="1125" b="0" i="0" u="none" strike="noStrike" cap="none" dirty="0" err="1">
                <a:solidFill>
                  <a:srgbClr val="475569"/>
                </a:solidFill>
                <a:latin typeface="Plus Jakarta Sans"/>
                <a:ea typeface="Plus Jakarta Sans"/>
                <a:cs typeface="Plus Jakarta Sans"/>
                <a:sym typeface="Plus Jakarta Sans"/>
              </a:rPr>
              <a:t>lượng</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lớn</a:t>
            </a:r>
            <a:r>
              <a:rPr lang="en-US" sz="1125" b="0" i="0" u="none" strike="noStrike" cap="none" dirty="0">
                <a:solidFill>
                  <a:srgbClr val="475569"/>
                </a:solidFill>
                <a:latin typeface="Plus Jakarta Sans"/>
                <a:ea typeface="Plus Jakarta Sans"/>
                <a:cs typeface="Plus Jakarta Sans"/>
                <a:sym typeface="Plus Jakarta Sans"/>
              </a:rPr>
              <a:t>, phi </a:t>
            </a:r>
            <a:r>
              <a:rPr lang="en-US" sz="1125" b="0" i="0" u="none" strike="noStrike" cap="none" dirty="0" err="1">
                <a:solidFill>
                  <a:srgbClr val="475569"/>
                </a:solidFill>
                <a:latin typeface="Plus Jakarta Sans"/>
                <a:ea typeface="Plus Jakarta Sans"/>
                <a:cs typeface="Plus Jakarta Sans"/>
                <a:sym typeface="Plus Jakarta Sans"/>
              </a:rPr>
              <a:t>khả</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biến</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giá</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thành</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rẻ</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nhưng</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tốc</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độ</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truy</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cập</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chậm</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hơn</a:t>
            </a:r>
            <a:r>
              <a:rPr lang="en-US" sz="1125" b="0" i="0" u="none" strike="noStrike" cap="none" dirty="0">
                <a:solidFill>
                  <a:srgbClr val="475569"/>
                </a:solidFill>
                <a:latin typeface="Plus Jakarta Sans"/>
                <a:ea typeface="Plus Jakarta Sans"/>
                <a:cs typeface="Plus Jakarta Sans"/>
                <a:sym typeface="Plus Jakarta Sans"/>
              </a:rPr>
              <a:t> DRAM </a:t>
            </a:r>
            <a:r>
              <a:rPr lang="en-US" sz="1125" b="0" i="0" u="none" strike="noStrike" cap="none" dirty="0" err="1">
                <a:solidFill>
                  <a:srgbClr val="475569"/>
                </a:solidFill>
                <a:latin typeface="Plus Jakarta Sans"/>
                <a:ea typeface="Plus Jakarta Sans"/>
                <a:cs typeface="Plus Jakarta Sans"/>
                <a:sym typeface="Plus Jakarta Sans"/>
              </a:rPr>
              <a:t>tới</a:t>
            </a:r>
            <a:r>
              <a:rPr lang="en-US" sz="1125" b="0" i="0" u="none" strike="noStrike" cap="none" dirty="0">
                <a:solidFill>
                  <a:srgbClr val="475569"/>
                </a:solidFill>
                <a:latin typeface="Plus Jakarta Sans"/>
                <a:ea typeface="Plus Jakarta Sans"/>
                <a:cs typeface="Plus Jakarta Sans"/>
                <a:sym typeface="Plus Jakarta Sans"/>
              </a:rPr>
              <a:t> 1.000 </a:t>
            </a:r>
            <a:r>
              <a:rPr lang="en-US" sz="1125" b="0" i="0" u="none" strike="noStrike" cap="none" dirty="0" err="1">
                <a:solidFill>
                  <a:srgbClr val="475569"/>
                </a:solidFill>
                <a:latin typeface="Plus Jakarta Sans"/>
                <a:ea typeface="Plus Jakarta Sans"/>
                <a:cs typeface="Plus Jakarta Sans"/>
                <a:sym typeface="Plus Jakarta Sans"/>
              </a:rPr>
              <a:t>lần</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và</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truy</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cập</a:t>
            </a:r>
            <a:r>
              <a:rPr lang="en-US" sz="1125" b="0" i="0" u="none" strike="noStrike" cap="none" dirty="0">
                <a:solidFill>
                  <a:srgbClr val="475569"/>
                </a:solidFill>
                <a:latin typeface="Plus Jakarta Sans"/>
                <a:ea typeface="Plus Jakarta Sans"/>
                <a:cs typeface="Plus Jakarta Sans"/>
                <a:sym typeface="Plus Jakarta Sans"/>
              </a:rPr>
              <a:t> </a:t>
            </a:r>
            <a:r>
              <a:rPr lang="en-US" sz="1125" b="0" i="0" u="none" strike="noStrike" cap="none" dirty="0" err="1">
                <a:solidFill>
                  <a:srgbClr val="475569"/>
                </a:solidFill>
                <a:latin typeface="Plus Jakarta Sans"/>
                <a:ea typeface="Plus Jakarta Sans"/>
                <a:cs typeface="Plus Jakarta Sans"/>
                <a:sym typeface="Plus Jakarta Sans"/>
              </a:rPr>
              <a:t>theo</a:t>
            </a:r>
            <a:r>
              <a:rPr lang="en-US" sz="1125" b="0" i="0" u="none" strike="noStrike" cap="none" dirty="0">
                <a:solidFill>
                  <a:srgbClr val="475569"/>
                </a:solidFill>
                <a:latin typeface="Plus Jakarta Sans"/>
                <a:ea typeface="Plus Jakarta Sans"/>
                <a:cs typeface="Plus Jakarta Sans"/>
                <a:sym typeface="Plus Jakarta Sans"/>
              </a:rPr>
              <a:t> block.</a:t>
            </a:r>
            <a:endParaRPr dirty="0"/>
          </a:p>
        </p:txBody>
      </p:sp>
      <p:sp>
        <p:nvSpPr>
          <p:cNvPr id="133" name="Google Shape;133;p15"/>
          <p:cNvSpPr txBox="1"/>
          <p:nvPr/>
        </p:nvSpPr>
        <p:spPr>
          <a:xfrm>
            <a:off x="914400" y="4413795"/>
            <a:ext cx="4619625" cy="8309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dirty="0">
                <a:solidFill>
                  <a:srgbClr val="4338CA"/>
                </a:solidFill>
                <a:latin typeface="Plus Jakarta Sans Medium"/>
                <a:ea typeface="Plus Jakarta Sans Medium"/>
                <a:cs typeface="Plus Jakarta Sans Medium"/>
                <a:sym typeface="Plus Jakarta Sans Medium"/>
              </a:rPr>
              <a:t>"</a:t>
            </a:r>
            <a:r>
              <a:rPr lang="en-US" sz="1125" b="0" i="1" u="none" strike="noStrike" cap="none" dirty="0" err="1">
                <a:solidFill>
                  <a:srgbClr val="4338CA"/>
                </a:solidFill>
                <a:latin typeface="Plus Jakarta Sans Medium"/>
                <a:ea typeface="Plus Jakarta Sans Medium"/>
                <a:cs typeface="Plus Jakarta Sans Medium"/>
                <a:sym typeface="Plus Jakarta Sans Medium"/>
              </a:rPr>
              <a:t>Ứng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dụng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hiện</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đại</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cần</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bộ</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nhớ</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vừa</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có</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tốc</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độ</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tiệm</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cận</a:t>
            </a:r>
            <a:r>
              <a:rPr lang="en-US" sz="1125" b="0" i="1" u="none" strike="noStrike" cap="none" dirty="0">
                <a:solidFill>
                  <a:srgbClr val="4338CA"/>
                </a:solidFill>
                <a:latin typeface="Plus Jakarta Sans Medium"/>
                <a:ea typeface="Plus Jakarta Sans Medium"/>
                <a:cs typeface="Plus Jakarta Sans Medium"/>
                <a:sym typeface="Plus Jakarta Sans Medium"/>
              </a:rPr>
              <a:t> DRAM, </a:t>
            </a:r>
            <a:r>
              <a:rPr lang="en-US" sz="1125" b="0" i="1" u="none" strike="noStrike" cap="none" dirty="0" err="1">
                <a:solidFill>
                  <a:srgbClr val="4338CA"/>
                </a:solidFill>
                <a:latin typeface="Plus Jakarta Sans Medium"/>
                <a:ea typeface="Plus Jakarta Sans Medium"/>
                <a:cs typeface="Plus Jakarta Sans Medium"/>
                <a:sym typeface="Plus Jakarta Sans Medium"/>
              </a:rPr>
              <a:t>vừa</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bền</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bỉ</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lưu</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trữ</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i="1" dirty="0" err="1">
                <a:solidFill>
                  <a:srgbClr val="4338CA"/>
                </a:solidFill>
                <a:latin typeface="Plus Jakarta Sans Medium"/>
                <a:ea typeface="Plus Jakarta Sans Medium"/>
                <a:cs typeface="Plus Jakarta Sans Medium"/>
                <a:sym typeface="Plus Jakarta Sans Medium"/>
              </a:rPr>
              <a:t>bền</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như</a:t>
            </a:r>
            <a:r>
              <a:rPr lang="en-US" sz="1125" b="0" i="1" u="none" strike="noStrike" cap="none" dirty="0">
                <a:solidFill>
                  <a:srgbClr val="4338CA"/>
                </a:solidFill>
                <a:latin typeface="Plus Jakarta Sans Medium"/>
                <a:ea typeface="Plus Jakarta Sans Medium"/>
                <a:cs typeface="Plus Jakarta Sans Medium"/>
                <a:sym typeface="Plus Jakarta Sans Medium"/>
              </a:rPr>
              <a:t> Flash — </a:t>
            </a:r>
            <a:r>
              <a:rPr lang="en-US" sz="1125" b="0" i="1" u="none" strike="noStrike" cap="none" dirty="0" err="1">
                <a:solidFill>
                  <a:srgbClr val="4338CA"/>
                </a:solidFill>
                <a:latin typeface="Plus Jakarta Sans Medium"/>
                <a:ea typeface="Plus Jakarta Sans Medium"/>
                <a:cs typeface="Plus Jakarta Sans Medium"/>
                <a:sym typeface="Plus Jakarta Sans Medium"/>
              </a:rPr>
              <a:t>không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một</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công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nghệ</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truyền</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thống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nào</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đáp</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ứng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đồng</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thời</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cả</a:t>
            </a:r>
            <a:r>
              <a:rPr lang="en-US" sz="1125" b="0" i="1" u="none" strike="noStrike" cap="none" dirty="0">
                <a:solidFill>
                  <a:srgbClr val="4338CA"/>
                </a:solidFill>
                <a:latin typeface="Plus Jakarta Sans Medium"/>
                <a:ea typeface="Plus Jakarta Sans Medium"/>
                <a:cs typeface="Plus Jakarta Sans Medium"/>
                <a:sym typeface="Plus Jakarta Sans Medium"/>
              </a:rPr>
              <a:t> </a:t>
            </a:r>
            <a:r>
              <a:rPr lang="en-US" sz="1125" b="0" i="1" u="none" strike="noStrike" cap="none" dirty="0" err="1">
                <a:solidFill>
                  <a:srgbClr val="4338CA"/>
                </a:solidFill>
                <a:latin typeface="Plus Jakarta Sans Medium"/>
                <a:ea typeface="Plus Jakarta Sans Medium"/>
                <a:cs typeface="Plus Jakarta Sans Medium"/>
                <a:sym typeface="Plus Jakarta Sans Medium"/>
              </a:rPr>
              <a:t>hai</a:t>
            </a:r>
            <a:r>
              <a:rPr lang="en-US" sz="1125" b="0" i="1" u="none" strike="noStrike" cap="none" dirty="0">
                <a:solidFill>
                  <a:srgbClr val="4338CA"/>
                </a:solidFill>
                <a:latin typeface="Plus Jakarta Sans Medium"/>
                <a:ea typeface="Plus Jakarta Sans Medium"/>
                <a:cs typeface="Plus Jakarta Sans Medium"/>
                <a:sym typeface="Plus Jakarta Sans Medium"/>
              </a:rPr>
              <a:t>."</a:t>
            </a:r>
            <a:endParaRPr dirty="0"/>
          </a:p>
        </p:txBody>
      </p:sp>
      <p:sp>
        <p:nvSpPr>
          <p:cNvPr id="135" name="Google Shape;135;p15"/>
          <p:cNvSpPr txBox="1"/>
          <p:nvPr/>
        </p:nvSpPr>
        <p:spPr>
          <a:xfrm>
            <a:off x="771525" y="3108870"/>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36" name="Google Shape;136;p15"/>
          <p:cNvSpPr txBox="1"/>
          <p:nvPr/>
        </p:nvSpPr>
        <p:spPr>
          <a:xfrm>
            <a:off x="771525" y="3680370"/>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37" name="Google Shape;137;p15"/>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dirty="0" err="1">
                <a:solidFill>
                  <a:srgbClr val="0F172A"/>
                </a:solidFill>
                <a:latin typeface="Playfair Display SemiBold"/>
                <a:ea typeface="Playfair Display SemiBold"/>
                <a:cs typeface="Playfair Display SemiBold"/>
                <a:sym typeface="Playfair Display SemiBold"/>
              </a:rPr>
              <a:t>Vấn</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đề</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của</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phân</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cấp</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bộ</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nhớ</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truyền</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thống</a:t>
            </a:r>
            <a:endParaRPr dirty="0"/>
          </a:p>
        </p:txBody>
      </p:sp>
      <p:sp>
        <p:nvSpPr>
          <p:cNvPr id="138" name="Google Shape;138;p15"/>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PPT - Chapter 1 Computer System Overview PowerPoint Presentation, free ...">
            <a:extLst>
              <a:ext uri="{FF2B5EF4-FFF2-40B4-BE49-F238E27FC236}">
                <a16:creationId xmlns:a16="http://schemas.microsoft.com/office/drawing/2014/main" id="{13AEF57F-7337-F3CD-1A7C-BA8D2FBBC67D}"/>
              </a:ext>
            </a:extLst>
          </p:cNvPr>
          <p:cNvPicPr>
            <a:picLocks noChangeAspect="1"/>
          </p:cNvPicPr>
          <p:nvPr/>
        </p:nvPicPr>
        <p:blipFill>
          <a:blip r:embed="rId4"/>
          <a:stretch>
            <a:fillRect/>
          </a:stretch>
        </p:blipFill>
        <p:spPr>
          <a:xfrm>
            <a:off x="6348473" y="1348605"/>
            <a:ext cx="5458717" cy="39777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pic>
        <p:nvPicPr>
          <p:cNvPr id="143" name="Google Shape;14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6" descr="image.png"/>
          <p:cNvPicPr preferRelativeResize="0"/>
          <p:nvPr/>
        </p:nvPicPr>
        <p:blipFill rotWithShape="1">
          <a:blip r:embed="rId4">
            <a:alphaModFix/>
          </a:blip>
          <a:srcRect/>
          <a:stretch/>
        </p:blipFill>
        <p:spPr>
          <a:xfrm>
            <a:off x="771525" y="4736008"/>
            <a:ext cx="10648950" cy="838200"/>
          </a:xfrm>
          <a:prstGeom prst="rect">
            <a:avLst/>
          </a:prstGeom>
          <a:noFill/>
          <a:ln>
            <a:noFill/>
          </a:ln>
        </p:spPr>
      </p:pic>
      <p:sp>
        <p:nvSpPr>
          <p:cNvPr id="145" name="Google Shape;145;p16"/>
          <p:cNvSpPr txBox="1"/>
          <p:nvPr/>
        </p:nvSpPr>
        <p:spPr>
          <a:xfrm>
            <a:off x="771525" y="1996082"/>
            <a:ext cx="10648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Mặc dù bộ nhớ Flash NAND liên tục giảm giá thành và tăng mật độ nhờ công nghệ 3D Stacked, các giới hạn vật lý cốt lõi ngăn cản nó tiến gần tới CPU.</a:t>
            </a:r>
            <a:endParaRPr/>
          </a:p>
        </p:txBody>
      </p:sp>
      <p:graphicFrame>
        <p:nvGraphicFramePr>
          <p:cNvPr id="146" name="Google Shape;146;p16"/>
          <p:cNvGraphicFramePr/>
          <p:nvPr/>
        </p:nvGraphicFramePr>
        <p:xfrm>
          <a:off x="771525" y="2415182"/>
          <a:ext cx="10648950" cy="2082750"/>
        </p:xfrm>
        <a:graphic>
          <a:graphicData uri="http://schemas.openxmlformats.org/drawingml/2006/table">
            <a:tbl>
              <a:tblPr firstRow="1" bandRow="1">
                <a:noFill/>
                <a:tableStyleId>{DF3C2146-B867-4D5D-ABA1-988120CD81A7}</a:tableStyleId>
              </a:tblPr>
              <a:tblGrid>
                <a:gridCol w="2219325">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gridCol w="4029075">
                  <a:extLst>
                    <a:ext uri="{9D8B030D-6E8A-4147-A177-3AD203B41FA5}">
                      <a16:colId xmlns:a16="http://schemas.microsoft.com/office/drawing/2014/main" val="20003"/>
                    </a:ext>
                  </a:extLst>
                </a:gridCol>
              </a:tblGrid>
              <a:tr h="416550">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Đặc tính so sánh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2563EB"/>
                          </a:solidFill>
                          <a:latin typeface="Plus Jakarta Sans SemiBold"/>
                          <a:ea typeface="Plus Jakarta Sans SemiBold"/>
                          <a:cs typeface="Plus Jakarta Sans SemiBold"/>
                          <a:sym typeface="Plus Jakarta Sans SemiBold"/>
                        </a:rPr>
                        <a:t>DRAM (Chuẩn bộ nhớ chính)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DC2626"/>
                          </a:solidFill>
                          <a:latin typeface="Plus Jakarta Sans SemiBold"/>
                          <a:ea typeface="Plus Jakarta Sans SemiBold"/>
                          <a:cs typeface="Plus Jakarta Sans SemiBold"/>
                          <a:sym typeface="Plus Jakarta Sans SemiBold"/>
                        </a:rPr>
                        <a:t>Flash NAND (Chuẩn lưu trữ)</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Ý nghĩa kỹ thuật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4165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Giao diện truy cập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Load / Store (Theo byte)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I/O Controller (Theo block/page)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Flash không hỗ trợ truy cập trực tiếp ngẫu nhiên địa chỉ byte.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65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Độ trễ trung bình (Latency)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~81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~100 µs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Flash chậm hơn DRAM khoảng 1.000 lần.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165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Độ bền ghi dữ liệu (Endurance)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Thực tế vô hạn (&gt;1016)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1.000 – 100.000 chu kỳ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Tế bào điện tích bị suy hao vật lý nhanh chóng theo chu kỳ ghi.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165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Bảo toàn năng lượng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Volatile (Cần refresh liên tục)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Non-volatile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DRAM hao phí năng lượng tĩnh rất lớn cho chu kỳ làm tươi.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47" name="Google Shape;147;p16"/>
          <p:cNvSpPr/>
          <p:nvPr/>
        </p:nvSpPr>
        <p:spPr>
          <a:xfrm>
            <a:off x="771525" y="2805707"/>
            <a:ext cx="22193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6"/>
          <p:cNvSpPr/>
          <p:nvPr/>
        </p:nvSpPr>
        <p:spPr>
          <a:xfrm>
            <a:off x="2990850" y="2805707"/>
            <a:ext cx="20574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6"/>
          <p:cNvSpPr/>
          <p:nvPr/>
        </p:nvSpPr>
        <p:spPr>
          <a:xfrm>
            <a:off x="5048250" y="2805707"/>
            <a:ext cx="23431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6"/>
          <p:cNvSpPr/>
          <p:nvPr/>
        </p:nvSpPr>
        <p:spPr>
          <a:xfrm>
            <a:off x="7391400" y="2805707"/>
            <a:ext cx="402907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6"/>
          <p:cNvSpPr txBox="1"/>
          <p:nvPr/>
        </p:nvSpPr>
        <p:spPr>
          <a:xfrm>
            <a:off x="1000125" y="4926508"/>
            <a:ext cx="1022985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Kết luận:</a:t>
            </a:r>
            <a:r>
              <a:rPr lang="en-US" sz="1125" b="0" i="0" u="none" strike="noStrike" cap="none">
                <a:solidFill>
                  <a:srgbClr val="475569"/>
                </a:solidFill>
                <a:latin typeface="Plus Jakarta Sans"/>
                <a:ea typeface="Plus Jakarta Sans"/>
                <a:cs typeface="Plus Jakarta Sans"/>
                <a:sym typeface="Plus Jakarta Sans"/>
              </a:rPr>
              <a:t> Flash NAND hoàn toàn bất khả thi cho việc đóng vai trò bộ nhớ trực tiếp của CPU. Chúng ta bắt buộc phải tìm kiếm các hạt vật lý mới hoạt động dựa trên điện trở để giải bài toán này.</a:t>
            </a:r>
            <a:endParaRPr/>
          </a:p>
        </p:txBody>
      </p:sp>
      <p:sp>
        <p:nvSpPr>
          <p:cNvPr id="152" name="Google Shape;152;p16"/>
          <p:cNvSpPr/>
          <p:nvPr/>
        </p:nvSpPr>
        <p:spPr>
          <a:xfrm>
            <a:off x="771525" y="3229570"/>
            <a:ext cx="221932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6"/>
          <p:cNvSpPr/>
          <p:nvPr/>
        </p:nvSpPr>
        <p:spPr>
          <a:xfrm>
            <a:off x="2990850" y="3229570"/>
            <a:ext cx="205740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6"/>
          <p:cNvSpPr/>
          <p:nvPr/>
        </p:nvSpPr>
        <p:spPr>
          <a:xfrm>
            <a:off x="5048250" y="3229570"/>
            <a:ext cx="234315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6"/>
          <p:cNvSpPr/>
          <p:nvPr/>
        </p:nvSpPr>
        <p:spPr>
          <a:xfrm>
            <a:off x="7391400" y="3229570"/>
            <a:ext cx="40290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p:nvPr/>
        </p:nvSpPr>
        <p:spPr>
          <a:xfrm>
            <a:off x="771525" y="3639145"/>
            <a:ext cx="221932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6"/>
          <p:cNvSpPr/>
          <p:nvPr/>
        </p:nvSpPr>
        <p:spPr>
          <a:xfrm>
            <a:off x="2990850" y="3639145"/>
            <a:ext cx="205740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6"/>
          <p:cNvSpPr/>
          <p:nvPr/>
        </p:nvSpPr>
        <p:spPr>
          <a:xfrm>
            <a:off x="5048250" y="3639145"/>
            <a:ext cx="234315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6"/>
          <p:cNvSpPr/>
          <p:nvPr/>
        </p:nvSpPr>
        <p:spPr>
          <a:xfrm>
            <a:off x="7391400" y="3639145"/>
            <a:ext cx="40290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6"/>
          <p:cNvSpPr/>
          <p:nvPr/>
        </p:nvSpPr>
        <p:spPr>
          <a:xfrm>
            <a:off x="771525" y="4074021"/>
            <a:ext cx="221932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6"/>
          <p:cNvSpPr/>
          <p:nvPr/>
        </p:nvSpPr>
        <p:spPr>
          <a:xfrm>
            <a:off x="2990850" y="4074021"/>
            <a:ext cx="205740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16"/>
          <p:cNvSpPr/>
          <p:nvPr/>
        </p:nvSpPr>
        <p:spPr>
          <a:xfrm>
            <a:off x="5048250" y="4074021"/>
            <a:ext cx="234315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6"/>
          <p:cNvSpPr/>
          <p:nvPr/>
        </p:nvSpPr>
        <p:spPr>
          <a:xfrm>
            <a:off x="7391400" y="4074021"/>
            <a:ext cx="40290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6"/>
          <p:cNvSpPr/>
          <p:nvPr/>
        </p:nvSpPr>
        <p:spPr>
          <a:xfrm>
            <a:off x="771525" y="4483596"/>
            <a:ext cx="221932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6"/>
          <p:cNvSpPr/>
          <p:nvPr/>
        </p:nvSpPr>
        <p:spPr>
          <a:xfrm>
            <a:off x="2990850" y="4483596"/>
            <a:ext cx="205740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16"/>
          <p:cNvSpPr/>
          <p:nvPr/>
        </p:nvSpPr>
        <p:spPr>
          <a:xfrm>
            <a:off x="5048250" y="4483596"/>
            <a:ext cx="234315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6"/>
          <p:cNvSpPr/>
          <p:nvPr/>
        </p:nvSpPr>
        <p:spPr>
          <a:xfrm>
            <a:off x="7391400" y="4483596"/>
            <a:ext cx="40290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6"/>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Tại sao Flash không thể thay thế DRAM?</a:t>
            </a:r>
            <a:endParaRPr/>
          </a:p>
        </p:txBody>
      </p:sp>
      <p:sp>
        <p:nvSpPr>
          <p:cNvPr id="169" name="Google Shape;169;p16"/>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pic>
        <p:nvPicPr>
          <p:cNvPr id="174" name="Google Shape;17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17" descr="image.png"/>
          <p:cNvPicPr preferRelativeResize="0"/>
          <p:nvPr/>
        </p:nvPicPr>
        <p:blipFill rotWithShape="1">
          <a:blip r:embed="rId4">
            <a:alphaModFix/>
          </a:blip>
          <a:srcRect/>
          <a:stretch/>
        </p:blipFill>
        <p:spPr>
          <a:xfrm>
            <a:off x="6381750" y="1975395"/>
            <a:ext cx="5038725" cy="3619500"/>
          </a:xfrm>
          <a:prstGeom prst="rect">
            <a:avLst/>
          </a:prstGeom>
          <a:noFill/>
          <a:ln>
            <a:noFill/>
          </a:ln>
        </p:spPr>
      </p:pic>
      <p:pic>
        <p:nvPicPr>
          <p:cNvPr id="176" name="Google Shape;176;p17" descr="image.png"/>
          <p:cNvPicPr preferRelativeResize="0"/>
          <p:nvPr/>
        </p:nvPicPr>
        <p:blipFill rotWithShape="1">
          <a:blip r:embed="rId5">
            <a:alphaModFix/>
          </a:blip>
          <a:srcRect/>
          <a:stretch/>
        </p:blipFill>
        <p:spPr>
          <a:xfrm>
            <a:off x="6581775" y="2726084"/>
            <a:ext cx="2247900" cy="2118121"/>
          </a:xfrm>
          <a:prstGeom prst="rect">
            <a:avLst/>
          </a:prstGeom>
          <a:noFill/>
          <a:ln>
            <a:noFill/>
          </a:ln>
        </p:spPr>
      </p:pic>
      <p:pic>
        <p:nvPicPr>
          <p:cNvPr id="177" name="Google Shape;177;p17" descr="image.png"/>
          <p:cNvPicPr preferRelativeResize="0"/>
          <p:nvPr/>
        </p:nvPicPr>
        <p:blipFill rotWithShape="1">
          <a:blip r:embed="rId6">
            <a:alphaModFix/>
          </a:blip>
          <a:srcRect/>
          <a:stretch/>
        </p:blipFill>
        <p:spPr>
          <a:xfrm>
            <a:off x="8972550" y="2726084"/>
            <a:ext cx="2247900" cy="2118121"/>
          </a:xfrm>
          <a:prstGeom prst="rect">
            <a:avLst/>
          </a:prstGeom>
          <a:noFill/>
          <a:ln>
            <a:noFill/>
          </a:ln>
        </p:spPr>
      </p:pic>
      <p:pic>
        <p:nvPicPr>
          <p:cNvPr id="178" name="Google Shape;178;p17" descr="image.png"/>
          <p:cNvPicPr preferRelativeResize="0"/>
          <p:nvPr/>
        </p:nvPicPr>
        <p:blipFill rotWithShape="1">
          <a:blip r:embed="rId7">
            <a:alphaModFix/>
          </a:blip>
          <a:srcRect/>
          <a:stretch/>
        </p:blipFill>
        <p:spPr>
          <a:xfrm>
            <a:off x="7324725" y="3421409"/>
            <a:ext cx="762000" cy="762000"/>
          </a:xfrm>
          <a:prstGeom prst="rect">
            <a:avLst/>
          </a:prstGeom>
          <a:noFill/>
          <a:ln>
            <a:noFill/>
          </a:ln>
        </p:spPr>
      </p:pic>
      <p:pic>
        <p:nvPicPr>
          <p:cNvPr id="179" name="Google Shape;179;p17" descr="image.png"/>
          <p:cNvPicPr preferRelativeResize="0"/>
          <p:nvPr/>
        </p:nvPicPr>
        <p:blipFill rotWithShape="1">
          <a:blip r:embed="rId8">
            <a:alphaModFix/>
          </a:blip>
          <a:srcRect/>
          <a:stretch/>
        </p:blipFill>
        <p:spPr>
          <a:xfrm>
            <a:off x="9715500" y="3421409"/>
            <a:ext cx="762000" cy="762000"/>
          </a:xfrm>
          <a:prstGeom prst="rect">
            <a:avLst/>
          </a:prstGeom>
          <a:noFill/>
          <a:ln>
            <a:noFill/>
          </a:ln>
        </p:spPr>
      </p:pic>
      <p:sp>
        <p:nvSpPr>
          <p:cNvPr id="180" name="Google Shape;180;p17"/>
          <p:cNvSpPr txBox="1"/>
          <p:nvPr/>
        </p:nvSpPr>
        <p:spPr>
          <a:xfrm>
            <a:off x="771525" y="2246858"/>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Lưu dữ liệu bằng trạng thái pha vật liệu</a:t>
            </a:r>
            <a:endParaRPr/>
          </a:p>
        </p:txBody>
      </p:sp>
      <p:sp>
        <p:nvSpPr>
          <p:cNvPr id="181" name="Google Shape;181;p17"/>
          <p:cNvSpPr txBox="1"/>
          <p:nvPr/>
        </p:nvSpPr>
        <p:spPr>
          <a:xfrm>
            <a:off x="771525" y="2580233"/>
            <a:ext cx="50387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PCM sử dụng lớp vật liệu chalcogenide hợp kim </a:t>
            </a:r>
            <a:r>
              <a:rPr lang="en-US" sz="1125" b="1" i="0" u="none" strike="noStrike" cap="none">
                <a:solidFill>
                  <a:srgbClr val="475569"/>
                </a:solidFill>
                <a:latin typeface="Plus Jakarta Sans"/>
                <a:ea typeface="Plus Jakarta Sans"/>
                <a:cs typeface="Plus Jakarta Sans"/>
                <a:sym typeface="Plus Jakarta Sans"/>
              </a:rPr>
              <a:t>Ge₂Sb₂Te₅ (GST)</a:t>
            </a:r>
            <a:r>
              <a:rPr lang="en-US" sz="1125" b="0" i="0" u="none" strike="noStrike" cap="none">
                <a:solidFill>
                  <a:srgbClr val="475569"/>
                </a:solidFill>
                <a:latin typeface="Plus Jakarta Sans"/>
                <a:ea typeface="Plus Jakarta Sans"/>
                <a:cs typeface="Plus Jakarta Sans"/>
                <a:sym typeface="Plus Jakarta Sans"/>
              </a:rPr>
              <a:t> biến đổi cấu trúc tinh thể khi chịu tác động nhiệt lượng.</a:t>
            </a:r>
            <a:endParaRPr/>
          </a:p>
        </p:txBody>
      </p:sp>
      <p:sp>
        <p:nvSpPr>
          <p:cNvPr id="182" name="Google Shape;182;p17"/>
          <p:cNvSpPr txBox="1"/>
          <p:nvPr/>
        </p:nvSpPr>
        <p:spPr>
          <a:xfrm>
            <a:off x="1000125" y="3151733"/>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Trạng thái RESET (Ghi 1):</a:t>
            </a:r>
            <a:r>
              <a:rPr lang="en-US" sz="1125" b="0" i="0" u="none" strike="noStrike" cap="none">
                <a:solidFill>
                  <a:srgbClr val="475569"/>
                </a:solidFill>
                <a:latin typeface="Plus Jakarta Sans"/>
                <a:ea typeface="Plus Jakarta Sans"/>
                <a:cs typeface="Plus Jakarta Sans"/>
                <a:sym typeface="Plus Jakarta Sans"/>
              </a:rPr>
              <a:t> Áp xung dòng điện cường độ cao trong thời gian cực ngắn → Nung chảy GST vượt nhiệt độ nóng chảy (T_m) → Làm nguội nhanh tạo cấu trúc </a:t>
            </a:r>
            <a:r>
              <a:rPr lang="en-US" sz="1125" b="1" i="0" u="none" strike="noStrike" cap="none">
                <a:solidFill>
                  <a:srgbClr val="475569"/>
                </a:solidFill>
                <a:latin typeface="Plus Jakarta Sans"/>
                <a:ea typeface="Plus Jakarta Sans"/>
                <a:cs typeface="Plus Jakarta Sans"/>
                <a:sym typeface="Plus Jakarta Sans"/>
              </a:rPr>
              <a:t>Amorphous</a:t>
            </a:r>
            <a:r>
              <a:rPr lang="en-US" sz="1125" b="0" i="0" u="none" strike="noStrike" cap="none">
                <a:solidFill>
                  <a:srgbClr val="475569"/>
                </a:solidFill>
                <a:latin typeface="Plus Jakarta Sans"/>
                <a:ea typeface="Plus Jakarta Sans"/>
                <a:cs typeface="Plus Jakarta Sans"/>
                <a:sym typeface="Plus Jakarta Sans"/>
              </a:rPr>
              <a:t> vô định hình (Điện trở rất cao).</a:t>
            </a:r>
            <a:endParaRPr/>
          </a:p>
        </p:txBody>
      </p:sp>
      <p:sp>
        <p:nvSpPr>
          <p:cNvPr id="183" name="Google Shape;183;p17"/>
          <p:cNvSpPr txBox="1"/>
          <p:nvPr/>
        </p:nvSpPr>
        <p:spPr>
          <a:xfrm>
            <a:off x="1000125" y="3951833"/>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Trạng thái SET (Ghi 0):</a:t>
            </a:r>
            <a:r>
              <a:rPr lang="en-US" sz="1125" b="0" i="0" u="none" strike="noStrike" cap="none">
                <a:solidFill>
                  <a:srgbClr val="475569"/>
                </a:solidFill>
                <a:latin typeface="Plus Jakarta Sans"/>
                <a:ea typeface="Plus Jakarta Sans"/>
                <a:cs typeface="Plus Jakarta Sans"/>
                <a:sym typeface="Plus Jakarta Sans"/>
              </a:rPr>
              <a:t> Áp xung dòng điện vừa phải, thời gian lâu hơn → Ủ nhiệt giữa nhiệt độ kết tinh (T_c) và nóng chảy (T_m) → Cấu trúc </a:t>
            </a:r>
            <a:r>
              <a:rPr lang="en-US" sz="1125" b="1" i="0" u="none" strike="noStrike" cap="none">
                <a:solidFill>
                  <a:srgbClr val="475569"/>
                </a:solidFill>
                <a:latin typeface="Plus Jakarta Sans"/>
                <a:ea typeface="Plus Jakarta Sans"/>
                <a:cs typeface="Plus Jakarta Sans"/>
                <a:sym typeface="Plus Jakarta Sans"/>
              </a:rPr>
              <a:t>Crystalline</a:t>
            </a:r>
            <a:r>
              <a:rPr lang="en-US" sz="1125" b="0" i="0" u="none" strike="noStrike" cap="none">
                <a:solidFill>
                  <a:srgbClr val="475569"/>
                </a:solidFill>
                <a:latin typeface="Plus Jakarta Sans"/>
                <a:ea typeface="Plus Jakarta Sans"/>
                <a:cs typeface="Plus Jakarta Sans"/>
                <a:sym typeface="Plus Jakarta Sans"/>
              </a:rPr>
              <a:t> tinh thể hóa tự nhiên (Điện trở rất thấp).</a:t>
            </a:r>
            <a:endParaRPr/>
          </a:p>
        </p:txBody>
      </p:sp>
      <p:sp>
        <p:nvSpPr>
          <p:cNvPr id="184" name="Google Shape;184;p17"/>
          <p:cNvSpPr txBox="1"/>
          <p:nvPr/>
        </p:nvSpPr>
        <p:spPr>
          <a:xfrm>
            <a:off x="1000125" y="4751933"/>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Thao tác Đọc:</a:t>
            </a:r>
            <a:r>
              <a:rPr lang="en-US" sz="1125" b="0" i="0" u="none" strike="noStrike" cap="none">
                <a:solidFill>
                  <a:srgbClr val="475569"/>
                </a:solidFill>
                <a:latin typeface="Plus Jakarta Sans"/>
                <a:ea typeface="Plus Jakarta Sans"/>
                <a:cs typeface="Plus Jakarta Sans"/>
                <a:sym typeface="Plus Jakarta Sans"/>
              </a:rPr>
              <a:t> Áp dòng điện siêu nhỏ đo giá trị điện trở (R), không gây nhiễu trạng thái pha.</a:t>
            </a:r>
            <a:endParaRPr/>
          </a:p>
        </p:txBody>
      </p:sp>
      <p:sp>
        <p:nvSpPr>
          <p:cNvPr id="185" name="Google Shape;185;p17"/>
          <p:cNvSpPr txBox="1"/>
          <p:nvPr/>
        </p:nvSpPr>
        <p:spPr>
          <a:xfrm>
            <a:off x="771525" y="3151733"/>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86" name="Google Shape;186;p17"/>
          <p:cNvSpPr txBox="1"/>
          <p:nvPr/>
        </p:nvSpPr>
        <p:spPr>
          <a:xfrm>
            <a:off x="771525" y="3951833"/>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87" name="Google Shape;187;p17"/>
          <p:cNvSpPr txBox="1"/>
          <p:nvPr/>
        </p:nvSpPr>
        <p:spPr>
          <a:xfrm>
            <a:off x="771525" y="4751933"/>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188" name="Google Shape;188;p17"/>
          <p:cNvSpPr txBox="1"/>
          <p:nvPr/>
        </p:nvSpPr>
        <p:spPr>
          <a:xfrm>
            <a:off x="6781800" y="2926109"/>
            <a:ext cx="18478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EF4444"/>
                </a:solidFill>
                <a:latin typeface="Plus Jakarta Sans"/>
                <a:ea typeface="Plus Jakarta Sans"/>
                <a:cs typeface="Plus Jakarta Sans"/>
                <a:sym typeface="Plus Jakarta Sans"/>
              </a:rPr>
              <a:t>AMORPHOUS PHASE (RESET)</a:t>
            </a:r>
            <a:endParaRPr/>
          </a:p>
        </p:txBody>
      </p:sp>
      <p:sp>
        <p:nvSpPr>
          <p:cNvPr id="189" name="Google Shape;189;p17"/>
          <p:cNvSpPr txBox="1"/>
          <p:nvPr/>
        </p:nvSpPr>
        <p:spPr>
          <a:xfrm>
            <a:off x="6781800" y="4278659"/>
            <a:ext cx="1847850"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Cấu trúc phân tử hỗn loạn, kìm hãm electron di chuyển</a:t>
            </a:r>
            <a:endParaRPr/>
          </a:p>
        </p:txBody>
      </p:sp>
      <p:sp>
        <p:nvSpPr>
          <p:cNvPr id="190" name="Google Shape;190;p17"/>
          <p:cNvSpPr txBox="1"/>
          <p:nvPr/>
        </p:nvSpPr>
        <p:spPr>
          <a:xfrm>
            <a:off x="9172575" y="2926109"/>
            <a:ext cx="18478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22C55E"/>
                </a:solidFill>
                <a:latin typeface="Plus Jakarta Sans"/>
                <a:ea typeface="Plus Jakarta Sans"/>
                <a:cs typeface="Plus Jakarta Sans"/>
                <a:sym typeface="Plus Jakarta Sans"/>
              </a:rPr>
              <a:t>CRYSTALLINE PHASE (SET)</a:t>
            </a:r>
            <a:endParaRPr/>
          </a:p>
        </p:txBody>
      </p:sp>
      <p:sp>
        <p:nvSpPr>
          <p:cNvPr id="191" name="Google Shape;191;p17"/>
          <p:cNvSpPr txBox="1"/>
          <p:nvPr/>
        </p:nvSpPr>
        <p:spPr>
          <a:xfrm>
            <a:off x="9172575" y="4278659"/>
            <a:ext cx="1847850"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Cấu trúc tinh thể ngăn nắp, cho phép dòng điện chạy tự do</a:t>
            </a:r>
            <a:endParaRPr/>
          </a:p>
        </p:txBody>
      </p:sp>
      <p:sp>
        <p:nvSpPr>
          <p:cNvPr id="192" name="Google Shape;192;p17"/>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Phase Change Memory (PCM): Nguyên lý hoạt động</a:t>
            </a:r>
            <a:endParaRPr/>
          </a:p>
        </p:txBody>
      </p:sp>
      <p:sp>
        <p:nvSpPr>
          <p:cNvPr id="193" name="Google Shape;193;p17"/>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pic>
        <p:nvPicPr>
          <p:cNvPr id="198" name="Google Shape;19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9" name="Google Shape;199;p18" descr="image.png"/>
          <p:cNvPicPr preferRelativeResize="0"/>
          <p:nvPr/>
        </p:nvPicPr>
        <p:blipFill rotWithShape="1">
          <a:blip r:embed="rId4">
            <a:alphaModFix/>
          </a:blip>
          <a:srcRect/>
          <a:stretch/>
        </p:blipFill>
        <p:spPr>
          <a:xfrm>
            <a:off x="771525" y="1780133"/>
            <a:ext cx="3397299" cy="4010025"/>
          </a:xfrm>
          <a:prstGeom prst="rect">
            <a:avLst/>
          </a:prstGeom>
          <a:noFill/>
          <a:ln>
            <a:noFill/>
          </a:ln>
        </p:spPr>
      </p:pic>
      <p:pic>
        <p:nvPicPr>
          <p:cNvPr id="200" name="Google Shape;200;p18" descr="image.png"/>
          <p:cNvPicPr preferRelativeResize="0"/>
          <p:nvPr/>
        </p:nvPicPr>
        <p:blipFill rotWithShape="1">
          <a:blip r:embed="rId5">
            <a:alphaModFix/>
          </a:blip>
          <a:srcRect/>
          <a:stretch/>
        </p:blipFill>
        <p:spPr>
          <a:xfrm>
            <a:off x="4397424" y="1780133"/>
            <a:ext cx="3397299" cy="4010025"/>
          </a:xfrm>
          <a:prstGeom prst="rect">
            <a:avLst/>
          </a:prstGeom>
          <a:noFill/>
          <a:ln>
            <a:noFill/>
          </a:ln>
        </p:spPr>
      </p:pic>
      <p:pic>
        <p:nvPicPr>
          <p:cNvPr id="201" name="Google Shape;201;p18" descr="image.png"/>
          <p:cNvPicPr preferRelativeResize="0"/>
          <p:nvPr/>
        </p:nvPicPr>
        <p:blipFill rotWithShape="1">
          <a:blip r:embed="rId6">
            <a:alphaModFix/>
          </a:blip>
          <a:srcRect/>
          <a:stretch/>
        </p:blipFill>
        <p:spPr>
          <a:xfrm>
            <a:off x="8023324" y="1780133"/>
            <a:ext cx="3397299" cy="4010025"/>
          </a:xfrm>
          <a:prstGeom prst="rect">
            <a:avLst/>
          </a:prstGeom>
          <a:noFill/>
          <a:ln>
            <a:noFill/>
          </a:ln>
        </p:spPr>
      </p:pic>
      <p:pic>
        <p:nvPicPr>
          <p:cNvPr id="202" name="Google Shape;202;p18" descr="image.png"/>
          <p:cNvPicPr preferRelativeResize="0"/>
          <p:nvPr/>
        </p:nvPicPr>
        <p:blipFill rotWithShape="1">
          <a:blip r:embed="rId7">
            <a:alphaModFix/>
          </a:blip>
          <a:srcRect/>
          <a:stretch/>
        </p:blipFill>
        <p:spPr>
          <a:xfrm>
            <a:off x="1066800" y="3961358"/>
            <a:ext cx="2806749" cy="480417"/>
          </a:xfrm>
          <a:prstGeom prst="rect">
            <a:avLst/>
          </a:prstGeom>
          <a:noFill/>
          <a:ln>
            <a:noFill/>
          </a:ln>
        </p:spPr>
      </p:pic>
      <p:sp>
        <p:nvSpPr>
          <p:cNvPr id="203" name="Google Shape;203;p18"/>
          <p:cNvSpPr txBox="1"/>
          <p:nvPr/>
        </p:nvSpPr>
        <p:spPr>
          <a:xfrm>
            <a:off x="1066800" y="2551658"/>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Resistance Drift</a:t>
            </a:r>
            <a:endParaRPr/>
          </a:p>
        </p:txBody>
      </p:sp>
      <p:sp>
        <p:nvSpPr>
          <p:cNvPr id="204" name="Google Shape;204;p18"/>
          <p:cNvSpPr txBox="1"/>
          <p:nvPr/>
        </p:nvSpPr>
        <p:spPr>
          <a:xfrm>
            <a:off x="1066800" y="2885033"/>
            <a:ext cx="280674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Điện trở của vùng vô định hình (Amorphous) không ổn định tuyệt đối mà tự tăng dần theo thời gian theo mô hình số mũ:</a:t>
            </a:r>
            <a:endParaRPr/>
          </a:p>
        </p:txBody>
      </p:sp>
      <p:sp>
        <p:nvSpPr>
          <p:cNvPr id="205" name="Google Shape;205;p18"/>
          <p:cNvSpPr txBox="1"/>
          <p:nvPr/>
        </p:nvSpPr>
        <p:spPr>
          <a:xfrm>
            <a:off x="1066800" y="4537025"/>
            <a:ext cx="2806749" cy="594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Đây là trở ngại chết người của công nghệ ô nhớ đa cấp (MLC) vì các trạng thái trung gian bị trôi lệch, dẫn tới lỗi đọc dữ liệu.</a:t>
            </a:r>
            <a:endParaRPr/>
          </a:p>
        </p:txBody>
      </p:sp>
      <p:sp>
        <p:nvSpPr>
          <p:cNvPr id="206" name="Google Shape;206;p18"/>
          <p:cNvSpPr txBox="1"/>
          <p:nvPr/>
        </p:nvSpPr>
        <p:spPr>
          <a:xfrm>
            <a:off x="4692699" y="2551658"/>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Mâu thuẫn nhiệt độ</a:t>
            </a:r>
            <a:endParaRPr/>
          </a:p>
        </p:txBody>
      </p:sp>
      <p:sp>
        <p:nvSpPr>
          <p:cNvPr id="207" name="Google Shape;207;p18"/>
          <p:cNvSpPr txBox="1"/>
          <p:nvPr/>
        </p:nvSpPr>
        <p:spPr>
          <a:xfrm>
            <a:off x="4692699" y="2885033"/>
            <a:ext cx="2806749"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Nghiên cứu vật liệu GST đối mặt với bài toán tối ưu trung tâm cực khó giải quyết đồng thời hai yếu tố:</a:t>
            </a:r>
            <a:endParaRPr/>
          </a:p>
        </p:txBody>
      </p:sp>
      <p:sp>
        <p:nvSpPr>
          <p:cNvPr id="208" name="Google Shape;208;p18"/>
          <p:cNvSpPr txBox="1"/>
          <p:nvPr/>
        </p:nvSpPr>
        <p:spPr>
          <a:xfrm>
            <a:off x="8318599" y="2551658"/>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Dòng RESET quá cao</a:t>
            </a:r>
            <a:endParaRPr/>
          </a:p>
        </p:txBody>
      </p:sp>
      <p:sp>
        <p:nvSpPr>
          <p:cNvPr id="209" name="Google Shape;209;p18"/>
          <p:cNvSpPr txBox="1"/>
          <p:nvPr/>
        </p:nvSpPr>
        <p:spPr>
          <a:xfrm>
            <a:off x="8318599" y="2885033"/>
            <a:ext cx="2806749"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Quá trình nung chảy GST yêu cầu dòng điện mật độ cực lớn từ </a:t>
            </a:r>
            <a:r>
              <a:rPr lang="en-US" sz="1125" b="1" i="0" u="none" strike="noStrike" cap="none">
                <a:solidFill>
                  <a:srgbClr val="475569"/>
                </a:solidFill>
                <a:latin typeface="Plus Jakarta Sans"/>
                <a:ea typeface="Plus Jakarta Sans"/>
                <a:cs typeface="Plus Jakarta Sans"/>
                <a:sym typeface="Plus Jakarta Sans"/>
              </a:rPr>
              <a:t>10 đến 40 MA/cm²</a:t>
            </a:r>
            <a:r>
              <a:rPr lang="en-US" sz="1125" b="0" i="0" u="none" strike="noStrike" cap="none">
                <a:solidFill>
                  <a:srgbClr val="475569"/>
                </a:solidFill>
                <a:latin typeface="Plus Jakarta Sans"/>
                <a:ea typeface="Plus Jakarta Sans"/>
                <a:cs typeface="Plus Jakarta Sans"/>
                <a:sym typeface="Plus Jakarta Sans"/>
              </a:rPr>
              <a:t>.</a:t>
            </a:r>
            <a:endParaRPr/>
          </a:p>
        </p:txBody>
      </p:sp>
      <p:sp>
        <p:nvSpPr>
          <p:cNvPr id="210" name="Google Shape;210;p18"/>
          <p:cNvSpPr txBox="1"/>
          <p:nvPr/>
        </p:nvSpPr>
        <p:spPr>
          <a:xfrm>
            <a:off x="8318599" y="3647033"/>
            <a:ext cx="2806749" cy="7923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Cải tiến cấu trúc:</a:t>
            </a:r>
            <a:r>
              <a:rPr lang="en-US" sz="975" b="0" i="0" u="none" strike="noStrike" cap="none">
                <a:solidFill>
                  <a:srgbClr val="475569"/>
                </a:solidFill>
                <a:latin typeface="Plus Jakarta Sans"/>
                <a:ea typeface="Plus Jakarta Sans"/>
                <a:cs typeface="Plus Jakarta Sans"/>
                <a:sym typeface="Plus Jakarta Sans"/>
              </a:rPr>
              <a:t> Sự chuyển dịch thiết kế từ Mushroom → Edge-contact → μTrench → Confined Cell giúp thu nhỏ tiết diện tiếp xúc, giảm dòng điện RESET tới hơn 65%.</a:t>
            </a:r>
            <a:endParaRPr/>
          </a:p>
        </p:txBody>
      </p:sp>
      <p:pic>
        <p:nvPicPr>
          <p:cNvPr id="211" name="Google Shape;211;p18" descr="image.png"/>
          <p:cNvPicPr preferRelativeResize="0"/>
          <p:nvPr/>
        </p:nvPicPr>
        <p:blipFill rotWithShape="1">
          <a:blip r:embed="rId8">
            <a:alphaModFix/>
          </a:blip>
          <a:srcRect/>
          <a:stretch/>
        </p:blipFill>
        <p:spPr>
          <a:xfrm>
            <a:off x="1066800" y="2123033"/>
            <a:ext cx="266700" cy="266700"/>
          </a:xfrm>
          <a:prstGeom prst="rect">
            <a:avLst/>
          </a:prstGeom>
          <a:noFill/>
          <a:ln>
            <a:noFill/>
          </a:ln>
        </p:spPr>
      </p:pic>
      <p:pic>
        <p:nvPicPr>
          <p:cNvPr id="212" name="Google Shape;212;p18" descr="image.png"/>
          <p:cNvPicPr preferRelativeResize="0"/>
          <p:nvPr/>
        </p:nvPicPr>
        <p:blipFill rotWithShape="1">
          <a:blip r:embed="rId9">
            <a:alphaModFix/>
          </a:blip>
          <a:srcRect/>
          <a:stretch/>
        </p:blipFill>
        <p:spPr>
          <a:xfrm>
            <a:off x="1824930" y="4113758"/>
            <a:ext cx="1290488" cy="175617"/>
          </a:xfrm>
          <a:prstGeom prst="rect">
            <a:avLst/>
          </a:prstGeom>
          <a:noFill/>
          <a:ln>
            <a:noFill/>
          </a:ln>
        </p:spPr>
      </p:pic>
      <p:pic>
        <p:nvPicPr>
          <p:cNvPr id="213" name="Google Shape;213;p18" descr="image.png"/>
          <p:cNvPicPr preferRelativeResize="0"/>
          <p:nvPr/>
        </p:nvPicPr>
        <p:blipFill rotWithShape="1">
          <a:blip r:embed="rId10">
            <a:alphaModFix/>
          </a:blip>
          <a:srcRect/>
          <a:stretch/>
        </p:blipFill>
        <p:spPr>
          <a:xfrm>
            <a:off x="4692699" y="2123033"/>
            <a:ext cx="266700" cy="266700"/>
          </a:xfrm>
          <a:prstGeom prst="rect">
            <a:avLst/>
          </a:prstGeom>
          <a:noFill/>
          <a:ln>
            <a:noFill/>
          </a:ln>
        </p:spPr>
      </p:pic>
      <p:sp>
        <p:nvSpPr>
          <p:cNvPr id="214" name="Google Shape;214;p18"/>
          <p:cNvSpPr txBox="1"/>
          <p:nvPr/>
        </p:nvSpPr>
        <p:spPr>
          <a:xfrm>
            <a:off x="4921299" y="3666083"/>
            <a:ext cx="257814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Yêu cầu lưu trữ lâu dài:</a:t>
            </a:r>
            <a:r>
              <a:rPr lang="en-US" sz="1125" b="0" i="0" u="none" strike="noStrike" cap="none">
                <a:solidFill>
                  <a:srgbClr val="475569"/>
                </a:solidFill>
                <a:latin typeface="Plus Jakarta Sans"/>
                <a:ea typeface="Plus Jakarta Sans"/>
                <a:cs typeface="Plus Jakarta Sans"/>
                <a:sym typeface="Plus Jakarta Sans"/>
              </a:rPr>
              <a:t> Trạng thái amorphous phải cực kỳ ổn định ở nhiệt độ vận hành công nghiệp (85°C - 150°C), không tự biến đổi.</a:t>
            </a:r>
            <a:endParaRPr/>
          </a:p>
        </p:txBody>
      </p:sp>
      <p:sp>
        <p:nvSpPr>
          <p:cNvPr id="215" name="Google Shape;215;p18"/>
          <p:cNvSpPr txBox="1"/>
          <p:nvPr/>
        </p:nvSpPr>
        <p:spPr>
          <a:xfrm>
            <a:off x="4921299" y="4694783"/>
            <a:ext cx="2578149"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Yêu cầu tốc độ:</a:t>
            </a:r>
            <a:r>
              <a:rPr lang="en-US" sz="1125" b="0" i="0" u="none" strike="noStrike" cap="none">
                <a:solidFill>
                  <a:srgbClr val="475569"/>
                </a:solidFill>
                <a:latin typeface="Plus Jakarta Sans"/>
                <a:ea typeface="Plus Jakarta Sans"/>
                <a:cs typeface="Plus Jakarta Sans"/>
                <a:sym typeface="Plus Jakarta Sans"/>
              </a:rPr>
              <a:t> Khi ghi dữ liệu, vật liệu phải chuyển pha tinh thể cực nhanh ở mức nano giây.</a:t>
            </a:r>
            <a:endParaRPr/>
          </a:p>
        </p:txBody>
      </p:sp>
      <p:pic>
        <p:nvPicPr>
          <p:cNvPr id="216" name="Google Shape;216;p18" descr="image.png"/>
          <p:cNvPicPr preferRelativeResize="0"/>
          <p:nvPr/>
        </p:nvPicPr>
        <p:blipFill rotWithShape="1">
          <a:blip r:embed="rId11">
            <a:alphaModFix/>
          </a:blip>
          <a:srcRect/>
          <a:stretch/>
        </p:blipFill>
        <p:spPr>
          <a:xfrm>
            <a:off x="8318599" y="2123033"/>
            <a:ext cx="238125" cy="266700"/>
          </a:xfrm>
          <a:prstGeom prst="rect">
            <a:avLst/>
          </a:prstGeom>
          <a:noFill/>
          <a:ln>
            <a:noFill/>
          </a:ln>
        </p:spPr>
      </p:pic>
      <p:sp>
        <p:nvSpPr>
          <p:cNvPr id="217" name="Google Shape;217;p18"/>
          <p:cNvSpPr txBox="1"/>
          <p:nvPr/>
        </p:nvSpPr>
        <p:spPr>
          <a:xfrm>
            <a:off x="4692699" y="3666083"/>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18" name="Google Shape;218;p18"/>
          <p:cNvSpPr txBox="1"/>
          <p:nvPr/>
        </p:nvSpPr>
        <p:spPr>
          <a:xfrm>
            <a:off x="4692699" y="4694783"/>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19" name="Google Shape;219;p18"/>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PCM: Thách thức vật lý lớn nhất</a:t>
            </a:r>
            <a:endParaRPr/>
          </a:p>
        </p:txBody>
      </p:sp>
      <p:sp>
        <p:nvSpPr>
          <p:cNvPr id="220" name="Google Shape;220;p18"/>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pic>
        <p:nvPicPr>
          <p:cNvPr id="225" name="Google Shape;22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6" name="Google Shape;226;p19" descr="image.png"/>
          <p:cNvPicPr preferRelativeResize="0"/>
          <p:nvPr/>
        </p:nvPicPr>
        <p:blipFill rotWithShape="1">
          <a:blip r:embed="rId4">
            <a:alphaModFix/>
          </a:blip>
          <a:srcRect/>
          <a:stretch/>
        </p:blipFill>
        <p:spPr>
          <a:xfrm>
            <a:off x="771525" y="4541490"/>
            <a:ext cx="5038725" cy="1020812"/>
          </a:xfrm>
          <a:prstGeom prst="rect">
            <a:avLst/>
          </a:prstGeom>
          <a:noFill/>
          <a:ln>
            <a:noFill/>
          </a:ln>
        </p:spPr>
      </p:pic>
      <p:pic>
        <p:nvPicPr>
          <p:cNvPr id="227" name="Google Shape;227;p19" descr="image.png"/>
          <p:cNvPicPr preferRelativeResize="0"/>
          <p:nvPr/>
        </p:nvPicPr>
        <p:blipFill rotWithShape="1">
          <a:blip r:embed="rId5">
            <a:alphaModFix/>
          </a:blip>
          <a:srcRect/>
          <a:stretch/>
        </p:blipFill>
        <p:spPr>
          <a:xfrm>
            <a:off x="6381750" y="1975395"/>
            <a:ext cx="5038725" cy="3619500"/>
          </a:xfrm>
          <a:prstGeom prst="rect">
            <a:avLst/>
          </a:prstGeom>
          <a:noFill/>
          <a:ln>
            <a:noFill/>
          </a:ln>
        </p:spPr>
      </p:pic>
      <p:pic>
        <p:nvPicPr>
          <p:cNvPr id="228" name="Google Shape;228;p19" descr="image.png"/>
          <p:cNvPicPr preferRelativeResize="0"/>
          <p:nvPr/>
        </p:nvPicPr>
        <p:blipFill rotWithShape="1">
          <a:blip r:embed="rId6">
            <a:alphaModFix/>
          </a:blip>
          <a:srcRect/>
          <a:stretch/>
        </p:blipFill>
        <p:spPr>
          <a:xfrm>
            <a:off x="6677025" y="2792759"/>
            <a:ext cx="4448175" cy="1984771"/>
          </a:xfrm>
          <a:prstGeom prst="rect">
            <a:avLst/>
          </a:prstGeom>
          <a:noFill/>
          <a:ln>
            <a:noFill/>
          </a:ln>
        </p:spPr>
      </p:pic>
      <p:pic>
        <p:nvPicPr>
          <p:cNvPr id="229" name="Google Shape;229;p19" descr="image.png"/>
          <p:cNvPicPr preferRelativeResize="0"/>
          <p:nvPr/>
        </p:nvPicPr>
        <p:blipFill rotWithShape="1">
          <a:blip r:embed="rId7">
            <a:alphaModFix/>
          </a:blip>
          <a:srcRect/>
          <a:stretch/>
        </p:blipFill>
        <p:spPr>
          <a:xfrm>
            <a:off x="7329487" y="3316634"/>
            <a:ext cx="1228725" cy="704850"/>
          </a:xfrm>
          <a:prstGeom prst="rect">
            <a:avLst/>
          </a:prstGeom>
          <a:noFill/>
          <a:ln>
            <a:noFill/>
          </a:ln>
        </p:spPr>
      </p:pic>
      <p:pic>
        <p:nvPicPr>
          <p:cNvPr id="230" name="Google Shape;230;p19" descr="image.png"/>
          <p:cNvPicPr preferRelativeResize="0"/>
          <p:nvPr/>
        </p:nvPicPr>
        <p:blipFill rotWithShape="1">
          <a:blip r:embed="rId8">
            <a:alphaModFix/>
          </a:blip>
          <a:srcRect/>
          <a:stretch/>
        </p:blipFill>
        <p:spPr>
          <a:xfrm>
            <a:off x="9224962" y="3316634"/>
            <a:ext cx="1247775" cy="704850"/>
          </a:xfrm>
          <a:prstGeom prst="rect">
            <a:avLst/>
          </a:prstGeom>
          <a:noFill/>
          <a:ln>
            <a:noFill/>
          </a:ln>
        </p:spPr>
      </p:pic>
      <p:sp>
        <p:nvSpPr>
          <p:cNvPr id="231" name="Google Shape;231;p19"/>
          <p:cNvSpPr txBox="1"/>
          <p:nvPr/>
        </p:nvSpPr>
        <p:spPr>
          <a:xfrm>
            <a:off x="771525" y="2007840"/>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Selector quyết định kích thước vật lý thực</a:t>
            </a:r>
            <a:endParaRPr/>
          </a:p>
        </p:txBody>
      </p:sp>
      <p:sp>
        <p:nvSpPr>
          <p:cNvPr id="232" name="Google Shape;232;p19"/>
          <p:cNvSpPr txBox="1"/>
          <p:nvPr/>
        </p:nvSpPr>
        <p:spPr>
          <a:xfrm>
            <a:off x="771525" y="2341215"/>
            <a:ext cx="50387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Bản thân ô nhớ PCM rất nhỏ, nhưng để tích hợp vào mạng lưới mật độ cao không bị dòng điện đi lạc nhiễu sóng, mỗi ô nhớ bắt buộc phải đi kèm một </a:t>
            </a:r>
            <a:r>
              <a:rPr lang="en-US" sz="1125" b="1" i="0" u="none" strike="noStrike" cap="none">
                <a:solidFill>
                  <a:srgbClr val="475569"/>
                </a:solidFill>
                <a:latin typeface="Plus Jakarta Sans"/>
                <a:ea typeface="Plus Jakarta Sans"/>
                <a:cs typeface="Plus Jakarta Sans"/>
                <a:sym typeface="Plus Jakarta Sans"/>
              </a:rPr>
              <a:t>Selector</a:t>
            </a:r>
            <a:r>
              <a:rPr lang="en-US" sz="1125" b="0" i="0" u="none" strike="noStrike" cap="none">
                <a:solidFill>
                  <a:srgbClr val="475569"/>
                </a:solidFill>
                <a:latin typeface="Plus Jakarta Sans"/>
                <a:ea typeface="Plus Jakarta Sans"/>
                <a:cs typeface="Plus Jakarta Sans"/>
                <a:sym typeface="Plus Jakarta Sans"/>
              </a:rPr>
              <a:t> đóng ngắt.</a:t>
            </a:r>
            <a:endParaRPr/>
          </a:p>
        </p:txBody>
      </p:sp>
      <p:sp>
        <p:nvSpPr>
          <p:cNvPr id="233" name="Google Shape;233;p19"/>
          <p:cNvSpPr txBox="1"/>
          <p:nvPr/>
        </p:nvSpPr>
        <p:spPr>
          <a:xfrm>
            <a:off x="1000125" y="3141315"/>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Các phương án Selector:</a:t>
            </a:r>
            <a:r>
              <a:rPr lang="en-US" sz="1125" b="0" i="0" u="none" strike="noStrike" cap="none">
                <a:solidFill>
                  <a:srgbClr val="475569"/>
                </a:solidFill>
                <a:latin typeface="Plus Jakarta Sans"/>
                <a:ea typeface="Plus Jakarta Sans"/>
                <a:cs typeface="Plus Jakarta Sans"/>
                <a:sym typeface="Plus Jakarta Sans"/>
              </a:rPr>
              <a:t> MOSFET, BJT, Diode, Metal-Insulator Transition (MIT), Ovonic Threshold Switch (OTS).</a:t>
            </a:r>
            <a:endParaRPr/>
          </a:p>
        </p:txBody>
      </p:sp>
      <p:sp>
        <p:nvSpPr>
          <p:cNvPr id="234" name="Google Shape;234;p19"/>
          <p:cNvSpPr txBox="1"/>
          <p:nvPr/>
        </p:nvSpPr>
        <p:spPr>
          <a:xfrm>
            <a:off x="1000125" y="3712815"/>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Mục tiêu kỹ thuật:</a:t>
            </a:r>
            <a:r>
              <a:rPr lang="en-US" sz="1125" b="0" i="0" u="none" strike="noStrike" cap="none">
                <a:solidFill>
                  <a:srgbClr val="475569"/>
                </a:solidFill>
                <a:latin typeface="Plus Jakarta Sans"/>
                <a:ea typeface="Plus Jakarta Sans"/>
                <a:cs typeface="Plus Jakarta Sans"/>
                <a:sym typeface="Plus Jakarta Sans"/>
              </a:rPr>
              <a:t> Đạt tỉ lệ ON/OFF &gt; 10⁶, dòng mở cực cao để đủ cung cấp dòng RESET, tương thích nhiệt độ chế tạo CMOS dưới 450°C.</a:t>
            </a:r>
            <a:endParaRPr/>
          </a:p>
        </p:txBody>
      </p:sp>
      <p:sp>
        <p:nvSpPr>
          <p:cNvPr id="235" name="Google Shape;235;p19"/>
          <p:cNvSpPr txBox="1"/>
          <p:nvPr/>
        </p:nvSpPr>
        <p:spPr>
          <a:xfrm>
            <a:off x="1000125" y="4731990"/>
            <a:ext cx="4619625"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Giải pháp MLC:</a:t>
            </a:r>
            <a:r>
              <a:rPr lang="en-US" sz="1050" b="0" i="0" u="none" strike="noStrike" cap="none">
                <a:solidFill>
                  <a:srgbClr val="475569"/>
                </a:solidFill>
                <a:latin typeface="Plus Jakarta Sans"/>
                <a:ea typeface="Plus Jakarta Sans"/>
                <a:cs typeface="Plus Jakarta Sans"/>
                <a:sym typeface="Plus Jakarta Sans"/>
              </a:rPr>
              <a:t> Lưu trữ từ 2 đến 4 bit trên một ô đơn nhờ phân đoạn các dải điện trở khác nhau, tuy nhiên quá trình ghi sẽ yêu cầu thuật toán kiểm duyệt (Read-Verify-Write) kéo dài độ trễ.</a:t>
            </a:r>
            <a:endParaRPr/>
          </a:p>
        </p:txBody>
      </p:sp>
      <p:sp>
        <p:nvSpPr>
          <p:cNvPr id="236" name="Google Shape;236;p19"/>
          <p:cNvSpPr txBox="1"/>
          <p:nvPr/>
        </p:nvSpPr>
        <p:spPr>
          <a:xfrm>
            <a:off x="771525" y="314131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37" name="Google Shape;237;p19"/>
          <p:cNvSpPr txBox="1"/>
          <p:nvPr/>
        </p:nvSpPr>
        <p:spPr>
          <a:xfrm>
            <a:off x="771525" y="371281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38" name="Google Shape;238;p19"/>
          <p:cNvSpPr txBox="1"/>
          <p:nvPr/>
        </p:nvSpPr>
        <p:spPr>
          <a:xfrm>
            <a:off x="6775846" y="2992784"/>
            <a:ext cx="4250531" cy="180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1E293B"/>
                </a:solidFill>
                <a:latin typeface="Plus Jakarta Sans"/>
                <a:ea typeface="Plus Jakarta Sans"/>
                <a:cs typeface="Plus Jakarta Sans"/>
                <a:sym typeface="Plus Jakarta Sans"/>
              </a:rPr>
              <a:t>SƠ ĐỒ CẤU TRÚC 1 Ô NHỚ PCM + SELECTOR</a:t>
            </a:r>
            <a:endParaRPr/>
          </a:p>
        </p:txBody>
      </p:sp>
      <p:sp>
        <p:nvSpPr>
          <p:cNvPr id="239" name="Google Shape;239;p19"/>
          <p:cNvSpPr txBox="1"/>
          <p:nvPr/>
        </p:nvSpPr>
        <p:spPr>
          <a:xfrm>
            <a:off x="6877050" y="4211984"/>
            <a:ext cx="4048125"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64748B"/>
                </a:solidFill>
                <a:latin typeface="Plus Jakarta Sans"/>
                <a:ea typeface="Plus Jakarta Sans"/>
                <a:cs typeface="Plus Jakarta Sans"/>
                <a:sym typeface="Plus Jakarta Sans"/>
              </a:rPr>
              <a:t>Mật độ tổng thể của tấm wafer PCM phụ thuộc 100% vào việc thu nhỏ linh kiện Selector này.</a:t>
            </a:r>
            <a:endParaRPr/>
          </a:p>
        </p:txBody>
      </p:sp>
      <p:sp>
        <p:nvSpPr>
          <p:cNvPr id="240" name="Google Shape;240;p19"/>
          <p:cNvSpPr txBox="1"/>
          <p:nvPr/>
        </p:nvSpPr>
        <p:spPr>
          <a:xfrm>
            <a:off x="7481887" y="3726209"/>
            <a:ext cx="923925" cy="123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25" b="0" i="0" u="none" strike="noStrike" cap="none">
                <a:solidFill>
                  <a:srgbClr val="DC2626"/>
                </a:solidFill>
                <a:latin typeface="Plus Jakarta Sans"/>
                <a:ea typeface="Plus Jakarta Sans"/>
                <a:cs typeface="Plus Jakarta Sans"/>
                <a:sym typeface="Plus Jakarta Sans"/>
              </a:rPr>
              <a:t>(Chứa vật liệu GST)</a:t>
            </a:r>
            <a:endParaRPr/>
          </a:p>
        </p:txBody>
      </p:sp>
      <p:pic>
        <p:nvPicPr>
          <p:cNvPr id="241" name="Google Shape;241;p19" descr="image.png"/>
          <p:cNvPicPr preferRelativeResize="0"/>
          <p:nvPr/>
        </p:nvPicPr>
        <p:blipFill rotWithShape="1">
          <a:blip r:embed="rId9">
            <a:alphaModFix/>
          </a:blip>
          <a:srcRect/>
          <a:stretch/>
        </p:blipFill>
        <p:spPr>
          <a:xfrm>
            <a:off x="8748712" y="3564284"/>
            <a:ext cx="285750" cy="228600"/>
          </a:xfrm>
          <a:prstGeom prst="rect">
            <a:avLst/>
          </a:prstGeom>
          <a:noFill/>
          <a:ln>
            <a:noFill/>
          </a:ln>
        </p:spPr>
      </p:pic>
      <p:sp>
        <p:nvSpPr>
          <p:cNvPr id="242" name="Google Shape;242;p19"/>
          <p:cNvSpPr txBox="1"/>
          <p:nvPr/>
        </p:nvSpPr>
        <p:spPr>
          <a:xfrm>
            <a:off x="9377362" y="3726209"/>
            <a:ext cx="942975" cy="123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25" b="0" i="0" u="none" strike="noStrike" cap="none">
                <a:solidFill>
                  <a:srgbClr val="4F46E5"/>
                </a:solidFill>
                <a:latin typeface="Plus Jakarta Sans"/>
                <a:ea typeface="Plus Jakarta Sans"/>
                <a:cs typeface="Plus Jakarta Sans"/>
                <a:sym typeface="Plus Jakarta Sans"/>
              </a:rPr>
              <a:t>(Chặn dòng ký sinh)</a:t>
            </a:r>
            <a:endParaRPr/>
          </a:p>
        </p:txBody>
      </p:sp>
      <p:sp>
        <p:nvSpPr>
          <p:cNvPr id="243" name="Google Shape;243;p19"/>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Nút thắt mật độ: Bộ chọn ô nhớ (Selector)</a:t>
            </a:r>
            <a:endParaRPr/>
          </a:p>
        </p:txBody>
      </p:sp>
      <p:sp>
        <p:nvSpPr>
          <p:cNvPr id="244" name="Google Shape;244;p19"/>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8"/>
        <p:cNvGrpSpPr/>
        <p:nvPr/>
      </p:nvGrpSpPr>
      <p:grpSpPr>
        <a:xfrm>
          <a:off x="0" y="0"/>
          <a:ext cx="0" cy="0"/>
          <a:chOff x="0" y="0"/>
          <a:chExt cx="0" cy="0"/>
        </a:xfrm>
      </p:grpSpPr>
      <p:pic>
        <p:nvPicPr>
          <p:cNvPr id="249" name="Google Shape;249;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0" name="Google Shape;250;p20" descr="image.png"/>
          <p:cNvPicPr preferRelativeResize="0"/>
          <p:nvPr/>
        </p:nvPicPr>
        <p:blipFill rotWithShape="1">
          <a:blip r:embed="rId4">
            <a:alphaModFix/>
          </a:blip>
          <a:srcRect/>
          <a:stretch/>
        </p:blipFill>
        <p:spPr>
          <a:xfrm>
            <a:off x="771525" y="4772769"/>
            <a:ext cx="10648950" cy="777180"/>
          </a:xfrm>
          <a:prstGeom prst="rect">
            <a:avLst/>
          </a:prstGeom>
          <a:noFill/>
          <a:ln>
            <a:noFill/>
          </a:ln>
        </p:spPr>
      </p:pic>
      <p:pic>
        <p:nvPicPr>
          <p:cNvPr id="251" name="Google Shape;251;p20" descr="image.png"/>
          <p:cNvPicPr preferRelativeResize="0"/>
          <p:nvPr/>
        </p:nvPicPr>
        <p:blipFill rotWithShape="1">
          <a:blip r:embed="rId5">
            <a:alphaModFix/>
          </a:blip>
          <a:srcRect/>
          <a:stretch/>
        </p:blipFill>
        <p:spPr>
          <a:xfrm>
            <a:off x="771525" y="2020490"/>
            <a:ext cx="3397299" cy="2561778"/>
          </a:xfrm>
          <a:prstGeom prst="rect">
            <a:avLst/>
          </a:prstGeom>
          <a:noFill/>
          <a:ln>
            <a:noFill/>
          </a:ln>
        </p:spPr>
      </p:pic>
      <p:pic>
        <p:nvPicPr>
          <p:cNvPr id="252" name="Google Shape;252;p20" descr="image.png"/>
          <p:cNvPicPr preferRelativeResize="0"/>
          <p:nvPr/>
        </p:nvPicPr>
        <p:blipFill rotWithShape="1">
          <a:blip r:embed="rId6">
            <a:alphaModFix/>
          </a:blip>
          <a:srcRect/>
          <a:stretch/>
        </p:blipFill>
        <p:spPr>
          <a:xfrm>
            <a:off x="4397424" y="2020490"/>
            <a:ext cx="3397299" cy="2561778"/>
          </a:xfrm>
          <a:prstGeom prst="rect">
            <a:avLst/>
          </a:prstGeom>
          <a:noFill/>
          <a:ln>
            <a:noFill/>
          </a:ln>
        </p:spPr>
      </p:pic>
      <p:pic>
        <p:nvPicPr>
          <p:cNvPr id="253" name="Google Shape;253;p20" descr="image.png"/>
          <p:cNvPicPr preferRelativeResize="0"/>
          <p:nvPr/>
        </p:nvPicPr>
        <p:blipFill rotWithShape="1">
          <a:blip r:embed="rId7">
            <a:alphaModFix/>
          </a:blip>
          <a:srcRect/>
          <a:stretch/>
        </p:blipFill>
        <p:spPr>
          <a:xfrm>
            <a:off x="8023324" y="2020490"/>
            <a:ext cx="3397299" cy="2561778"/>
          </a:xfrm>
          <a:prstGeom prst="rect">
            <a:avLst/>
          </a:prstGeom>
          <a:noFill/>
          <a:ln>
            <a:noFill/>
          </a:ln>
        </p:spPr>
      </p:pic>
      <p:sp>
        <p:nvSpPr>
          <p:cNvPr id="254" name="Google Shape;254;p20"/>
          <p:cNvSpPr txBox="1"/>
          <p:nvPr/>
        </p:nvSpPr>
        <p:spPr>
          <a:xfrm>
            <a:off x="1000125" y="4963269"/>
            <a:ext cx="10229850"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Tiềm năng thu nhỏ:</a:t>
            </a:r>
            <a:r>
              <a:rPr lang="en-US" sz="975" b="0" i="0" u="none" strike="noStrike" cap="none">
                <a:solidFill>
                  <a:srgbClr val="475569"/>
                </a:solidFill>
                <a:latin typeface="Plus Jakarta Sans"/>
                <a:ea typeface="Plus Jakarta Sans"/>
                <a:cs typeface="Plus Jakarta Sans"/>
                <a:sym typeface="Plus Jakarta Sans"/>
              </a:rPr>
              <a:t> Vật liệu GST vẫn giữ đầy đủ các đặc tính hóa học chuyển pha ở quy mô hiển vi đến ~1.8 nm. Rào cản thu nhỏ cấu trúc PCM thương mại (đang ở mức 90nm - 45nm) hiện tại hoàn toàn nằm ở công nghệ sản xuất linh kiện Selector.</a:t>
            </a:r>
            <a:endParaRPr/>
          </a:p>
        </p:txBody>
      </p:sp>
      <p:pic>
        <p:nvPicPr>
          <p:cNvPr id="255" name="Google Shape;255;p20" descr="image.png"/>
          <p:cNvPicPr preferRelativeResize="0"/>
          <p:nvPr/>
        </p:nvPicPr>
        <p:blipFill rotWithShape="1">
          <a:blip r:embed="rId8">
            <a:alphaModFix/>
          </a:blip>
          <a:srcRect/>
          <a:stretch/>
        </p:blipFill>
        <p:spPr>
          <a:xfrm>
            <a:off x="1066800" y="2315765"/>
            <a:ext cx="428625" cy="428625"/>
          </a:xfrm>
          <a:prstGeom prst="rect">
            <a:avLst/>
          </a:prstGeom>
          <a:noFill/>
          <a:ln>
            <a:noFill/>
          </a:ln>
        </p:spPr>
      </p:pic>
      <p:sp>
        <p:nvSpPr>
          <p:cNvPr id="256" name="Google Shape;256;p20"/>
          <p:cNvSpPr txBox="1"/>
          <p:nvPr/>
        </p:nvSpPr>
        <p:spPr>
          <a:xfrm>
            <a:off x="1066800" y="2887265"/>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01. Stuck-open Void</a:t>
            </a:r>
            <a:endParaRPr/>
          </a:p>
        </p:txBody>
      </p:sp>
      <p:sp>
        <p:nvSpPr>
          <p:cNvPr id="257" name="Google Shape;257;p20"/>
          <p:cNvSpPr txBox="1"/>
          <p:nvPr/>
        </p:nvSpPr>
        <p:spPr>
          <a:xfrm>
            <a:off x="1066800" y="3220640"/>
            <a:ext cx="2806749" cy="1066353"/>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Qua nhiều chu kỳ giãn nở nhiệt cực hạn, các khoảng trống (void) cơ học hình thành tại điểm giao cắt giữa điện cực sưởi và vật liệu GST, khiến ô nhớ bị kẹt vĩnh viễn ở trạng thái cách điện không thể ghi lại.</a:t>
            </a:r>
            <a:endParaRPr/>
          </a:p>
        </p:txBody>
      </p:sp>
      <p:pic>
        <p:nvPicPr>
          <p:cNvPr id="258" name="Google Shape;258;p20" descr="image.png"/>
          <p:cNvPicPr preferRelativeResize="0"/>
          <p:nvPr/>
        </p:nvPicPr>
        <p:blipFill rotWithShape="1">
          <a:blip r:embed="rId9">
            <a:alphaModFix/>
          </a:blip>
          <a:srcRect/>
          <a:stretch/>
        </p:blipFill>
        <p:spPr>
          <a:xfrm>
            <a:off x="4692699" y="2315765"/>
            <a:ext cx="428625" cy="428625"/>
          </a:xfrm>
          <a:prstGeom prst="rect">
            <a:avLst/>
          </a:prstGeom>
          <a:noFill/>
          <a:ln>
            <a:noFill/>
          </a:ln>
        </p:spPr>
      </p:pic>
      <p:sp>
        <p:nvSpPr>
          <p:cNvPr id="259" name="Google Shape;259;p20"/>
          <p:cNvSpPr txBox="1"/>
          <p:nvPr/>
        </p:nvSpPr>
        <p:spPr>
          <a:xfrm>
            <a:off x="4692699" y="2887265"/>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02. Stuck-close Phase</a:t>
            </a:r>
            <a:endParaRPr/>
          </a:p>
        </p:txBody>
      </p:sp>
      <p:sp>
        <p:nvSpPr>
          <p:cNvPr id="260" name="Google Shape;260;p20"/>
          <p:cNvSpPr txBox="1"/>
          <p:nvPr/>
        </p:nvSpPr>
        <p:spPr>
          <a:xfrm>
            <a:off x="4692699" y="3220640"/>
            <a:ext cx="2806749" cy="1066353"/>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Sự khuếch tán không đồng đều của nguyên tử khiến nguyên tố Antimon (Sb) tụ tập nhiều bất thường sát điện cực. Hiện tượng này làm nhiệt độ kết tinh cục bộ sụt giảm mạnh, khóa chặt ô nhớ vào trạng thái dẫn điện.</a:t>
            </a:r>
            <a:endParaRPr/>
          </a:p>
        </p:txBody>
      </p:sp>
      <p:pic>
        <p:nvPicPr>
          <p:cNvPr id="261" name="Google Shape;261;p20" descr="image.png"/>
          <p:cNvPicPr preferRelativeResize="0"/>
          <p:nvPr/>
        </p:nvPicPr>
        <p:blipFill rotWithShape="1">
          <a:blip r:embed="rId10">
            <a:alphaModFix/>
          </a:blip>
          <a:srcRect/>
          <a:stretch/>
        </p:blipFill>
        <p:spPr>
          <a:xfrm>
            <a:off x="8318599" y="2315765"/>
            <a:ext cx="428625" cy="428625"/>
          </a:xfrm>
          <a:prstGeom prst="rect">
            <a:avLst/>
          </a:prstGeom>
          <a:noFill/>
          <a:ln>
            <a:noFill/>
          </a:ln>
        </p:spPr>
      </p:pic>
      <p:sp>
        <p:nvSpPr>
          <p:cNvPr id="262" name="Google Shape;262;p20"/>
          <p:cNvSpPr txBox="1"/>
          <p:nvPr/>
        </p:nvSpPr>
        <p:spPr>
          <a:xfrm>
            <a:off x="8318599" y="2887265"/>
            <a:ext cx="294708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03. Thermal Crosstalk</a:t>
            </a:r>
            <a:endParaRPr/>
          </a:p>
        </p:txBody>
      </p:sp>
      <p:sp>
        <p:nvSpPr>
          <p:cNvPr id="263" name="Google Shape;263;p20"/>
          <p:cNvSpPr txBox="1"/>
          <p:nvPr/>
        </p:nvSpPr>
        <p:spPr>
          <a:xfrm>
            <a:off x="8318599" y="3220640"/>
            <a:ext cx="2806749" cy="1066353"/>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Nhiệt độ sinh ra trong quá trình RESET (ghi 1) của một ô nhớ có xu hướng khuếch tán ngang qua silicon làm tăng nhiệt độ ô lân cận, vô tình kết tinh lại các ô kề bên ngoài ý muốn khi mật độ đạt ngưỡng siêu nhỏ.</a:t>
            </a:r>
            <a:endParaRPr/>
          </a:p>
        </p:txBody>
      </p:sp>
      <p:pic>
        <p:nvPicPr>
          <p:cNvPr id="264" name="Google Shape;264;p20" descr="image.png"/>
          <p:cNvPicPr preferRelativeResize="0"/>
          <p:nvPr/>
        </p:nvPicPr>
        <p:blipFill rotWithShape="1">
          <a:blip r:embed="rId11">
            <a:alphaModFix/>
          </a:blip>
          <a:srcRect/>
          <a:stretch/>
        </p:blipFill>
        <p:spPr>
          <a:xfrm>
            <a:off x="1195387" y="2444353"/>
            <a:ext cx="171450" cy="171450"/>
          </a:xfrm>
          <a:prstGeom prst="rect">
            <a:avLst/>
          </a:prstGeom>
          <a:noFill/>
          <a:ln>
            <a:noFill/>
          </a:ln>
        </p:spPr>
      </p:pic>
      <p:pic>
        <p:nvPicPr>
          <p:cNvPr id="265" name="Google Shape;265;p20" descr="image.png"/>
          <p:cNvPicPr preferRelativeResize="0"/>
          <p:nvPr/>
        </p:nvPicPr>
        <p:blipFill rotWithShape="1">
          <a:blip r:embed="rId12">
            <a:alphaModFix/>
          </a:blip>
          <a:srcRect/>
          <a:stretch/>
        </p:blipFill>
        <p:spPr>
          <a:xfrm>
            <a:off x="4821287" y="2444353"/>
            <a:ext cx="171450" cy="171450"/>
          </a:xfrm>
          <a:prstGeom prst="rect">
            <a:avLst/>
          </a:prstGeom>
          <a:noFill/>
          <a:ln>
            <a:noFill/>
          </a:ln>
        </p:spPr>
      </p:pic>
      <p:pic>
        <p:nvPicPr>
          <p:cNvPr id="266" name="Google Shape;266;p20" descr="image.png"/>
          <p:cNvPicPr preferRelativeResize="0"/>
          <p:nvPr/>
        </p:nvPicPr>
        <p:blipFill rotWithShape="1">
          <a:blip r:embed="rId13">
            <a:alphaModFix/>
          </a:blip>
          <a:srcRect/>
          <a:stretch/>
        </p:blipFill>
        <p:spPr>
          <a:xfrm>
            <a:off x="8456711" y="2444353"/>
            <a:ext cx="152400" cy="171450"/>
          </a:xfrm>
          <a:prstGeom prst="rect">
            <a:avLst/>
          </a:prstGeom>
          <a:noFill/>
          <a:ln>
            <a:noFill/>
          </a:ln>
        </p:spPr>
      </p:pic>
      <p:sp>
        <p:nvSpPr>
          <p:cNvPr id="267" name="Google Shape;267;p20"/>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Cơ chế suy giảm vật lý và lỗi trên ô nhớ PCM</a:t>
            </a:r>
            <a:endParaRPr/>
          </a:p>
        </p:txBody>
      </p:sp>
      <p:sp>
        <p:nvSpPr>
          <p:cNvPr id="268" name="Google Shape;268;p20"/>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pic>
        <p:nvPicPr>
          <p:cNvPr id="273" name="Google Shape;273;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4" name="Google Shape;274;p21" descr="image.png"/>
          <p:cNvPicPr preferRelativeResize="0"/>
          <p:nvPr/>
        </p:nvPicPr>
        <p:blipFill rotWithShape="1">
          <a:blip r:embed="rId4">
            <a:alphaModFix/>
          </a:blip>
          <a:srcRect/>
          <a:stretch/>
        </p:blipFill>
        <p:spPr>
          <a:xfrm>
            <a:off x="6381750" y="1975395"/>
            <a:ext cx="5038725" cy="3619500"/>
          </a:xfrm>
          <a:prstGeom prst="rect">
            <a:avLst/>
          </a:prstGeom>
          <a:noFill/>
          <a:ln>
            <a:noFill/>
          </a:ln>
        </p:spPr>
      </p:pic>
      <p:pic>
        <p:nvPicPr>
          <p:cNvPr id="275" name="Google Shape;275;p21" descr="image.png"/>
          <p:cNvPicPr preferRelativeResize="0"/>
          <p:nvPr/>
        </p:nvPicPr>
        <p:blipFill rotWithShape="1">
          <a:blip r:embed="rId5">
            <a:alphaModFix/>
          </a:blip>
          <a:srcRect/>
          <a:stretch/>
        </p:blipFill>
        <p:spPr>
          <a:xfrm>
            <a:off x="6581775" y="2678459"/>
            <a:ext cx="2247900" cy="2213371"/>
          </a:xfrm>
          <a:prstGeom prst="rect">
            <a:avLst/>
          </a:prstGeom>
          <a:noFill/>
          <a:ln>
            <a:noFill/>
          </a:ln>
        </p:spPr>
      </p:pic>
      <p:pic>
        <p:nvPicPr>
          <p:cNvPr id="276" name="Google Shape;276;p21" descr="image.png"/>
          <p:cNvPicPr preferRelativeResize="0"/>
          <p:nvPr/>
        </p:nvPicPr>
        <p:blipFill rotWithShape="1">
          <a:blip r:embed="rId6">
            <a:alphaModFix/>
          </a:blip>
          <a:srcRect/>
          <a:stretch/>
        </p:blipFill>
        <p:spPr>
          <a:xfrm>
            <a:off x="8972550" y="2678459"/>
            <a:ext cx="2247900" cy="2213371"/>
          </a:xfrm>
          <a:prstGeom prst="rect">
            <a:avLst/>
          </a:prstGeom>
          <a:noFill/>
          <a:ln>
            <a:noFill/>
          </a:ln>
        </p:spPr>
      </p:pic>
      <p:pic>
        <p:nvPicPr>
          <p:cNvPr id="277" name="Google Shape;277;p21" descr="image.png"/>
          <p:cNvPicPr preferRelativeResize="0"/>
          <p:nvPr/>
        </p:nvPicPr>
        <p:blipFill rotWithShape="1">
          <a:blip r:embed="rId7">
            <a:alphaModFix/>
          </a:blip>
          <a:srcRect/>
          <a:stretch/>
        </p:blipFill>
        <p:spPr>
          <a:xfrm>
            <a:off x="7658100" y="3373784"/>
            <a:ext cx="95250" cy="857250"/>
          </a:xfrm>
          <a:prstGeom prst="rect">
            <a:avLst/>
          </a:prstGeom>
          <a:noFill/>
          <a:ln>
            <a:noFill/>
          </a:ln>
        </p:spPr>
      </p:pic>
      <p:sp>
        <p:nvSpPr>
          <p:cNvPr id="278" name="Google Shape;278;p21"/>
          <p:cNvSpPr txBox="1"/>
          <p:nvPr/>
        </p:nvSpPr>
        <p:spPr>
          <a:xfrm>
            <a:off x="771525" y="2009626"/>
            <a:ext cx="50387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1" i="0" u="none" strike="noStrike" cap="none">
                <a:solidFill>
                  <a:srgbClr val="6366F1"/>
                </a:solidFill>
                <a:latin typeface="Plus Jakarta Sans"/>
                <a:ea typeface="Plus Jakarta Sans"/>
                <a:cs typeface="Plus Jakarta Sans"/>
                <a:sym typeface="Plus Jakarta Sans"/>
              </a:rPr>
              <a:t>CÔNG NGHỆ MEMRISTOR ĐỘT PHÁ</a:t>
            </a:r>
            <a:endParaRPr/>
          </a:p>
        </p:txBody>
      </p:sp>
      <p:sp>
        <p:nvSpPr>
          <p:cNvPr id="279" name="Google Shape;279;p21"/>
          <p:cNvSpPr txBox="1"/>
          <p:nvPr/>
        </p:nvSpPr>
        <p:spPr>
          <a:xfrm>
            <a:off x="771525" y="2255341"/>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Cấu trúc Metal-Insulator-Metal (MIM)</a:t>
            </a:r>
            <a:endParaRPr/>
          </a:p>
        </p:txBody>
      </p:sp>
      <p:sp>
        <p:nvSpPr>
          <p:cNvPr id="280" name="Google Shape;280;p21"/>
          <p:cNvSpPr txBox="1"/>
          <p:nvPr/>
        </p:nvSpPr>
        <p:spPr>
          <a:xfrm>
            <a:off x="771525" y="2588716"/>
            <a:ext cx="50387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Đơn giản hơn đáng kể so với cấu trúc phức tạp của PCM, ReRAM hoạt động bằng cách tạo lập hoặc phá hủy các sợi dẫn điện siêu nhỏ (Filament) thông qua lớp oxide điện môi trung gian.</a:t>
            </a:r>
            <a:endParaRPr/>
          </a:p>
        </p:txBody>
      </p:sp>
      <p:sp>
        <p:nvSpPr>
          <p:cNvPr id="281" name="Google Shape;281;p21"/>
          <p:cNvSpPr txBox="1"/>
          <p:nvPr/>
        </p:nvSpPr>
        <p:spPr>
          <a:xfrm>
            <a:off x="1000125" y="3388816"/>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Quá trình tạo sợi dẫn (SET - HRS sang LRS):</a:t>
            </a:r>
            <a:r>
              <a:rPr lang="en-US" sz="1125" b="0" i="0" u="none" strike="noStrike" cap="none">
                <a:solidFill>
                  <a:srgbClr val="475569"/>
                </a:solidFill>
                <a:latin typeface="Plus Jakarta Sans"/>
                <a:ea typeface="Plus Jakarta Sans"/>
                <a:cs typeface="Plus Jakarta Sans"/>
                <a:sym typeface="Plus Jakarta Sans"/>
              </a:rPr>
              <a:t> Áp điện tích phân cực thuận kích hoạt các vacancy oxy di chuyển tụ tập thành một cầu nối kim loại nối liền hai cực của ô nhớ (Trạng thái điện trở thấp LRS).</a:t>
            </a:r>
            <a:endParaRPr/>
          </a:p>
        </p:txBody>
      </p:sp>
      <p:sp>
        <p:nvSpPr>
          <p:cNvPr id="282" name="Google Shape;282;p21"/>
          <p:cNvSpPr txBox="1"/>
          <p:nvPr/>
        </p:nvSpPr>
        <p:spPr>
          <a:xfrm>
            <a:off x="1000125" y="4188916"/>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Quá trình phá hủy (RESET - LRS sang HRS):</a:t>
            </a:r>
            <a:r>
              <a:rPr lang="en-US" sz="1125" b="0" i="0" u="none" strike="noStrike" cap="none">
                <a:solidFill>
                  <a:srgbClr val="475569"/>
                </a:solidFill>
                <a:latin typeface="Plus Jakarta Sans"/>
                <a:ea typeface="Plus Jakarta Sans"/>
                <a:cs typeface="Plus Jakarta Sans"/>
                <a:sym typeface="Plus Jakarta Sans"/>
              </a:rPr>
              <a:t> Áp điện áp ngược kéo các vacancy oxy tản ra làm đứt gãy mạch liên kết (Trạng thái điện trở cao HRS).</a:t>
            </a:r>
            <a:endParaRPr/>
          </a:p>
        </p:txBody>
      </p:sp>
      <p:sp>
        <p:nvSpPr>
          <p:cNvPr id="283" name="Google Shape;283;p21"/>
          <p:cNvSpPr txBox="1"/>
          <p:nvPr/>
        </p:nvSpPr>
        <p:spPr>
          <a:xfrm>
            <a:off x="1000125" y="4989016"/>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Vật liệu Oxide điển hình:</a:t>
            </a:r>
            <a:r>
              <a:rPr lang="en-US" sz="1125" b="0" i="0" u="none" strike="noStrike" cap="none">
                <a:solidFill>
                  <a:srgbClr val="475569"/>
                </a:solidFill>
                <a:latin typeface="Plus Jakarta Sans"/>
                <a:ea typeface="Plus Jakarta Sans"/>
                <a:cs typeface="Plus Jakarta Sans"/>
                <a:sym typeface="Plus Jakarta Sans"/>
              </a:rPr>
              <a:t> NiO, HfO₂, ZrO₂, TiO₂ tích hợp cực tốt trên nền CMOS tiêu chuẩn.</a:t>
            </a:r>
            <a:endParaRPr/>
          </a:p>
        </p:txBody>
      </p:sp>
      <p:sp>
        <p:nvSpPr>
          <p:cNvPr id="284" name="Google Shape;284;p21"/>
          <p:cNvSpPr txBox="1"/>
          <p:nvPr/>
        </p:nvSpPr>
        <p:spPr>
          <a:xfrm>
            <a:off x="771525" y="338881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85" name="Google Shape;285;p21"/>
          <p:cNvSpPr txBox="1"/>
          <p:nvPr/>
        </p:nvSpPr>
        <p:spPr>
          <a:xfrm>
            <a:off x="771525" y="418891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86" name="Google Shape;286;p21"/>
          <p:cNvSpPr txBox="1"/>
          <p:nvPr/>
        </p:nvSpPr>
        <p:spPr>
          <a:xfrm>
            <a:off x="771525" y="498901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287" name="Google Shape;287;p21"/>
          <p:cNvSpPr txBox="1"/>
          <p:nvPr/>
        </p:nvSpPr>
        <p:spPr>
          <a:xfrm>
            <a:off x="6781800" y="2878484"/>
            <a:ext cx="18478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475569"/>
                </a:solidFill>
                <a:latin typeface="Plus Jakarta Sans"/>
                <a:ea typeface="Plus Jakarta Sans"/>
                <a:cs typeface="Plus Jakarta Sans"/>
                <a:sym typeface="Plus Jakarta Sans"/>
              </a:rPr>
              <a:t>HRS (High Resistance State)</a:t>
            </a:r>
            <a:endParaRPr/>
          </a:p>
        </p:txBody>
      </p:sp>
      <p:sp>
        <p:nvSpPr>
          <p:cNvPr id="288" name="Google Shape;288;p21"/>
          <p:cNvSpPr txBox="1"/>
          <p:nvPr/>
        </p:nvSpPr>
        <p:spPr>
          <a:xfrm>
            <a:off x="6781800" y="4326284"/>
            <a:ext cx="1847850"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64748B"/>
                </a:solidFill>
                <a:latin typeface="Plus Jakarta Sans"/>
                <a:ea typeface="Plus Jakarta Sans"/>
                <a:cs typeface="Plus Jakarta Sans"/>
                <a:sym typeface="Plus Jakarta Sans"/>
              </a:rPr>
              <a:t>Lớp Oxide nguyên vẹn, sợi dẫn bị đứt quãng</a:t>
            </a:r>
            <a:endParaRPr/>
          </a:p>
        </p:txBody>
      </p:sp>
      <p:sp>
        <p:nvSpPr>
          <p:cNvPr id="289" name="Google Shape;289;p21"/>
          <p:cNvSpPr txBox="1"/>
          <p:nvPr/>
        </p:nvSpPr>
        <p:spPr>
          <a:xfrm>
            <a:off x="9172575" y="2878484"/>
            <a:ext cx="18478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6366F1"/>
                </a:solidFill>
                <a:latin typeface="Plus Jakarta Sans"/>
                <a:ea typeface="Plus Jakarta Sans"/>
                <a:cs typeface="Plus Jakarta Sans"/>
                <a:sym typeface="Plus Jakarta Sans"/>
              </a:rPr>
              <a:t>LRS (Low Resistance State)</a:t>
            </a:r>
            <a:endParaRPr/>
          </a:p>
        </p:txBody>
      </p:sp>
      <p:sp>
        <p:nvSpPr>
          <p:cNvPr id="290" name="Google Shape;290;p21"/>
          <p:cNvSpPr/>
          <p:nvPr/>
        </p:nvSpPr>
        <p:spPr>
          <a:xfrm>
            <a:off x="10048875" y="3373784"/>
            <a:ext cx="95250" cy="857250"/>
          </a:xfrm>
          <a:prstGeom prst="roundRect">
            <a:avLst>
              <a:gd name="adj" fmla="val 20000"/>
            </a:avLst>
          </a:prstGeom>
          <a:solidFill>
            <a:srgbClr val="6366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1"/>
          <p:cNvSpPr txBox="1"/>
          <p:nvPr/>
        </p:nvSpPr>
        <p:spPr>
          <a:xfrm>
            <a:off x="9172575" y="4326284"/>
            <a:ext cx="1847850"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6366F1"/>
                </a:solidFill>
                <a:latin typeface="Plus Jakarta Sans SemiBold"/>
                <a:ea typeface="Plus Jakarta Sans SemiBold"/>
                <a:cs typeface="Plus Jakarta Sans SemiBold"/>
                <a:sym typeface="Plus Jakarta Sans SemiBold"/>
              </a:rPr>
              <a:t>Sợi vacancy kết nối hai điện cực hoàn hảo</a:t>
            </a:r>
            <a:endParaRPr/>
          </a:p>
        </p:txBody>
      </p:sp>
      <p:sp>
        <p:nvSpPr>
          <p:cNvPr id="292" name="Google Shape;292;p21"/>
          <p:cNvSpPr/>
          <p:nvPr/>
        </p:nvSpPr>
        <p:spPr>
          <a:xfrm>
            <a:off x="7658100" y="3659534"/>
            <a:ext cx="95250" cy="285750"/>
          </a:xfrm>
          <a:prstGeom prst="roundRect">
            <a:avLst>
              <a:gd name="adj" fmla="val 20000"/>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1"/>
          <p:cNvSpPr txBox="1"/>
          <p:nvPr/>
        </p:nvSpPr>
        <p:spPr>
          <a:xfrm>
            <a:off x="771525" y="485775"/>
            <a:ext cx="11181397"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dirty="0">
                <a:solidFill>
                  <a:srgbClr val="0F172A"/>
                </a:solidFill>
                <a:latin typeface="Playfair Display SemiBold"/>
                <a:ea typeface="Playfair Display SemiBold"/>
                <a:cs typeface="Playfair Display SemiBold"/>
                <a:sym typeface="Playfair Display SemiBold"/>
              </a:rPr>
              <a:t>Resistive RAM (ReRAM):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Cấu</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trúc</a:t>
            </a:r>
            <a:r>
              <a:rPr lang="en-US" sz="2550" b="0" i="0" u="none" strike="noStrike" cap="none" dirty="0">
                <a:solidFill>
                  <a:srgbClr val="0F172A"/>
                </a:solidFill>
                <a:latin typeface="Playfair Display SemiBold"/>
                <a:ea typeface="Playfair Display SemiBold"/>
                <a:cs typeface="Playfair Display SemiBold"/>
                <a:sym typeface="Playfair Display SemiBold"/>
              </a:rPr>
              <a:t> &amp;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Cơ</a:t>
            </a:r>
            <a:r>
              <a:rPr lang="en-US" sz="2550" b="0" i="0" u="none" strike="noStrike" cap="none" dirty="0">
                <a:solidFill>
                  <a:srgbClr val="0F172A"/>
                </a:solidFill>
                <a:latin typeface="Playfair Display SemiBold"/>
                <a:ea typeface="Playfair Display SemiBold"/>
                <a:cs typeface="Playfair Display SemiBold"/>
                <a:sym typeface="Playfair Display SemiBold"/>
              </a:rPr>
              <a:t> </a:t>
            </a:r>
            <a:r>
              <a:rPr lang="en-US" sz="2550" b="0" i="0" u="none" strike="noStrike" cap="none" dirty="0" err="1">
                <a:solidFill>
                  <a:srgbClr val="0F172A"/>
                </a:solidFill>
                <a:latin typeface="Playfair Display SemiBold"/>
                <a:ea typeface="Playfair Display SemiBold"/>
                <a:cs typeface="Playfair Display SemiBold"/>
                <a:sym typeface="Playfair Display SemiBold"/>
              </a:rPr>
              <a:t>chế</a:t>
            </a:r>
            <a:r>
              <a:rPr lang="en-US" sz="2550" b="0" i="0" u="none" strike="noStrike" cap="none" dirty="0">
                <a:solidFill>
                  <a:srgbClr val="0F172A"/>
                </a:solidFill>
                <a:latin typeface="Playfair Display SemiBold"/>
                <a:ea typeface="Playfair Display SemiBold"/>
                <a:cs typeface="Playfair Display SemiBold"/>
                <a:sym typeface="Playfair Display SemiBold"/>
              </a:rPr>
              <a:t> Filament</a:t>
            </a:r>
            <a:endParaRPr dirty="0"/>
          </a:p>
        </p:txBody>
      </p:sp>
      <p:sp>
        <p:nvSpPr>
          <p:cNvPr id="294" name="Google Shape;294;p21"/>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8"/>
        <p:cNvGrpSpPr/>
        <p:nvPr/>
      </p:nvGrpSpPr>
      <p:grpSpPr>
        <a:xfrm>
          <a:off x="0" y="0"/>
          <a:ext cx="0" cy="0"/>
          <a:chOff x="0" y="0"/>
          <a:chExt cx="0" cy="0"/>
        </a:xfrm>
      </p:grpSpPr>
      <p:pic>
        <p:nvPicPr>
          <p:cNvPr id="299" name="Google Shape;29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0" name="Google Shape;300;p22" descr="image.png"/>
          <p:cNvPicPr preferRelativeResize="0"/>
          <p:nvPr/>
        </p:nvPicPr>
        <p:blipFill rotWithShape="1">
          <a:blip r:embed="rId4">
            <a:alphaModFix/>
          </a:blip>
          <a:srcRect/>
          <a:stretch/>
        </p:blipFill>
        <p:spPr>
          <a:xfrm>
            <a:off x="6381750" y="1975395"/>
            <a:ext cx="5038725" cy="3619500"/>
          </a:xfrm>
          <a:prstGeom prst="rect">
            <a:avLst/>
          </a:prstGeom>
          <a:noFill/>
          <a:ln>
            <a:noFill/>
          </a:ln>
        </p:spPr>
      </p:pic>
      <p:pic>
        <p:nvPicPr>
          <p:cNvPr id="301" name="Google Shape;301;p22" descr="image.png"/>
          <p:cNvPicPr preferRelativeResize="0"/>
          <p:nvPr/>
        </p:nvPicPr>
        <p:blipFill rotWithShape="1">
          <a:blip r:embed="rId5">
            <a:alphaModFix/>
          </a:blip>
          <a:srcRect/>
          <a:stretch/>
        </p:blipFill>
        <p:spPr>
          <a:xfrm>
            <a:off x="6581775" y="2949922"/>
            <a:ext cx="4638675" cy="1162050"/>
          </a:xfrm>
          <a:prstGeom prst="rect">
            <a:avLst/>
          </a:prstGeom>
          <a:noFill/>
          <a:ln>
            <a:noFill/>
          </a:ln>
        </p:spPr>
      </p:pic>
      <p:pic>
        <p:nvPicPr>
          <p:cNvPr id="302" name="Google Shape;302;p22" descr="image.png"/>
          <p:cNvPicPr preferRelativeResize="0"/>
          <p:nvPr/>
        </p:nvPicPr>
        <p:blipFill rotWithShape="1">
          <a:blip r:embed="rId6">
            <a:alphaModFix/>
          </a:blip>
          <a:srcRect/>
          <a:stretch/>
        </p:blipFill>
        <p:spPr>
          <a:xfrm>
            <a:off x="6734175" y="3369022"/>
            <a:ext cx="2119312" cy="590550"/>
          </a:xfrm>
          <a:prstGeom prst="rect">
            <a:avLst/>
          </a:prstGeom>
          <a:noFill/>
          <a:ln>
            <a:noFill/>
          </a:ln>
        </p:spPr>
      </p:pic>
      <p:pic>
        <p:nvPicPr>
          <p:cNvPr id="303" name="Google Shape;303;p22" descr="image.png"/>
          <p:cNvPicPr preferRelativeResize="0"/>
          <p:nvPr/>
        </p:nvPicPr>
        <p:blipFill rotWithShape="1">
          <a:blip r:embed="rId6">
            <a:alphaModFix/>
          </a:blip>
          <a:srcRect/>
          <a:stretch/>
        </p:blipFill>
        <p:spPr>
          <a:xfrm>
            <a:off x="8948737" y="3369022"/>
            <a:ext cx="2119312" cy="590550"/>
          </a:xfrm>
          <a:prstGeom prst="rect">
            <a:avLst/>
          </a:prstGeom>
          <a:noFill/>
          <a:ln>
            <a:noFill/>
          </a:ln>
        </p:spPr>
      </p:pic>
      <p:sp>
        <p:nvSpPr>
          <p:cNvPr id="304" name="Google Shape;304;p22"/>
          <p:cNvSpPr txBox="1"/>
          <p:nvPr/>
        </p:nvSpPr>
        <p:spPr>
          <a:xfrm>
            <a:off x="771525" y="2346870"/>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Cấu trúc Crossbar thuần (Mật độ tối đa 4F²)</a:t>
            </a:r>
            <a:endParaRPr/>
          </a:p>
        </p:txBody>
      </p:sp>
      <p:sp>
        <p:nvSpPr>
          <p:cNvPr id="305" name="Google Shape;305;p22"/>
          <p:cNvSpPr txBox="1"/>
          <p:nvPr/>
        </p:nvSpPr>
        <p:spPr>
          <a:xfrm>
            <a:off x="771525" y="2680245"/>
            <a:ext cx="50387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Bố trí các ô ReRAM tại giao điểm của các hàng và cột vuông góc tạo nên mật độ nén dữ liệu vật lý hoàn hảo nhất.</a:t>
            </a:r>
            <a:endParaRPr/>
          </a:p>
        </p:txBody>
      </p:sp>
      <p:sp>
        <p:nvSpPr>
          <p:cNvPr id="306" name="Google Shape;306;p22"/>
          <p:cNvSpPr txBox="1"/>
          <p:nvPr/>
        </p:nvSpPr>
        <p:spPr>
          <a:xfrm>
            <a:off x="1000125" y="3251745"/>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Vấn đề dòng ký sinh (Sneak-path):</a:t>
            </a:r>
            <a:r>
              <a:rPr lang="en-US" sz="1125" b="0" i="0" u="none" strike="noStrike" cap="none">
                <a:solidFill>
                  <a:srgbClr val="475569"/>
                </a:solidFill>
                <a:latin typeface="Plus Jakarta Sans"/>
                <a:ea typeface="Plus Jakarta Sans"/>
                <a:cs typeface="Plus Jakarta Sans"/>
                <a:sym typeface="Plus Jakarta Sans"/>
              </a:rPr>
              <a:t> Khi thực hiện đọc một ô nhớ mục tiêu, dòng điện có xu hướng chạy rò rỉ qua các ô kề cận có điện trở thấp kế bên, làm sai lệch kết quả đo lường.</a:t>
            </a:r>
            <a:endParaRPr/>
          </a:p>
        </p:txBody>
      </p:sp>
      <p:sp>
        <p:nvSpPr>
          <p:cNvPr id="307" name="Google Shape;307;p22"/>
          <p:cNvSpPr txBox="1"/>
          <p:nvPr/>
        </p:nvSpPr>
        <p:spPr>
          <a:xfrm>
            <a:off x="1000125" y="4051845"/>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Giải pháp 1T1R (Một Transistor - Một Điện Trở):</a:t>
            </a:r>
            <a:r>
              <a:rPr lang="en-US" sz="1125" b="0" i="0" u="none" strike="noStrike" cap="none">
                <a:solidFill>
                  <a:srgbClr val="475569"/>
                </a:solidFill>
                <a:latin typeface="Plus Jakarta Sans"/>
                <a:ea typeface="Plus Jakarta Sans"/>
                <a:cs typeface="Plus Jakarta Sans"/>
                <a:sym typeface="Plus Jakarta Sans"/>
              </a:rPr>
              <a:t> Tích hợp thêm một transistor nhỏ chặn đứng các lối đi vòng của dòng điện phụ.</a:t>
            </a:r>
            <a:endParaRPr/>
          </a:p>
        </p:txBody>
      </p:sp>
      <p:sp>
        <p:nvSpPr>
          <p:cNvPr id="308" name="Google Shape;308;p22"/>
          <p:cNvSpPr txBox="1"/>
          <p:nvPr/>
        </p:nvSpPr>
        <p:spPr>
          <a:xfrm>
            <a:off x="1000125" y="4623345"/>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Đánh đổi kỹ thuật:</a:t>
            </a:r>
            <a:r>
              <a:rPr lang="en-US" sz="1125" b="0" i="0" u="none" strike="noStrike" cap="none">
                <a:solidFill>
                  <a:srgbClr val="475569"/>
                </a:solidFill>
                <a:latin typeface="Plus Jakarta Sans"/>
                <a:ea typeface="Plus Jakarta Sans"/>
                <a:cs typeface="Plus Jakarta Sans"/>
                <a:sym typeface="Plus Jakarta Sans"/>
              </a:rPr>
              <a:t> Ngăn chặn hoàn hảo sneak-path nhưng diện tích mỗi ô tăng lên, làm giảm mật độ lưu trữ tổng thể của tấm silicon.</a:t>
            </a:r>
            <a:endParaRPr/>
          </a:p>
        </p:txBody>
      </p:sp>
      <p:sp>
        <p:nvSpPr>
          <p:cNvPr id="309" name="Google Shape;309;p22"/>
          <p:cNvSpPr txBox="1"/>
          <p:nvPr/>
        </p:nvSpPr>
        <p:spPr>
          <a:xfrm>
            <a:off x="6581775" y="4254847"/>
            <a:ext cx="4638675"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64748B"/>
                </a:solidFill>
                <a:latin typeface="Plus Jakarta Sans"/>
                <a:ea typeface="Plus Jakarta Sans"/>
                <a:cs typeface="Plus Jakarta Sans"/>
                <a:sym typeface="Plus Jakarta Sans"/>
              </a:rPr>
              <a:t>Dữ liệu độ bền ReRAM vượt trội hơn rõ rệt so với công nghệ lưu trữ Flash NAND truyền thống, tiệm cận các thông số tiêu chuẩn của bộ nhớ hệ thống.</a:t>
            </a:r>
            <a:endParaRPr/>
          </a:p>
        </p:txBody>
      </p:sp>
      <p:sp>
        <p:nvSpPr>
          <p:cNvPr id="310" name="Google Shape;310;p22"/>
          <p:cNvSpPr txBox="1"/>
          <p:nvPr/>
        </p:nvSpPr>
        <p:spPr>
          <a:xfrm>
            <a:off x="771525" y="32517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11" name="Google Shape;311;p22"/>
          <p:cNvSpPr txBox="1"/>
          <p:nvPr/>
        </p:nvSpPr>
        <p:spPr>
          <a:xfrm>
            <a:off x="771525" y="40518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12" name="Google Shape;312;p22"/>
          <p:cNvSpPr txBox="1"/>
          <p:nvPr/>
        </p:nvSpPr>
        <p:spPr>
          <a:xfrm>
            <a:off x="771525" y="46233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13" name="Google Shape;313;p22"/>
          <p:cNvSpPr txBox="1"/>
          <p:nvPr/>
        </p:nvSpPr>
        <p:spPr>
          <a:xfrm>
            <a:off x="6734175" y="3102322"/>
            <a:ext cx="43338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F172A"/>
                </a:solidFill>
                <a:latin typeface="Plus Jakarta Sans"/>
                <a:ea typeface="Plus Jakarta Sans"/>
                <a:cs typeface="Plus Jakarta Sans"/>
                <a:sym typeface="Plus Jakarta Sans"/>
              </a:rPr>
              <a:t>BÁO CÁO ĐỘ TIN CẬY RERAM</a:t>
            </a:r>
            <a:endParaRPr/>
          </a:p>
        </p:txBody>
      </p:sp>
      <p:sp>
        <p:nvSpPr>
          <p:cNvPr id="314" name="Google Shape;314;p22"/>
          <p:cNvSpPr txBox="1"/>
          <p:nvPr/>
        </p:nvSpPr>
        <p:spPr>
          <a:xfrm>
            <a:off x="6838950" y="3473797"/>
            <a:ext cx="1909762"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a:solidFill>
                  <a:srgbClr val="10B981"/>
                </a:solidFill>
                <a:latin typeface="Plus Jakarta Sans"/>
                <a:ea typeface="Plus Jakarta Sans"/>
                <a:cs typeface="Plus Jakarta Sans"/>
                <a:sym typeface="Plus Jakarta Sans"/>
              </a:rPr>
              <a:t>&gt; 10 Năm</a:t>
            </a:r>
            <a:endParaRPr/>
          </a:p>
        </p:txBody>
      </p:sp>
      <p:sp>
        <p:nvSpPr>
          <p:cNvPr id="315" name="Google Shape;315;p22"/>
          <p:cNvSpPr txBox="1"/>
          <p:nvPr/>
        </p:nvSpPr>
        <p:spPr>
          <a:xfrm>
            <a:off x="6838950" y="3692872"/>
            <a:ext cx="1909762" cy="123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25" b="0" i="0" u="none" strike="noStrike" cap="none">
                <a:solidFill>
                  <a:srgbClr val="64748B"/>
                </a:solidFill>
                <a:latin typeface="Plus Jakarta Sans"/>
                <a:ea typeface="Plus Jakarta Sans"/>
                <a:cs typeface="Plus Jakarta Sans"/>
                <a:sym typeface="Plus Jakarta Sans"/>
              </a:rPr>
              <a:t>Thời gian lưu trữ (Retention)</a:t>
            </a:r>
            <a:endParaRPr/>
          </a:p>
        </p:txBody>
      </p:sp>
      <p:sp>
        <p:nvSpPr>
          <p:cNvPr id="316" name="Google Shape;316;p22"/>
          <p:cNvSpPr txBox="1"/>
          <p:nvPr/>
        </p:nvSpPr>
        <p:spPr>
          <a:xfrm>
            <a:off x="9053512" y="3473797"/>
            <a:ext cx="190976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a:solidFill>
                  <a:srgbClr val="6366F1"/>
                </a:solidFill>
                <a:latin typeface="Plus Jakarta Sans"/>
                <a:ea typeface="Plus Jakarta Sans"/>
                <a:cs typeface="Plus Jakarta Sans"/>
                <a:sym typeface="Plus Jakarta Sans"/>
              </a:rPr>
              <a:t>&gt; 106 Chu kỳ</a:t>
            </a:r>
            <a:endParaRPr/>
          </a:p>
        </p:txBody>
      </p:sp>
      <p:sp>
        <p:nvSpPr>
          <p:cNvPr id="317" name="Google Shape;317;p22"/>
          <p:cNvSpPr txBox="1"/>
          <p:nvPr/>
        </p:nvSpPr>
        <p:spPr>
          <a:xfrm>
            <a:off x="9053512" y="3730972"/>
            <a:ext cx="1909762" cy="123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25" b="0" i="0" u="none" strike="noStrike" cap="none">
                <a:solidFill>
                  <a:srgbClr val="64748B"/>
                </a:solidFill>
                <a:latin typeface="Plus Jakarta Sans"/>
                <a:ea typeface="Plus Jakarta Sans"/>
                <a:cs typeface="Plus Jakarta Sans"/>
                <a:sym typeface="Plus Jakarta Sans"/>
              </a:rPr>
              <a:t>Độ bền ghi (Endurance)</a:t>
            </a:r>
            <a:endParaRPr/>
          </a:p>
        </p:txBody>
      </p:sp>
      <p:sp>
        <p:nvSpPr>
          <p:cNvPr id="318" name="Google Shape;318;p22"/>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Mảng Crossbar ReRAM và Hiểm Họa Dòng Ký Sinh (Sneak-path)</a:t>
            </a:r>
            <a:endParaRPr/>
          </a:p>
        </p:txBody>
      </p:sp>
      <p:sp>
        <p:nvSpPr>
          <p:cNvPr id="319" name="Google Shape;319;p22"/>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3"/>
        <p:cNvGrpSpPr/>
        <p:nvPr/>
      </p:nvGrpSpPr>
      <p:grpSpPr>
        <a:xfrm>
          <a:off x="0" y="0"/>
          <a:ext cx="0" cy="0"/>
          <a:chOff x="0" y="0"/>
          <a:chExt cx="0" cy="0"/>
        </a:xfrm>
      </p:grpSpPr>
      <p:pic>
        <p:nvPicPr>
          <p:cNvPr id="324" name="Google Shape;32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5" name="Google Shape;325;p23" descr="image.png"/>
          <p:cNvPicPr preferRelativeResize="0"/>
          <p:nvPr/>
        </p:nvPicPr>
        <p:blipFill rotWithShape="1">
          <a:blip r:embed="rId4">
            <a:alphaModFix/>
          </a:blip>
          <a:srcRect/>
          <a:stretch/>
        </p:blipFill>
        <p:spPr>
          <a:xfrm>
            <a:off x="771525" y="3222575"/>
            <a:ext cx="5038725" cy="544115"/>
          </a:xfrm>
          <a:prstGeom prst="rect">
            <a:avLst/>
          </a:prstGeom>
          <a:noFill/>
          <a:ln>
            <a:noFill/>
          </a:ln>
        </p:spPr>
      </p:pic>
      <p:pic>
        <p:nvPicPr>
          <p:cNvPr id="326" name="Google Shape;326;p23" descr="image.png"/>
          <p:cNvPicPr preferRelativeResize="0"/>
          <p:nvPr/>
        </p:nvPicPr>
        <p:blipFill rotWithShape="1">
          <a:blip r:embed="rId5">
            <a:alphaModFix/>
          </a:blip>
          <a:srcRect/>
          <a:stretch/>
        </p:blipFill>
        <p:spPr>
          <a:xfrm>
            <a:off x="6381750" y="1975395"/>
            <a:ext cx="5038725" cy="3619500"/>
          </a:xfrm>
          <a:prstGeom prst="rect">
            <a:avLst/>
          </a:prstGeom>
          <a:noFill/>
          <a:ln>
            <a:noFill/>
          </a:ln>
        </p:spPr>
      </p:pic>
      <p:pic>
        <p:nvPicPr>
          <p:cNvPr id="327" name="Google Shape;327;p23" descr="image.png"/>
          <p:cNvPicPr preferRelativeResize="0"/>
          <p:nvPr/>
        </p:nvPicPr>
        <p:blipFill rotWithShape="1">
          <a:blip r:embed="rId6">
            <a:alphaModFix/>
          </a:blip>
          <a:srcRect/>
          <a:stretch/>
        </p:blipFill>
        <p:spPr>
          <a:xfrm>
            <a:off x="6677025" y="2974776"/>
            <a:ext cx="4448175" cy="1359991"/>
          </a:xfrm>
          <a:prstGeom prst="rect">
            <a:avLst/>
          </a:prstGeom>
          <a:noFill/>
          <a:ln>
            <a:noFill/>
          </a:ln>
        </p:spPr>
      </p:pic>
      <p:sp>
        <p:nvSpPr>
          <p:cNvPr id="328" name="Google Shape;328;p23"/>
          <p:cNvSpPr txBox="1"/>
          <p:nvPr/>
        </p:nvSpPr>
        <p:spPr>
          <a:xfrm>
            <a:off x="771525" y="2060525"/>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Xóa bỏ ranh giới giữa Lưu Trữ và Tính Toán</a:t>
            </a:r>
            <a:endParaRPr/>
          </a:p>
        </p:txBody>
      </p:sp>
      <p:sp>
        <p:nvSpPr>
          <p:cNvPr id="329" name="Google Shape;329;p23"/>
          <p:cNvSpPr txBox="1"/>
          <p:nvPr/>
        </p:nvSpPr>
        <p:spPr>
          <a:xfrm>
            <a:off x="771525" y="2393900"/>
            <a:ext cx="50387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Bằng cách sử dụng mảng Crossbar như một ma trận dẫn nạp tĩnh </a:t>
            </a:r>
            <a:r>
              <a:rPr lang="en-US" sz="1125" b="1" i="0" u="none" strike="noStrike" cap="none">
                <a:solidFill>
                  <a:srgbClr val="475569"/>
                </a:solidFill>
                <a:latin typeface="Plus Jakarta Sans"/>
                <a:ea typeface="Plus Jakarta Sans"/>
                <a:cs typeface="Plus Jakarta Sans"/>
                <a:sym typeface="Plus Jakarta Sans"/>
              </a:rPr>
              <a:t>G (Conductance)</a:t>
            </a:r>
            <a:r>
              <a:rPr lang="en-US" sz="1125" b="0" i="0" u="none" strike="noStrike" cap="none">
                <a:solidFill>
                  <a:srgbClr val="475569"/>
                </a:solidFill>
                <a:latin typeface="Plus Jakarta Sans"/>
                <a:ea typeface="Plus Jakarta Sans"/>
                <a:cs typeface="Plus Jakarta Sans"/>
                <a:sym typeface="Plus Jakarta Sans"/>
              </a:rPr>
              <a:t>, các phép toán nhân-tích-lũy phức tạp trong AI được giải quyết tức thời trong môi trường phần cứng vật lý.</a:t>
            </a:r>
            <a:endParaRPr/>
          </a:p>
        </p:txBody>
      </p:sp>
      <p:pic>
        <p:nvPicPr>
          <p:cNvPr id="330" name="Google Shape;330;p23" descr="image.png"/>
          <p:cNvPicPr preferRelativeResize="0"/>
          <p:nvPr/>
        </p:nvPicPr>
        <p:blipFill rotWithShape="1">
          <a:blip r:embed="rId7">
            <a:alphaModFix/>
          </a:blip>
          <a:srcRect/>
          <a:stretch/>
        </p:blipFill>
        <p:spPr>
          <a:xfrm>
            <a:off x="2785169" y="3374975"/>
            <a:ext cx="1011287" cy="239315"/>
          </a:xfrm>
          <a:prstGeom prst="rect">
            <a:avLst/>
          </a:prstGeom>
          <a:noFill/>
          <a:ln>
            <a:noFill/>
          </a:ln>
        </p:spPr>
      </p:pic>
      <p:sp>
        <p:nvSpPr>
          <p:cNvPr id="331" name="Google Shape;331;p23"/>
          <p:cNvSpPr txBox="1"/>
          <p:nvPr/>
        </p:nvSpPr>
        <p:spPr>
          <a:xfrm>
            <a:off x="1000125" y="3909566"/>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Định luật Ohm &amp; Kirchhoff:</a:t>
            </a:r>
            <a:r>
              <a:rPr lang="en-US" sz="1125" b="0" i="0" u="none" strike="noStrike" cap="none">
                <a:solidFill>
                  <a:srgbClr val="475569"/>
                </a:solidFill>
                <a:latin typeface="Plus Jakarta Sans"/>
                <a:ea typeface="Plus Jakarta Sans"/>
                <a:cs typeface="Plus Jakarta Sans"/>
                <a:sym typeface="Plus Jakarta Sans"/>
              </a:rPr>
              <a:t> Điện áp đầu vào </a:t>
            </a:r>
            <a:r>
              <a:rPr lang="en-US" sz="1125" b="1" i="0" u="none" strike="noStrike" cap="none">
                <a:solidFill>
                  <a:srgbClr val="475569"/>
                </a:solidFill>
                <a:latin typeface="Plus Jakarta Sans"/>
                <a:ea typeface="Plus Jakarta Sans"/>
                <a:cs typeface="Plus Jakarta Sans"/>
                <a:sym typeface="Plus Jakarta Sans"/>
              </a:rPr>
              <a:t>V_i</a:t>
            </a:r>
            <a:r>
              <a:rPr lang="en-US" sz="1125" b="0" i="0" u="none" strike="noStrike" cap="none">
                <a:solidFill>
                  <a:srgbClr val="475569"/>
                </a:solidFill>
                <a:latin typeface="Plus Jakarta Sans"/>
                <a:ea typeface="Plus Jakarta Sans"/>
                <a:cs typeface="Plus Jakarta Sans"/>
                <a:sym typeface="Plus Jakarta Sans"/>
              </a:rPr>
              <a:t> áp vào hàng dọc, dòng điện đầu ra </a:t>
            </a:r>
            <a:r>
              <a:rPr lang="en-US" sz="1125" b="1" i="0" u="none" strike="noStrike" cap="none">
                <a:solidFill>
                  <a:srgbClr val="475569"/>
                </a:solidFill>
                <a:latin typeface="Plus Jakarta Sans"/>
                <a:ea typeface="Plus Jakarta Sans"/>
                <a:cs typeface="Plus Jakarta Sans"/>
                <a:sym typeface="Plus Jakarta Sans"/>
              </a:rPr>
              <a:t>I_j</a:t>
            </a:r>
            <a:r>
              <a:rPr lang="en-US" sz="1125" b="0" i="0" u="none" strike="noStrike" cap="none">
                <a:solidFill>
                  <a:srgbClr val="475569"/>
                </a:solidFill>
                <a:latin typeface="Plus Jakarta Sans"/>
                <a:ea typeface="Plus Jakarta Sans"/>
                <a:cs typeface="Plus Jakarta Sans"/>
                <a:sym typeface="Plus Jakarta Sans"/>
              </a:rPr>
              <a:t> thu được tại chân các cột chính là kết quả phép tính ma trận trực tiếp.</a:t>
            </a:r>
            <a:endParaRPr/>
          </a:p>
        </p:txBody>
      </p:sp>
      <p:sp>
        <p:nvSpPr>
          <p:cNvPr id="332" name="Google Shape;332;p23"/>
          <p:cNvSpPr txBox="1"/>
          <p:nvPr/>
        </p:nvSpPr>
        <p:spPr>
          <a:xfrm>
            <a:off x="1000125" y="4709666"/>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Bẻ gãy rào cản "Memory Wall":</a:t>
            </a:r>
            <a:r>
              <a:rPr lang="en-US" sz="1125" b="0" i="0" u="none" strike="noStrike" cap="none">
                <a:solidFill>
                  <a:srgbClr val="475569"/>
                </a:solidFill>
                <a:latin typeface="Plus Jakarta Sans"/>
                <a:ea typeface="Plus Jakarta Sans"/>
                <a:cs typeface="Plus Jakarta Sans"/>
                <a:sym typeface="Plus Jakarta Sans"/>
              </a:rPr>
              <a:t> Phép toán diễn ra đồng thời trong 1 bước duy nhất, không cần di chuyển dữ liệu liên tục từ Memory sang CPU/GPU.</a:t>
            </a:r>
            <a:endParaRPr/>
          </a:p>
        </p:txBody>
      </p:sp>
      <p:sp>
        <p:nvSpPr>
          <p:cNvPr id="333" name="Google Shape;333;p23"/>
          <p:cNvSpPr txBox="1"/>
          <p:nvPr/>
        </p:nvSpPr>
        <p:spPr>
          <a:xfrm>
            <a:off x="7505700" y="2727126"/>
            <a:ext cx="2790825"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MÔ PHỎNG PHÉP NHÂN MA TRẬN PHẦN CỨNG</a:t>
            </a:r>
            <a:endParaRPr/>
          </a:p>
        </p:txBody>
      </p:sp>
      <p:sp>
        <p:nvSpPr>
          <p:cNvPr id="334" name="Google Shape;334;p23"/>
          <p:cNvSpPr txBox="1"/>
          <p:nvPr/>
        </p:nvSpPr>
        <p:spPr>
          <a:xfrm>
            <a:off x="6677025" y="4477642"/>
            <a:ext cx="4448175" cy="365521"/>
          </a:xfrm>
          <a:prstGeom prst="rect">
            <a:avLst/>
          </a:prstGeom>
          <a:noFill/>
          <a:ln>
            <a:noFill/>
          </a:ln>
        </p:spPr>
        <p:txBody>
          <a:bodyPr spcFirstLastPara="1" wrap="square" lIns="0" tIns="0" rIns="0" bIns="0" anchor="t" anchorCtr="0">
            <a:spAutoFit/>
          </a:bodyPr>
          <a:lstStyle/>
          <a:p>
            <a:pPr marL="0" marR="0" lvl="0" indent="0" algn="ctr" rtl="0">
              <a:lnSpc>
                <a:spcPct val="159888"/>
              </a:lnSpc>
              <a:spcBef>
                <a:spcPts val="0"/>
              </a:spcBef>
              <a:spcAft>
                <a:spcPts val="0"/>
              </a:spcAft>
              <a:buNone/>
            </a:pPr>
            <a:r>
              <a:rPr lang="en-US" sz="900" b="0" i="0" u="none" strike="noStrike" cap="none">
                <a:solidFill>
                  <a:srgbClr val="64748B"/>
                </a:solidFill>
                <a:latin typeface="Plus Jakarta Sans"/>
                <a:ea typeface="Plus Jakarta Sans"/>
                <a:cs typeface="Plus Jakarta Sans"/>
                <a:sym typeface="Plus Jakarta Sans"/>
              </a:rPr>
              <a:t>Toàn bộ ma trận tham số neural network được lưu cố định trực tiếp bên trong các ô nhớ ReRAM.</a:t>
            </a:r>
            <a:endParaRPr/>
          </a:p>
        </p:txBody>
      </p:sp>
      <p:sp>
        <p:nvSpPr>
          <p:cNvPr id="335" name="Google Shape;335;p23"/>
          <p:cNvSpPr txBox="1"/>
          <p:nvPr/>
        </p:nvSpPr>
        <p:spPr>
          <a:xfrm>
            <a:off x="771525" y="390956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36" name="Google Shape;336;p23"/>
          <p:cNvSpPr txBox="1"/>
          <p:nvPr/>
        </p:nvSpPr>
        <p:spPr>
          <a:xfrm>
            <a:off x="771525" y="470966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37" name="Google Shape;337;p23"/>
          <p:cNvSpPr/>
          <p:nvPr/>
        </p:nvSpPr>
        <p:spPr>
          <a:xfrm>
            <a:off x="6686550" y="2984301"/>
            <a:ext cx="4429125" cy="1340941"/>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38" name="Google Shape;338;p23"/>
          <p:cNvGraphicFramePr/>
          <p:nvPr/>
        </p:nvGraphicFramePr>
        <p:xfrm>
          <a:off x="6686550" y="2984301"/>
          <a:ext cx="3000000" cy="3000000"/>
        </p:xfrm>
        <a:graphic>
          <a:graphicData uri="http://schemas.openxmlformats.org/drawingml/2006/table">
            <a:tbl>
              <a:tblPr firstRow="1" bandRow="1">
                <a:noFill/>
                <a:tableStyleId>{DF3C2146-B867-4D5D-ABA1-988120CD81A7}</a:tableStyleId>
              </a:tblPr>
              <a:tblGrid>
                <a:gridCol w="1342875">
                  <a:extLst>
                    <a:ext uri="{9D8B030D-6E8A-4147-A177-3AD203B41FA5}">
                      <a16:colId xmlns:a16="http://schemas.microsoft.com/office/drawing/2014/main" val="20000"/>
                    </a:ext>
                  </a:extLst>
                </a:gridCol>
                <a:gridCol w="1694100">
                  <a:extLst>
                    <a:ext uri="{9D8B030D-6E8A-4147-A177-3AD203B41FA5}">
                      <a16:colId xmlns:a16="http://schemas.microsoft.com/office/drawing/2014/main" val="20001"/>
                    </a:ext>
                  </a:extLst>
                </a:gridCol>
                <a:gridCol w="1392150">
                  <a:extLst>
                    <a:ext uri="{9D8B030D-6E8A-4147-A177-3AD203B41FA5}">
                      <a16:colId xmlns:a16="http://schemas.microsoft.com/office/drawing/2014/main" val="20002"/>
                    </a:ext>
                  </a:extLst>
                </a:gridCol>
              </a:tblGrid>
              <a:tr h="446975">
                <a:tc>
                  <a:txBody>
                    <a:bodyPr/>
                    <a:lstStyle/>
                    <a:p>
                      <a:pPr marL="0" marR="0" lvl="0" indent="0" algn="l" rtl="0">
                        <a:spcBef>
                          <a:spcPts val="0"/>
                        </a:spcBef>
                        <a:spcAft>
                          <a:spcPts val="0"/>
                        </a:spcAft>
                        <a:buNone/>
                      </a:pPr>
                      <a:r>
                        <a:rPr lang="en-US" sz="900" b="0" i="0" u="none" strike="noStrike" cap="none">
                          <a:solidFill>
                            <a:srgbClr val="0F172A"/>
                          </a:solidFill>
                          <a:latin typeface="Plus Jakarta Sans SemiBold"/>
                          <a:ea typeface="Plus Jakarta Sans SemiBold"/>
                          <a:cs typeface="Plus Jakarta Sans SemiBold"/>
                          <a:sym typeface="Plus Jakarta Sans SemiBold"/>
                        </a:rPr>
                        <a:t>Đầu vào Voltage (V)</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900" b="0" i="0" u="none" strike="noStrike" cap="none">
                          <a:solidFill>
                            <a:srgbClr val="0F172A"/>
                          </a:solidFill>
                          <a:latin typeface="Plus Jakarta Sans SemiBold"/>
                          <a:ea typeface="Plus Jakarta Sans SemiBold"/>
                          <a:cs typeface="Plus Jakarta Sans SemiBold"/>
                          <a:sym typeface="Plus Jakarta Sans SemiBold"/>
                        </a:rPr>
                        <a:t>Trọng số Conductance (G)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900" b="0" i="0" u="none" strike="noStrike" cap="none">
                          <a:solidFill>
                            <a:srgbClr val="0F172A"/>
                          </a:solidFill>
                          <a:latin typeface="Plus Jakarta Sans SemiBold"/>
                          <a:ea typeface="Plus Jakarta Sans SemiBold"/>
                          <a:cs typeface="Plus Jakarta Sans SemiBold"/>
                          <a:sym typeface="Plus Jakarta Sans SemiBold"/>
                        </a:rPr>
                        <a:t>Kết quả Dòng điện (I)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446975">
                <a:tc>
                  <a:txBody>
                    <a:bodyPr/>
                    <a:lstStyle/>
                    <a:p>
                      <a:pPr marL="0" marR="0" lvl="0" indent="0" algn="l" rtl="0">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V1 = 0.5V</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G11 = 2 mS (Bit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1" i="0" u="none" strike="noStrike" cap="none">
                          <a:solidFill>
                            <a:srgbClr val="6366F1"/>
                          </a:solidFill>
                          <a:latin typeface="Plus Jakarta Sans"/>
                          <a:ea typeface="Plus Jakarta Sans"/>
                          <a:cs typeface="Plus Jakarta Sans"/>
                          <a:sym typeface="Plus Jakarta Sans"/>
                        </a:rPr>
                        <a:t>I1 = 1.0 mA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46975">
                <a:tc>
                  <a:txBody>
                    <a:bodyPr/>
                    <a:lstStyle/>
                    <a:p>
                      <a:pPr marL="0" marR="0" lvl="0" indent="0" algn="l" rtl="0">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V2 = 0.2V</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G21 = 0.5 mS (Bit 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1" i="0" u="none" strike="noStrike" cap="none">
                          <a:solidFill>
                            <a:srgbClr val="6366F1"/>
                          </a:solidFill>
                          <a:latin typeface="Plus Jakarta Sans"/>
                          <a:ea typeface="Plus Jakarta Sans"/>
                          <a:cs typeface="Plus Jakarta Sans"/>
                          <a:sym typeface="Plus Jakarta Sans"/>
                        </a:rPr>
                        <a:t>I2 = 0.1 mA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39" name="Google Shape;339;p23"/>
          <p:cNvSpPr/>
          <p:nvPr/>
        </p:nvSpPr>
        <p:spPr>
          <a:xfrm>
            <a:off x="6686550" y="3489126"/>
            <a:ext cx="1342876"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23"/>
          <p:cNvSpPr/>
          <p:nvPr/>
        </p:nvSpPr>
        <p:spPr>
          <a:xfrm>
            <a:off x="8029426" y="3489126"/>
            <a:ext cx="169411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3"/>
          <p:cNvSpPr/>
          <p:nvPr/>
        </p:nvSpPr>
        <p:spPr>
          <a:xfrm>
            <a:off x="9723536" y="3489126"/>
            <a:ext cx="1392138"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3"/>
          <p:cNvSpPr/>
          <p:nvPr/>
        </p:nvSpPr>
        <p:spPr>
          <a:xfrm>
            <a:off x="6686550" y="3907184"/>
            <a:ext cx="134287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3"/>
          <p:cNvSpPr/>
          <p:nvPr/>
        </p:nvSpPr>
        <p:spPr>
          <a:xfrm>
            <a:off x="8029426" y="3907184"/>
            <a:ext cx="169411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3"/>
          <p:cNvSpPr/>
          <p:nvPr/>
        </p:nvSpPr>
        <p:spPr>
          <a:xfrm>
            <a:off x="9723536" y="3907184"/>
            <a:ext cx="139213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86550" y="4310955"/>
            <a:ext cx="134287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3"/>
          <p:cNvSpPr/>
          <p:nvPr/>
        </p:nvSpPr>
        <p:spPr>
          <a:xfrm>
            <a:off x="8029426" y="4310955"/>
            <a:ext cx="169411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3"/>
          <p:cNvSpPr/>
          <p:nvPr/>
        </p:nvSpPr>
        <p:spPr>
          <a:xfrm>
            <a:off x="9723536" y="4310955"/>
            <a:ext cx="139213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3"/>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ReRAM Trong Tính Toán: Analog Dot-Product Engine</a:t>
            </a:r>
            <a:endParaRPr/>
          </a:p>
        </p:txBody>
      </p:sp>
      <p:sp>
        <p:nvSpPr>
          <p:cNvPr id="349" name="Google Shape;349;p23"/>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3"/>
        <p:cNvGrpSpPr/>
        <p:nvPr/>
      </p:nvGrpSpPr>
      <p:grpSpPr>
        <a:xfrm>
          <a:off x="0" y="0"/>
          <a:ext cx="0" cy="0"/>
          <a:chOff x="0" y="0"/>
          <a:chExt cx="0" cy="0"/>
        </a:xfrm>
      </p:grpSpPr>
      <p:pic>
        <p:nvPicPr>
          <p:cNvPr id="354" name="Google Shape;354;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5" name="Google Shape;355;p24" descr="image.png"/>
          <p:cNvPicPr preferRelativeResize="0"/>
          <p:nvPr/>
        </p:nvPicPr>
        <p:blipFill rotWithShape="1">
          <a:blip r:embed="rId4">
            <a:alphaModFix/>
          </a:blip>
          <a:srcRect/>
          <a:stretch/>
        </p:blipFill>
        <p:spPr>
          <a:xfrm>
            <a:off x="771525" y="2746176"/>
            <a:ext cx="10648950" cy="1333500"/>
          </a:xfrm>
          <a:prstGeom prst="rect">
            <a:avLst/>
          </a:prstGeom>
          <a:noFill/>
          <a:ln>
            <a:noFill/>
          </a:ln>
        </p:spPr>
      </p:pic>
      <p:pic>
        <p:nvPicPr>
          <p:cNvPr id="356" name="Google Shape;356;p24" descr="image.png"/>
          <p:cNvPicPr preferRelativeResize="0"/>
          <p:nvPr/>
        </p:nvPicPr>
        <p:blipFill rotWithShape="1">
          <a:blip r:embed="rId5">
            <a:alphaModFix/>
          </a:blip>
          <a:srcRect/>
          <a:stretch/>
        </p:blipFill>
        <p:spPr>
          <a:xfrm>
            <a:off x="1066800" y="3327201"/>
            <a:ext cx="1482774" cy="457200"/>
          </a:xfrm>
          <a:prstGeom prst="rect">
            <a:avLst/>
          </a:prstGeom>
          <a:noFill/>
          <a:ln>
            <a:noFill/>
          </a:ln>
        </p:spPr>
      </p:pic>
      <p:pic>
        <p:nvPicPr>
          <p:cNvPr id="357" name="Google Shape;357;p24" descr="image.png"/>
          <p:cNvPicPr preferRelativeResize="0"/>
          <p:nvPr/>
        </p:nvPicPr>
        <p:blipFill rotWithShape="1">
          <a:blip r:embed="rId6">
            <a:alphaModFix/>
          </a:blip>
          <a:srcRect/>
          <a:stretch/>
        </p:blipFill>
        <p:spPr>
          <a:xfrm>
            <a:off x="2892474" y="3327201"/>
            <a:ext cx="2119312" cy="457200"/>
          </a:xfrm>
          <a:prstGeom prst="rect">
            <a:avLst/>
          </a:prstGeom>
          <a:noFill/>
          <a:ln>
            <a:noFill/>
          </a:ln>
        </p:spPr>
      </p:pic>
      <p:pic>
        <p:nvPicPr>
          <p:cNvPr id="358" name="Google Shape;358;p24" descr="image.png"/>
          <p:cNvPicPr preferRelativeResize="0"/>
          <p:nvPr/>
        </p:nvPicPr>
        <p:blipFill rotWithShape="1">
          <a:blip r:embed="rId7">
            <a:alphaModFix/>
          </a:blip>
          <a:srcRect/>
          <a:stretch/>
        </p:blipFill>
        <p:spPr>
          <a:xfrm>
            <a:off x="5354687" y="3327201"/>
            <a:ext cx="1482774" cy="457200"/>
          </a:xfrm>
          <a:prstGeom prst="rect">
            <a:avLst/>
          </a:prstGeom>
          <a:noFill/>
          <a:ln>
            <a:noFill/>
          </a:ln>
        </p:spPr>
      </p:pic>
      <p:pic>
        <p:nvPicPr>
          <p:cNvPr id="359" name="Google Shape;359;p24" descr="image.png"/>
          <p:cNvPicPr preferRelativeResize="0"/>
          <p:nvPr/>
        </p:nvPicPr>
        <p:blipFill rotWithShape="1">
          <a:blip r:embed="rId8">
            <a:alphaModFix/>
          </a:blip>
          <a:srcRect/>
          <a:stretch/>
        </p:blipFill>
        <p:spPr>
          <a:xfrm>
            <a:off x="7180361" y="3327201"/>
            <a:ext cx="2119312" cy="457200"/>
          </a:xfrm>
          <a:prstGeom prst="rect">
            <a:avLst/>
          </a:prstGeom>
          <a:noFill/>
          <a:ln>
            <a:noFill/>
          </a:ln>
        </p:spPr>
      </p:pic>
      <p:pic>
        <p:nvPicPr>
          <p:cNvPr id="360" name="Google Shape;360;p24" descr="image.png"/>
          <p:cNvPicPr preferRelativeResize="0"/>
          <p:nvPr/>
        </p:nvPicPr>
        <p:blipFill rotWithShape="1">
          <a:blip r:embed="rId9">
            <a:alphaModFix/>
          </a:blip>
          <a:srcRect/>
          <a:stretch/>
        </p:blipFill>
        <p:spPr>
          <a:xfrm>
            <a:off x="9642574" y="3327201"/>
            <a:ext cx="1482774" cy="457200"/>
          </a:xfrm>
          <a:prstGeom prst="rect">
            <a:avLst/>
          </a:prstGeom>
          <a:noFill/>
          <a:ln>
            <a:noFill/>
          </a:ln>
        </p:spPr>
      </p:pic>
      <p:sp>
        <p:nvSpPr>
          <p:cNvPr id="361" name="Google Shape;361;p24"/>
          <p:cNvSpPr txBox="1"/>
          <p:nvPr/>
        </p:nvSpPr>
        <p:spPr>
          <a:xfrm>
            <a:off x="771525" y="2279451"/>
            <a:ext cx="10648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Sử dụng mảng Crossbar ReRAM để liên kết thành một chuỗi pipeline tính toán xử lý dữ liệu song song cực kỳ hiệu quả.</a:t>
            </a:r>
            <a:endParaRPr/>
          </a:p>
        </p:txBody>
      </p:sp>
      <p:sp>
        <p:nvSpPr>
          <p:cNvPr id="362" name="Google Shape;362;p24"/>
          <p:cNvSpPr txBox="1"/>
          <p:nvPr/>
        </p:nvSpPr>
        <p:spPr>
          <a:xfrm>
            <a:off x="1066800" y="3041451"/>
            <a:ext cx="10058400" cy="142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1" i="0" u="none" strike="noStrike" cap="none">
                <a:solidFill>
                  <a:srgbClr val="475569"/>
                </a:solidFill>
                <a:latin typeface="Plus Jakarta Sans"/>
                <a:ea typeface="Plus Jakarta Sans"/>
                <a:cs typeface="Plus Jakarta Sans"/>
                <a:sym typeface="Plus Jakarta Sans"/>
              </a:rPr>
              <a:t>QUY TRÌNH PIPELINE TRUYỀN DỮ LIỆU PHẦN CỨNG</a:t>
            </a:r>
            <a:endParaRPr/>
          </a:p>
        </p:txBody>
      </p:sp>
      <p:sp>
        <p:nvSpPr>
          <p:cNvPr id="363" name="Google Shape;363;p24"/>
          <p:cNvSpPr txBox="1"/>
          <p:nvPr/>
        </p:nvSpPr>
        <p:spPr>
          <a:xfrm>
            <a:off x="771525" y="4317801"/>
            <a:ext cx="5440680"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Kiến trúc ISAAC</a:t>
            </a:r>
            <a:endParaRPr/>
          </a:p>
        </p:txBody>
      </p:sp>
      <p:sp>
        <p:nvSpPr>
          <p:cNvPr id="364" name="Google Shape;364;p24"/>
          <p:cNvSpPr txBox="1"/>
          <p:nvPr/>
        </p:nvSpPr>
        <p:spPr>
          <a:xfrm>
            <a:off x="771525" y="4651176"/>
            <a:ext cx="518160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Bố trí phân cấp hệ thống thành các Tile Crossbar độc lập, tính toán phân tán song song, cải thiện vượt bậc hiệu năng năng lượng và thông lượng so với kiến trúc von Neumann.</a:t>
            </a:r>
            <a:endParaRPr/>
          </a:p>
        </p:txBody>
      </p:sp>
      <p:sp>
        <p:nvSpPr>
          <p:cNvPr id="365" name="Google Shape;365;p24"/>
          <p:cNvSpPr txBox="1"/>
          <p:nvPr/>
        </p:nvSpPr>
        <p:spPr>
          <a:xfrm>
            <a:off x="6238875" y="4317801"/>
            <a:ext cx="5440680"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Kiến trúc PipeLayer</a:t>
            </a:r>
            <a:endParaRPr/>
          </a:p>
        </p:txBody>
      </p:sp>
      <p:sp>
        <p:nvSpPr>
          <p:cNvPr id="366" name="Google Shape;366;p24"/>
          <p:cNvSpPr txBox="1"/>
          <p:nvPr/>
        </p:nvSpPr>
        <p:spPr>
          <a:xfrm>
            <a:off x="6238875" y="4651176"/>
            <a:ext cx="518160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Xây dựng cơ chế pipeline xử lý dữ liệu đồng thời giữa các lớp mạng khác nhau, tăng cường khả năng xử lý song song khối lượng dữ liệu khổng lồ theo lô (Batch Processing).</a:t>
            </a:r>
            <a:endParaRPr/>
          </a:p>
        </p:txBody>
      </p:sp>
      <p:pic>
        <p:nvPicPr>
          <p:cNvPr id="367" name="Google Shape;367;p24" descr="image.png"/>
          <p:cNvPicPr preferRelativeResize="0"/>
          <p:nvPr/>
        </p:nvPicPr>
        <p:blipFill rotWithShape="1">
          <a:blip r:embed="rId10">
            <a:alphaModFix/>
          </a:blip>
          <a:srcRect/>
          <a:stretch/>
        </p:blipFill>
        <p:spPr>
          <a:xfrm>
            <a:off x="2644824" y="3484364"/>
            <a:ext cx="152400" cy="171450"/>
          </a:xfrm>
          <a:prstGeom prst="rect">
            <a:avLst/>
          </a:prstGeom>
          <a:noFill/>
          <a:ln>
            <a:noFill/>
          </a:ln>
        </p:spPr>
      </p:pic>
      <p:pic>
        <p:nvPicPr>
          <p:cNvPr id="368" name="Google Shape;368;p24" descr="image.png"/>
          <p:cNvPicPr preferRelativeResize="0"/>
          <p:nvPr/>
        </p:nvPicPr>
        <p:blipFill rotWithShape="1">
          <a:blip r:embed="rId11">
            <a:alphaModFix/>
          </a:blip>
          <a:srcRect/>
          <a:stretch/>
        </p:blipFill>
        <p:spPr>
          <a:xfrm>
            <a:off x="5107037" y="3484364"/>
            <a:ext cx="152400" cy="171450"/>
          </a:xfrm>
          <a:prstGeom prst="rect">
            <a:avLst/>
          </a:prstGeom>
          <a:noFill/>
          <a:ln>
            <a:noFill/>
          </a:ln>
        </p:spPr>
      </p:pic>
      <p:pic>
        <p:nvPicPr>
          <p:cNvPr id="369" name="Google Shape;369;p24" descr="image.png"/>
          <p:cNvPicPr preferRelativeResize="0"/>
          <p:nvPr/>
        </p:nvPicPr>
        <p:blipFill rotWithShape="1">
          <a:blip r:embed="rId10">
            <a:alphaModFix/>
          </a:blip>
          <a:srcRect/>
          <a:stretch/>
        </p:blipFill>
        <p:spPr>
          <a:xfrm>
            <a:off x="6932711" y="3484364"/>
            <a:ext cx="152400" cy="171450"/>
          </a:xfrm>
          <a:prstGeom prst="rect">
            <a:avLst/>
          </a:prstGeom>
          <a:noFill/>
          <a:ln>
            <a:noFill/>
          </a:ln>
        </p:spPr>
      </p:pic>
      <p:pic>
        <p:nvPicPr>
          <p:cNvPr id="370" name="Google Shape;370;p24" descr="image.png"/>
          <p:cNvPicPr preferRelativeResize="0"/>
          <p:nvPr/>
        </p:nvPicPr>
        <p:blipFill rotWithShape="1">
          <a:blip r:embed="rId11">
            <a:alphaModFix/>
          </a:blip>
          <a:srcRect/>
          <a:stretch/>
        </p:blipFill>
        <p:spPr>
          <a:xfrm>
            <a:off x="9394924" y="3484364"/>
            <a:ext cx="152400" cy="171450"/>
          </a:xfrm>
          <a:prstGeom prst="rect">
            <a:avLst/>
          </a:prstGeom>
          <a:noFill/>
          <a:ln>
            <a:noFill/>
          </a:ln>
        </p:spPr>
      </p:pic>
      <p:sp>
        <p:nvSpPr>
          <p:cNvPr id="371" name="Google Shape;371;p24"/>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Kiến Trúc Chip AI Neuromorphic: ISAAC và PipeLayer</a:t>
            </a:r>
            <a:endParaRPr/>
          </a:p>
        </p:txBody>
      </p:sp>
      <p:sp>
        <p:nvSpPr>
          <p:cNvPr id="372" name="Google Shape;372;p24"/>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6"/>
        <p:cNvGrpSpPr/>
        <p:nvPr/>
      </p:nvGrpSpPr>
      <p:grpSpPr>
        <a:xfrm>
          <a:off x="0" y="0"/>
          <a:ext cx="0" cy="0"/>
          <a:chOff x="0" y="0"/>
          <a:chExt cx="0" cy="0"/>
        </a:xfrm>
      </p:grpSpPr>
      <p:pic>
        <p:nvPicPr>
          <p:cNvPr id="377" name="Google Shape;377;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8" name="Google Shape;378;p25" descr="image.png"/>
          <p:cNvPicPr preferRelativeResize="0"/>
          <p:nvPr/>
        </p:nvPicPr>
        <p:blipFill rotWithShape="1">
          <a:blip r:embed="rId4">
            <a:alphaModFix/>
          </a:blip>
          <a:srcRect/>
          <a:stretch/>
        </p:blipFill>
        <p:spPr>
          <a:xfrm>
            <a:off x="771525" y="3189833"/>
            <a:ext cx="5038725" cy="838200"/>
          </a:xfrm>
          <a:prstGeom prst="rect">
            <a:avLst/>
          </a:prstGeom>
          <a:noFill/>
          <a:ln>
            <a:noFill/>
          </a:ln>
        </p:spPr>
      </p:pic>
      <p:pic>
        <p:nvPicPr>
          <p:cNvPr id="379" name="Google Shape;379;p25" descr="image.png"/>
          <p:cNvPicPr preferRelativeResize="0"/>
          <p:nvPr/>
        </p:nvPicPr>
        <p:blipFill rotWithShape="1">
          <a:blip r:embed="rId5">
            <a:alphaModFix/>
          </a:blip>
          <a:srcRect/>
          <a:stretch/>
        </p:blipFill>
        <p:spPr>
          <a:xfrm>
            <a:off x="6381750" y="1975395"/>
            <a:ext cx="5038725" cy="3619500"/>
          </a:xfrm>
          <a:prstGeom prst="rect">
            <a:avLst/>
          </a:prstGeom>
          <a:noFill/>
          <a:ln>
            <a:noFill/>
          </a:ln>
        </p:spPr>
      </p:pic>
      <p:sp>
        <p:nvSpPr>
          <p:cNvPr id="380" name="Google Shape;380;p25"/>
          <p:cNvSpPr txBox="1"/>
          <p:nvPr/>
        </p:nvSpPr>
        <p:spPr>
          <a:xfrm>
            <a:off x="771525" y="2027783"/>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Điểm nghẽn diện tích &amp; điện năng: ADC/DAC</a:t>
            </a:r>
            <a:endParaRPr/>
          </a:p>
        </p:txBody>
      </p:sp>
      <p:sp>
        <p:nvSpPr>
          <p:cNvPr id="381" name="Google Shape;381;p25"/>
          <p:cNvSpPr txBox="1"/>
          <p:nvPr/>
        </p:nvSpPr>
        <p:spPr>
          <a:xfrm>
            <a:off x="771525" y="2361158"/>
            <a:ext cx="50387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Dù mảng analog crossbar ReRAM có kích thước siêu nhỏ, quá trình tính toán bắt buộc phải sử dụng các bộ chuyển đổi Analog-to-Digital (ADC) và Digital-to-Analog (DAC).</a:t>
            </a:r>
            <a:endParaRPr/>
          </a:p>
        </p:txBody>
      </p:sp>
      <p:sp>
        <p:nvSpPr>
          <p:cNvPr id="382" name="Google Shape;382;p25"/>
          <p:cNvSpPr txBox="1"/>
          <p:nvPr/>
        </p:nvSpPr>
        <p:spPr>
          <a:xfrm>
            <a:off x="1000125" y="3380333"/>
            <a:ext cx="46196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B91C1C"/>
                </a:solidFill>
                <a:latin typeface="Plus Jakarta Sans"/>
                <a:ea typeface="Plus Jakarta Sans"/>
                <a:cs typeface="Plus Jakarta Sans"/>
                <a:sym typeface="Plus Jakarta Sans"/>
              </a:rPr>
              <a:t>ADC/DAC chiếm tới 85% - 98% diện tích thực và điện năng tiêu thụ toàn chip!</a:t>
            </a:r>
            <a:endParaRPr/>
          </a:p>
        </p:txBody>
      </p:sp>
      <p:sp>
        <p:nvSpPr>
          <p:cNvPr id="383" name="Google Shape;383;p25"/>
          <p:cNvSpPr txBox="1"/>
          <p:nvPr/>
        </p:nvSpPr>
        <p:spPr>
          <a:xfrm>
            <a:off x="1000125" y="4170908"/>
            <a:ext cx="4810125" cy="10972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Lỗi cứng Stuck-At:</a:t>
            </a:r>
            <a:r>
              <a:rPr lang="en-US" sz="1125" b="0" i="0" u="none" strike="noStrike" cap="none">
                <a:solidFill>
                  <a:srgbClr val="475569"/>
                </a:solidFill>
                <a:latin typeface="Plus Jakarta Sans"/>
                <a:ea typeface="Plus Jakarta Sans"/>
                <a:cs typeface="Plus Jakarta Sans"/>
                <a:sym typeface="Plus Jakarta Sans"/>
              </a:rPr>
              <a:t> Một tỉ lệ ô nhớ bị kẹt cứng ở mức 0 hoặc 1 do suy hao chế tạo. Xử lý phần mềm bằng kỹ thuật huấn luyện bù lỗi (Fault-aware training).</a:t>
            </a:r>
            <a:endParaRPr/>
          </a:p>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Resistance Drift: Điện trở vùng amorphous tự tăng theo R(t)=R₀(t/t₀)^ν, làm sai lệch conductance lưu trong ô nhớ theo thời gian.</a:t>
            </a:r>
            <a:endParaRPr/>
          </a:p>
        </p:txBody>
      </p:sp>
      <p:sp>
        <p:nvSpPr>
          <p:cNvPr id="384" name="Google Shape;384;p25"/>
          <p:cNvSpPr txBox="1"/>
          <p:nvPr/>
        </p:nvSpPr>
        <p:spPr>
          <a:xfrm>
            <a:off x="1000125" y="4971008"/>
            <a:ext cx="4810125" cy="73152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Process Variation:</a:t>
            </a:r>
            <a:r>
              <a:rPr lang="en-US" sz="1125" b="0" i="0" u="none" strike="noStrike" cap="none">
                <a:solidFill>
                  <a:srgbClr val="475569"/>
                </a:solidFill>
                <a:latin typeface="Plus Jakarta Sans"/>
                <a:ea typeface="Plus Jakarta Sans"/>
                <a:cs typeface="Plus Jakarta Sans"/>
                <a:sym typeface="Plus Jakarta Sans"/>
              </a:rPr>
              <a:t> Sai số lệch điện trở do độ dày lớp mỏng vật liệu không đồng đều trên wafer silicon.</a:t>
            </a:r>
            <a:endParaRPr/>
          </a:p>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Thiếu công cụ mô phỏng mở: Chưa có prototype phần cứng quy mô lớn để kiểm chứng kết quả nghiên cứu ở mức chip thực tế.</a:t>
            </a:r>
            <a:endParaRPr/>
          </a:p>
        </p:txBody>
      </p:sp>
      <p:sp>
        <p:nvSpPr>
          <p:cNvPr id="385" name="Google Shape;385;p25"/>
          <p:cNvSpPr txBox="1"/>
          <p:nvPr/>
        </p:nvSpPr>
        <p:spPr>
          <a:xfrm>
            <a:off x="7372350" y="3008858"/>
            <a:ext cx="3057525"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PHÂN BỔ SỬ DỤNG DIỆN TÍCH TRÊN CHIP AI RERAM</a:t>
            </a:r>
            <a:endParaRPr/>
          </a:p>
        </p:txBody>
      </p:sp>
      <p:sp>
        <p:nvSpPr>
          <p:cNvPr id="386" name="Google Shape;386;p25"/>
          <p:cNvSpPr txBox="1"/>
          <p:nvPr/>
        </p:nvSpPr>
        <p:spPr>
          <a:xfrm>
            <a:off x="771525" y="4170908"/>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87" name="Google Shape;387;p25"/>
          <p:cNvSpPr txBox="1"/>
          <p:nvPr/>
        </p:nvSpPr>
        <p:spPr>
          <a:xfrm>
            <a:off x="771525" y="4971008"/>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388" name="Google Shape;388;p25"/>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Nút Thắt Hệ Thống: Thách Thức của ReRAM Accelerator</a:t>
            </a:r>
            <a:endParaRPr/>
          </a:p>
        </p:txBody>
      </p:sp>
      <p:sp>
        <p:nvSpPr>
          <p:cNvPr id="389" name="Google Shape;389;p25"/>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pic>
        <p:nvPicPr>
          <p:cNvPr id="394" name="Google Shape;394;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5" name="Google Shape;395;p26" descr="image.png"/>
          <p:cNvPicPr preferRelativeResize="0"/>
          <p:nvPr/>
        </p:nvPicPr>
        <p:blipFill rotWithShape="1">
          <a:blip r:embed="rId4">
            <a:alphaModFix/>
          </a:blip>
          <a:srcRect/>
          <a:stretch/>
        </p:blipFill>
        <p:spPr>
          <a:xfrm>
            <a:off x="771525" y="2802284"/>
            <a:ext cx="2519362" cy="1337071"/>
          </a:xfrm>
          <a:prstGeom prst="rect">
            <a:avLst/>
          </a:prstGeom>
          <a:noFill/>
          <a:ln>
            <a:noFill/>
          </a:ln>
        </p:spPr>
      </p:pic>
      <p:pic>
        <p:nvPicPr>
          <p:cNvPr id="396" name="Google Shape;396;p26" descr="image.png"/>
          <p:cNvPicPr preferRelativeResize="0"/>
          <p:nvPr/>
        </p:nvPicPr>
        <p:blipFill rotWithShape="1">
          <a:blip r:embed="rId4">
            <a:alphaModFix/>
          </a:blip>
          <a:srcRect/>
          <a:stretch/>
        </p:blipFill>
        <p:spPr>
          <a:xfrm>
            <a:off x="3481387" y="2802284"/>
            <a:ext cx="2519362" cy="1337071"/>
          </a:xfrm>
          <a:prstGeom prst="rect">
            <a:avLst/>
          </a:prstGeom>
          <a:noFill/>
          <a:ln>
            <a:noFill/>
          </a:ln>
        </p:spPr>
      </p:pic>
      <p:pic>
        <p:nvPicPr>
          <p:cNvPr id="397" name="Google Shape;397;p26" descr="image.png"/>
          <p:cNvPicPr preferRelativeResize="0"/>
          <p:nvPr/>
        </p:nvPicPr>
        <p:blipFill rotWithShape="1">
          <a:blip r:embed="rId5">
            <a:alphaModFix/>
          </a:blip>
          <a:srcRect/>
          <a:stretch/>
        </p:blipFill>
        <p:spPr>
          <a:xfrm>
            <a:off x="6191250" y="2802284"/>
            <a:ext cx="2519362" cy="1337071"/>
          </a:xfrm>
          <a:prstGeom prst="rect">
            <a:avLst/>
          </a:prstGeom>
          <a:noFill/>
          <a:ln>
            <a:noFill/>
          </a:ln>
        </p:spPr>
      </p:pic>
      <p:pic>
        <p:nvPicPr>
          <p:cNvPr id="398" name="Google Shape;398;p26" descr="image.png"/>
          <p:cNvPicPr preferRelativeResize="0"/>
          <p:nvPr/>
        </p:nvPicPr>
        <p:blipFill rotWithShape="1">
          <a:blip r:embed="rId4">
            <a:alphaModFix/>
          </a:blip>
          <a:srcRect/>
          <a:stretch/>
        </p:blipFill>
        <p:spPr>
          <a:xfrm>
            <a:off x="8901112" y="2802284"/>
            <a:ext cx="2519362" cy="1337071"/>
          </a:xfrm>
          <a:prstGeom prst="rect">
            <a:avLst/>
          </a:prstGeom>
          <a:noFill/>
          <a:ln>
            <a:noFill/>
          </a:ln>
        </p:spPr>
      </p:pic>
      <p:sp>
        <p:nvSpPr>
          <p:cNvPr id="399" name="Google Shape;399;p26"/>
          <p:cNvSpPr txBox="1"/>
          <p:nvPr/>
        </p:nvSpPr>
        <p:spPr>
          <a:xfrm>
            <a:off x="771525" y="2002184"/>
            <a:ext cx="10648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Storage-Class Memory là một lớp công nghệ lưu trữ hoàn toàn mới, hòa trộn tốc độ của DRAM và độ bền lưu trữ của ổ cứng Flash.</a:t>
            </a:r>
            <a:endParaRPr/>
          </a:p>
        </p:txBody>
      </p:sp>
      <p:sp>
        <p:nvSpPr>
          <p:cNvPr id="400" name="Google Shape;400;p26"/>
          <p:cNvSpPr txBox="1"/>
          <p:nvPr/>
        </p:nvSpPr>
        <p:spPr>
          <a:xfrm>
            <a:off x="971550" y="3088034"/>
            <a:ext cx="3524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366F1"/>
                </a:solidFill>
                <a:latin typeface="Plus Jakarta Sans"/>
                <a:ea typeface="Plus Jakarta Sans"/>
                <a:cs typeface="Plus Jakarta Sans"/>
                <a:sym typeface="Plus Jakarta Sans"/>
              </a:rPr>
              <a:t>TẦNG 1</a:t>
            </a:r>
            <a:endParaRPr/>
          </a:p>
        </p:txBody>
      </p:sp>
      <p:sp>
        <p:nvSpPr>
          <p:cNvPr id="401" name="Google Shape;401;p26"/>
          <p:cNvSpPr txBox="1"/>
          <p:nvPr/>
        </p:nvSpPr>
        <p:spPr>
          <a:xfrm>
            <a:off x="971550" y="3278534"/>
            <a:ext cx="2225278"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SemiBold"/>
                <a:ea typeface="Plus Jakarta Sans SemiBold"/>
                <a:cs typeface="Plus Jakarta Sans SemiBold"/>
                <a:sym typeface="Plus Jakarta Sans SemiBold"/>
              </a:rPr>
              <a:t>SRAM Cache</a:t>
            </a:r>
            <a:endParaRPr/>
          </a:p>
        </p:txBody>
      </p:sp>
      <p:sp>
        <p:nvSpPr>
          <p:cNvPr id="402" name="Google Shape;402;p26"/>
          <p:cNvSpPr txBox="1"/>
          <p:nvPr/>
        </p:nvSpPr>
        <p:spPr>
          <a:xfrm>
            <a:off x="971550" y="3573809"/>
            <a:ext cx="2119312" cy="365521"/>
          </a:xfrm>
          <a:prstGeom prst="rect">
            <a:avLst/>
          </a:prstGeom>
          <a:noFill/>
          <a:ln>
            <a:noFill/>
          </a:ln>
        </p:spPr>
        <p:txBody>
          <a:bodyPr spcFirstLastPara="1" wrap="square" lIns="0" tIns="0" rIns="0" bIns="0" anchor="t" anchorCtr="0">
            <a:spAutoFit/>
          </a:bodyPr>
          <a:lstStyle/>
          <a:p>
            <a:pPr marL="0" marR="0" lvl="0" indent="0" algn="l" rtl="0">
              <a:lnSpc>
                <a:spcPct val="159888"/>
              </a:lnSpc>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Độ trễ &lt;1ns. Cực đắt, dung lượng siêu nhỏ tích hợp sẵn trong vi xử lý CPU.</a:t>
            </a:r>
            <a:endParaRPr/>
          </a:p>
        </p:txBody>
      </p:sp>
      <p:sp>
        <p:nvSpPr>
          <p:cNvPr id="403" name="Google Shape;403;p26"/>
          <p:cNvSpPr txBox="1"/>
          <p:nvPr/>
        </p:nvSpPr>
        <p:spPr>
          <a:xfrm>
            <a:off x="3681412" y="3088034"/>
            <a:ext cx="38100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366F1"/>
                </a:solidFill>
                <a:latin typeface="Plus Jakarta Sans"/>
                <a:ea typeface="Plus Jakarta Sans"/>
                <a:cs typeface="Plus Jakarta Sans"/>
                <a:sym typeface="Plus Jakarta Sans"/>
              </a:rPr>
              <a:t>TẦNG 2</a:t>
            </a:r>
            <a:endParaRPr/>
          </a:p>
        </p:txBody>
      </p:sp>
      <p:sp>
        <p:nvSpPr>
          <p:cNvPr id="404" name="Google Shape;404;p26"/>
          <p:cNvSpPr txBox="1"/>
          <p:nvPr/>
        </p:nvSpPr>
        <p:spPr>
          <a:xfrm>
            <a:off x="3681412" y="3278534"/>
            <a:ext cx="2225278"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SemiBold"/>
                <a:ea typeface="Plus Jakarta Sans SemiBold"/>
                <a:cs typeface="Plus Jakarta Sans SemiBold"/>
                <a:sym typeface="Plus Jakarta Sans SemiBold"/>
              </a:rPr>
              <a:t>DRAM Memory</a:t>
            </a:r>
            <a:endParaRPr/>
          </a:p>
        </p:txBody>
      </p:sp>
      <p:sp>
        <p:nvSpPr>
          <p:cNvPr id="405" name="Google Shape;405;p26"/>
          <p:cNvSpPr txBox="1"/>
          <p:nvPr/>
        </p:nvSpPr>
        <p:spPr>
          <a:xfrm>
            <a:off x="3681412" y="3573809"/>
            <a:ext cx="2119312" cy="365521"/>
          </a:xfrm>
          <a:prstGeom prst="rect">
            <a:avLst/>
          </a:prstGeom>
          <a:noFill/>
          <a:ln>
            <a:noFill/>
          </a:ln>
        </p:spPr>
        <p:txBody>
          <a:bodyPr spcFirstLastPara="1" wrap="square" lIns="0" tIns="0" rIns="0" bIns="0" anchor="t" anchorCtr="0">
            <a:spAutoFit/>
          </a:bodyPr>
          <a:lstStyle/>
          <a:p>
            <a:pPr marL="0" marR="0" lvl="0" indent="0" algn="l" rtl="0">
              <a:lnSpc>
                <a:spcPct val="159888"/>
              </a:lnSpc>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Độ trễ ~10ns. Bộ nhớ chính hệ thống, bay màu dữ liệu khi ngắt nguồn điện.</a:t>
            </a:r>
            <a:endParaRPr/>
          </a:p>
        </p:txBody>
      </p:sp>
      <p:sp>
        <p:nvSpPr>
          <p:cNvPr id="406" name="Google Shape;406;p26"/>
          <p:cNvSpPr txBox="1"/>
          <p:nvPr/>
        </p:nvSpPr>
        <p:spPr>
          <a:xfrm>
            <a:off x="6391275" y="3088034"/>
            <a:ext cx="87630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10B981"/>
                </a:solidFill>
                <a:latin typeface="Plus Jakarta Sans"/>
                <a:ea typeface="Plus Jakarta Sans"/>
                <a:cs typeface="Plus Jakarta Sans"/>
                <a:sym typeface="Plus Jakarta Sans"/>
              </a:rPr>
              <a:t>TẦNG SCM (MỚI)</a:t>
            </a:r>
            <a:endParaRPr/>
          </a:p>
        </p:txBody>
      </p:sp>
      <p:sp>
        <p:nvSpPr>
          <p:cNvPr id="407" name="Google Shape;407;p26"/>
          <p:cNvSpPr txBox="1"/>
          <p:nvPr/>
        </p:nvSpPr>
        <p:spPr>
          <a:xfrm>
            <a:off x="6391275" y="3278534"/>
            <a:ext cx="2225278"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F172A"/>
                </a:solidFill>
                <a:latin typeface="Plus Jakarta Sans SemiBold"/>
                <a:ea typeface="Plus Jakarta Sans SemiBold"/>
                <a:cs typeface="Plus Jakarta Sans SemiBold"/>
                <a:sym typeface="Plus Jakarta Sans SemiBold"/>
              </a:rPr>
              <a:t>Storage-Class</a:t>
            </a:r>
            <a:endParaRPr/>
          </a:p>
        </p:txBody>
      </p:sp>
      <p:sp>
        <p:nvSpPr>
          <p:cNvPr id="408" name="Google Shape;408;p26"/>
          <p:cNvSpPr txBox="1"/>
          <p:nvPr/>
        </p:nvSpPr>
        <p:spPr>
          <a:xfrm>
            <a:off x="6391275" y="3573809"/>
            <a:ext cx="2119312" cy="365521"/>
          </a:xfrm>
          <a:prstGeom prst="rect">
            <a:avLst/>
          </a:prstGeom>
          <a:noFill/>
          <a:ln>
            <a:noFill/>
          </a:ln>
        </p:spPr>
        <p:txBody>
          <a:bodyPr spcFirstLastPara="1" wrap="square" lIns="0" tIns="0" rIns="0" bIns="0" anchor="t" anchorCtr="0">
            <a:spAutoFit/>
          </a:bodyPr>
          <a:lstStyle/>
          <a:p>
            <a:pPr marL="0" marR="0" lvl="0" indent="0" algn="l" rtl="0">
              <a:lnSpc>
                <a:spcPct val="159888"/>
              </a:lnSpc>
              <a:spcBef>
                <a:spcPts val="0"/>
              </a:spcBef>
              <a:spcAft>
                <a:spcPts val="0"/>
              </a:spcAft>
              <a:buNone/>
            </a:pPr>
            <a:r>
              <a:rPr lang="en-US" sz="900" b="0" i="0" u="none" strike="noStrike" cap="none">
                <a:solidFill>
                  <a:srgbClr val="334155"/>
                </a:solidFill>
                <a:latin typeface="Plus Jakarta Sans"/>
                <a:ea typeface="Plus Jakarta Sans"/>
                <a:cs typeface="Plus Jakarta Sans"/>
                <a:sym typeface="Plus Jakarta Sans"/>
              </a:rPr>
              <a:t>Độ trễ ~100ns. Khả năng truy cập theo Byte, lưu trữ dữ liệu bền bỉ.</a:t>
            </a:r>
            <a:endParaRPr/>
          </a:p>
        </p:txBody>
      </p:sp>
      <p:sp>
        <p:nvSpPr>
          <p:cNvPr id="409" name="Google Shape;409;p26"/>
          <p:cNvSpPr txBox="1"/>
          <p:nvPr/>
        </p:nvSpPr>
        <p:spPr>
          <a:xfrm>
            <a:off x="9101137" y="3088034"/>
            <a:ext cx="38100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366F1"/>
                </a:solidFill>
                <a:latin typeface="Plus Jakarta Sans"/>
                <a:ea typeface="Plus Jakarta Sans"/>
                <a:cs typeface="Plus Jakarta Sans"/>
                <a:sym typeface="Plus Jakarta Sans"/>
              </a:rPr>
              <a:t>TẦNG 4</a:t>
            </a:r>
            <a:endParaRPr/>
          </a:p>
        </p:txBody>
      </p:sp>
      <p:sp>
        <p:nvSpPr>
          <p:cNvPr id="410" name="Google Shape;410;p26"/>
          <p:cNvSpPr txBox="1"/>
          <p:nvPr/>
        </p:nvSpPr>
        <p:spPr>
          <a:xfrm>
            <a:off x="9101137" y="3278534"/>
            <a:ext cx="2225278"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Plus Jakarta Sans SemiBold"/>
                <a:ea typeface="Plus Jakarta Sans SemiBold"/>
                <a:cs typeface="Plus Jakarta Sans SemiBold"/>
                <a:sym typeface="Plus Jakarta Sans SemiBold"/>
              </a:rPr>
              <a:t>NAND Flash SSD</a:t>
            </a:r>
            <a:endParaRPr/>
          </a:p>
        </p:txBody>
      </p:sp>
      <p:sp>
        <p:nvSpPr>
          <p:cNvPr id="411" name="Google Shape;411;p26"/>
          <p:cNvSpPr txBox="1"/>
          <p:nvPr/>
        </p:nvSpPr>
        <p:spPr>
          <a:xfrm>
            <a:off x="9101137" y="3573809"/>
            <a:ext cx="2119312" cy="365521"/>
          </a:xfrm>
          <a:prstGeom prst="rect">
            <a:avLst/>
          </a:prstGeom>
          <a:noFill/>
          <a:ln>
            <a:noFill/>
          </a:ln>
        </p:spPr>
        <p:txBody>
          <a:bodyPr spcFirstLastPara="1" wrap="square" lIns="0" tIns="0" rIns="0" bIns="0" anchor="t" anchorCtr="0">
            <a:spAutoFit/>
          </a:bodyPr>
          <a:lstStyle/>
          <a:p>
            <a:pPr marL="0" marR="0" lvl="0" indent="0" algn="l" rtl="0">
              <a:lnSpc>
                <a:spcPct val="159888"/>
              </a:lnSpc>
              <a:spcBef>
                <a:spcPts val="0"/>
              </a:spcBef>
              <a:spcAft>
                <a:spcPts val="0"/>
              </a:spcAft>
              <a:buNone/>
            </a:pPr>
            <a:r>
              <a:rPr lang="en-US" sz="900" b="0" i="0" u="none" strike="noStrike" cap="none">
                <a:solidFill>
                  <a:srgbClr val="475569"/>
                </a:solidFill>
                <a:latin typeface="Plus Jakarta Sans"/>
                <a:ea typeface="Plus Jakarta Sans"/>
                <a:cs typeface="Plus Jakarta Sans"/>
                <a:sym typeface="Plus Jakarta Sans"/>
              </a:rPr>
              <a:t>Độ trễ ~100µs. Lưu trữ dung lượng lớn, giá thành rẻ, truy cập Block.</a:t>
            </a:r>
            <a:endParaRPr/>
          </a:p>
        </p:txBody>
      </p:sp>
      <p:sp>
        <p:nvSpPr>
          <p:cNvPr id="412" name="Google Shape;412;p26"/>
          <p:cNvSpPr txBox="1"/>
          <p:nvPr/>
        </p:nvSpPr>
        <p:spPr>
          <a:xfrm>
            <a:off x="1000125" y="4425106"/>
            <a:ext cx="495300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Không cần Refresh:</a:t>
            </a:r>
            <a:r>
              <a:rPr lang="en-US" sz="1125" b="0" i="0" u="none" strike="noStrike" cap="none">
                <a:solidFill>
                  <a:srgbClr val="475569"/>
                </a:solidFill>
                <a:latin typeface="Plus Jakarta Sans"/>
                <a:ea typeface="Plus Jakarta Sans"/>
                <a:cs typeface="Plus Jakarta Sans"/>
                <a:sym typeface="Plus Jakarta Sans"/>
              </a:rPr>
              <a:t> Loại bỏ 100% dòng điện rò rỉ và năng lượng tĩnh hao hụt của bộ nhớ DRAM.</a:t>
            </a:r>
            <a:endParaRPr/>
          </a:p>
        </p:txBody>
      </p:sp>
      <p:sp>
        <p:nvSpPr>
          <p:cNvPr id="413" name="Google Shape;413;p26"/>
          <p:cNvSpPr txBox="1"/>
          <p:nvPr/>
        </p:nvSpPr>
        <p:spPr>
          <a:xfrm>
            <a:off x="1000125" y="4996606"/>
            <a:ext cx="495300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Mật độ tối ưu cao:</a:t>
            </a:r>
            <a:r>
              <a:rPr lang="en-US" sz="1125" b="0" i="0" u="none" strike="noStrike" cap="none">
                <a:solidFill>
                  <a:srgbClr val="475569"/>
                </a:solidFill>
                <a:latin typeface="Plus Jakarta Sans"/>
                <a:ea typeface="Plus Jakarta Sans"/>
                <a:cs typeface="Plus Jakarta Sans"/>
                <a:sym typeface="Plus Jakarta Sans"/>
              </a:rPr>
              <a:t> PCM và ReRAM hỗ trợ cấu trúc xếp chồng nhiều lớp 3D thẳng đứng.</a:t>
            </a:r>
            <a:endParaRPr/>
          </a:p>
        </p:txBody>
      </p:sp>
      <p:sp>
        <p:nvSpPr>
          <p:cNvPr id="414" name="Google Shape;414;p26"/>
          <p:cNvSpPr txBox="1"/>
          <p:nvPr/>
        </p:nvSpPr>
        <p:spPr>
          <a:xfrm>
            <a:off x="6467475" y="4425106"/>
            <a:ext cx="495300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Truy cập ngẫu nhiên Byte:</a:t>
            </a:r>
            <a:r>
              <a:rPr lang="en-US" sz="1125" b="0" i="0" u="none" strike="noStrike" cap="none">
                <a:solidFill>
                  <a:srgbClr val="475569"/>
                </a:solidFill>
                <a:latin typeface="Plus Jakarta Sans"/>
                <a:ea typeface="Plus Jakarta Sans"/>
                <a:cs typeface="Plus Jakarta Sans"/>
                <a:sym typeface="Plus Jakarta Sans"/>
              </a:rPr>
              <a:t> Hệ điều hành có thể thao tác ghi đọc từng địa chỉ 1-byte trực tiếp.</a:t>
            </a:r>
            <a:endParaRPr/>
          </a:p>
        </p:txBody>
      </p:sp>
      <p:sp>
        <p:nvSpPr>
          <p:cNvPr id="415" name="Google Shape;415;p26"/>
          <p:cNvSpPr txBox="1"/>
          <p:nvPr/>
        </p:nvSpPr>
        <p:spPr>
          <a:xfrm>
            <a:off x="6467475" y="4996606"/>
            <a:ext cx="495300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Bảo vệ dữ liệu tức thì:</a:t>
            </a:r>
            <a:r>
              <a:rPr lang="en-US" sz="1125" b="0" i="0" u="none" strike="noStrike" cap="none">
                <a:solidFill>
                  <a:srgbClr val="475569"/>
                </a:solidFill>
                <a:latin typeface="Plus Jakarta Sans"/>
                <a:ea typeface="Plus Jakarta Sans"/>
                <a:cs typeface="Plus Jakarta Sans"/>
                <a:sym typeface="Plus Jakarta Sans"/>
              </a:rPr>
              <a:t> Giảm thiểu tối đa rủi ro mất mát dữ liệu khi gặp sự cố ngắt nguồn điện đột ngột.</a:t>
            </a:r>
            <a:endParaRPr/>
          </a:p>
        </p:txBody>
      </p:sp>
      <p:sp>
        <p:nvSpPr>
          <p:cNvPr id="416" name="Google Shape;416;p26"/>
          <p:cNvSpPr txBox="1"/>
          <p:nvPr/>
        </p:nvSpPr>
        <p:spPr>
          <a:xfrm>
            <a:off x="771525" y="442510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17" name="Google Shape;417;p26"/>
          <p:cNvSpPr txBox="1"/>
          <p:nvPr/>
        </p:nvSpPr>
        <p:spPr>
          <a:xfrm>
            <a:off x="771525" y="499660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18" name="Google Shape;418;p26"/>
          <p:cNvSpPr txBox="1"/>
          <p:nvPr/>
        </p:nvSpPr>
        <p:spPr>
          <a:xfrm>
            <a:off x="6238875" y="442510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19" name="Google Shape;419;p26"/>
          <p:cNvSpPr txBox="1"/>
          <p:nvPr/>
        </p:nvSpPr>
        <p:spPr>
          <a:xfrm>
            <a:off x="6238875" y="4996606"/>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20" name="Google Shape;420;p26"/>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Storage-Class Memory (SCM): Lấp Đầy Khoảng Trống</a:t>
            </a:r>
            <a:endParaRPr/>
          </a:p>
        </p:txBody>
      </p:sp>
      <p:sp>
        <p:nvSpPr>
          <p:cNvPr id="421" name="Google Shape;421;p26"/>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5"/>
        <p:cNvGrpSpPr/>
        <p:nvPr/>
      </p:nvGrpSpPr>
      <p:grpSpPr>
        <a:xfrm>
          <a:off x="0" y="0"/>
          <a:ext cx="0" cy="0"/>
          <a:chOff x="0" y="0"/>
          <a:chExt cx="0" cy="0"/>
        </a:xfrm>
      </p:grpSpPr>
      <p:pic>
        <p:nvPicPr>
          <p:cNvPr id="426" name="Google Shape;42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27" name="Google Shape;427;p27" descr="image.png"/>
          <p:cNvPicPr preferRelativeResize="0"/>
          <p:nvPr/>
        </p:nvPicPr>
        <p:blipFill rotWithShape="1">
          <a:blip r:embed="rId4">
            <a:alphaModFix/>
          </a:blip>
          <a:srcRect/>
          <a:stretch/>
        </p:blipFill>
        <p:spPr>
          <a:xfrm>
            <a:off x="771525" y="4629894"/>
            <a:ext cx="10648950" cy="777180"/>
          </a:xfrm>
          <a:prstGeom prst="rect">
            <a:avLst/>
          </a:prstGeom>
          <a:noFill/>
          <a:ln>
            <a:noFill/>
          </a:ln>
        </p:spPr>
      </p:pic>
      <p:graphicFrame>
        <p:nvGraphicFramePr>
          <p:cNvPr id="428" name="Google Shape;428;p27"/>
          <p:cNvGraphicFramePr/>
          <p:nvPr/>
        </p:nvGraphicFramePr>
        <p:xfrm>
          <a:off x="771525" y="2163216"/>
          <a:ext cx="3000000" cy="3000000"/>
        </p:xfrm>
        <a:graphic>
          <a:graphicData uri="http://schemas.openxmlformats.org/drawingml/2006/table">
            <a:tbl>
              <a:tblPr firstRow="1" bandRow="1">
                <a:noFill/>
                <a:tableStyleId>{DF3C2146-B867-4D5D-ABA1-988120CD81A7}</a:tableStyleId>
              </a:tblPr>
              <a:tblGrid>
                <a:gridCol w="2083450">
                  <a:extLst>
                    <a:ext uri="{9D8B030D-6E8A-4147-A177-3AD203B41FA5}">
                      <a16:colId xmlns:a16="http://schemas.microsoft.com/office/drawing/2014/main" val="20000"/>
                    </a:ext>
                  </a:extLst>
                </a:gridCol>
                <a:gridCol w="1609875">
                  <a:extLst>
                    <a:ext uri="{9D8B030D-6E8A-4147-A177-3AD203B41FA5}">
                      <a16:colId xmlns:a16="http://schemas.microsoft.com/office/drawing/2014/main" val="20001"/>
                    </a:ext>
                  </a:extLst>
                </a:gridCol>
                <a:gridCol w="1567750">
                  <a:extLst>
                    <a:ext uri="{9D8B030D-6E8A-4147-A177-3AD203B41FA5}">
                      <a16:colId xmlns:a16="http://schemas.microsoft.com/office/drawing/2014/main" val="20002"/>
                    </a:ext>
                  </a:extLst>
                </a:gridCol>
                <a:gridCol w="1525775">
                  <a:extLst>
                    <a:ext uri="{9D8B030D-6E8A-4147-A177-3AD203B41FA5}">
                      <a16:colId xmlns:a16="http://schemas.microsoft.com/office/drawing/2014/main" val="20003"/>
                    </a:ext>
                  </a:extLst>
                </a:gridCol>
                <a:gridCol w="1704525">
                  <a:extLst>
                    <a:ext uri="{9D8B030D-6E8A-4147-A177-3AD203B41FA5}">
                      <a16:colId xmlns:a16="http://schemas.microsoft.com/office/drawing/2014/main" val="20004"/>
                    </a:ext>
                  </a:extLst>
                </a:gridCol>
                <a:gridCol w="2157550">
                  <a:extLst>
                    <a:ext uri="{9D8B030D-6E8A-4147-A177-3AD203B41FA5}">
                      <a16:colId xmlns:a16="http://schemas.microsoft.com/office/drawing/2014/main" val="20005"/>
                    </a:ext>
                  </a:extLst>
                </a:gridCol>
              </a:tblGrid>
              <a:tr h="426650">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Công nghệ bộ nhớ</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Diện tích ô nhớ (F²)</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Độ trễ Đọc (Read)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Độ trễ Ghi (Write)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Độ bền (Endurance)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Điện năng chờ tĩnh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4266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NAND Flash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~100 µs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 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10⁴–10⁵</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0 (Tuyệt vời)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26650">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DRAM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50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50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Thực tế vô hạn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Rất cao (Do chu kỳ refresh)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26650">
                <a:tc>
                  <a:txBody>
                    <a:bodyPr/>
                    <a:lstStyle/>
                    <a:p>
                      <a:pPr marL="0" marR="0" lvl="0" indent="0" algn="l" rtl="0">
                        <a:spcBef>
                          <a:spcPts val="0"/>
                        </a:spcBef>
                        <a:spcAft>
                          <a:spcPts val="0"/>
                        </a:spcAft>
                        <a:buNone/>
                      </a:pPr>
                      <a:r>
                        <a:rPr lang="en-US" sz="1050" b="0" i="0" u="none" strike="noStrike" cap="none">
                          <a:solidFill>
                            <a:srgbClr val="6366F1"/>
                          </a:solidFill>
                          <a:latin typeface="Plus Jakarta Sans SemiBold"/>
                          <a:ea typeface="Plus Jakarta Sans SemiBold"/>
                          <a:cs typeface="Plus Jakarta Sans SemiBold"/>
                          <a:sym typeface="Plus Jakarta Sans SemiBold"/>
                        </a:rPr>
                        <a:t>PCM (SCM Candidate)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20 - 50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500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10⁸–10⁹</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0 (Không hao phí)</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3"/>
                  </a:ext>
                </a:extLst>
              </a:tr>
              <a:tr h="426650">
                <a:tc>
                  <a:txBody>
                    <a:bodyPr/>
                    <a:lstStyle/>
                    <a:p>
                      <a:pPr marL="0" marR="0" lvl="0" indent="0" algn="l" rtl="0">
                        <a:spcBef>
                          <a:spcPts val="0"/>
                        </a:spcBef>
                        <a:spcAft>
                          <a:spcPts val="0"/>
                        </a:spcAft>
                        <a:buNone/>
                      </a:pPr>
                      <a:r>
                        <a:rPr lang="en-US" sz="1050" b="0" i="0" u="none" strike="noStrike" cap="none">
                          <a:solidFill>
                            <a:srgbClr val="6366F1"/>
                          </a:solidFill>
                          <a:latin typeface="Plus Jakarta Sans SemiBold"/>
                          <a:ea typeface="Plus Jakarta Sans SemiBold"/>
                          <a:cs typeface="Plus Jakarta Sans SemiBold"/>
                          <a:sym typeface="Plus Jakarta Sans SemiBold"/>
                        </a:rPr>
                        <a:t>ReRAM (SCM Candidate)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4 - 10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10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50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SemiBold"/>
                          <a:ea typeface="Plus Jakarta Sans SemiBold"/>
                          <a:cs typeface="Plus Jakarta Sans SemiBold"/>
                          <a:sym typeface="Plus Jakarta Sans SemiBold"/>
                        </a:rPr>
                        <a:t>1011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0 (Không hao phí)</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429" name="Google Shape;429;p27"/>
          <p:cNvSpPr/>
          <p:nvPr/>
        </p:nvSpPr>
        <p:spPr>
          <a:xfrm>
            <a:off x="771525" y="2553741"/>
            <a:ext cx="2083444"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0" name="Google Shape;430;p27"/>
          <p:cNvSpPr/>
          <p:nvPr/>
        </p:nvSpPr>
        <p:spPr>
          <a:xfrm>
            <a:off x="2854969" y="2553741"/>
            <a:ext cx="1609873"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1" name="Google Shape;431;p27"/>
          <p:cNvSpPr/>
          <p:nvPr/>
        </p:nvSpPr>
        <p:spPr>
          <a:xfrm>
            <a:off x="4464843" y="2553741"/>
            <a:ext cx="156775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2" name="Google Shape;432;p27"/>
          <p:cNvSpPr/>
          <p:nvPr/>
        </p:nvSpPr>
        <p:spPr>
          <a:xfrm>
            <a:off x="6032599" y="2553741"/>
            <a:ext cx="152578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3" name="Google Shape;433;p27"/>
          <p:cNvSpPr/>
          <p:nvPr/>
        </p:nvSpPr>
        <p:spPr>
          <a:xfrm>
            <a:off x="7558385" y="2553741"/>
            <a:ext cx="1704528"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4" name="Google Shape;434;p27"/>
          <p:cNvSpPr/>
          <p:nvPr/>
        </p:nvSpPr>
        <p:spPr>
          <a:xfrm>
            <a:off x="9262913" y="2553741"/>
            <a:ext cx="2157561"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5" name="Google Shape;435;p27"/>
          <p:cNvSpPr txBox="1"/>
          <p:nvPr/>
        </p:nvSpPr>
        <p:spPr>
          <a:xfrm>
            <a:off x="1000125" y="4820394"/>
            <a:ext cx="10229850"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Lưu ý thực tế:</a:t>
            </a:r>
            <a:r>
              <a:rPr lang="en-US" sz="975" b="0" i="0" u="none" strike="noStrike" cap="none">
                <a:solidFill>
                  <a:srgbClr val="475569"/>
                </a:solidFill>
                <a:latin typeface="Plus Jakarta Sans"/>
                <a:ea typeface="Plus Jakarta Sans"/>
                <a:cs typeface="Plus Jakarta Sans"/>
                <a:sym typeface="Plus Jakarta Sans"/>
              </a:rPr>
              <a:t> Thử nghiệm đo đạc thực tế của bộ nhớ Intel Optane (dựa trên PCM) cho thấy độ trễ đọc ngẫu nhiên rơi vào khoảng </a:t>
            </a:r>
            <a:r>
              <a:rPr lang="en-US" sz="975" b="1" i="0" u="none" strike="noStrike" cap="none">
                <a:solidFill>
                  <a:srgbClr val="475569"/>
                </a:solidFill>
                <a:latin typeface="Plus Jakarta Sans"/>
                <a:ea typeface="Plus Jakarta Sans"/>
                <a:cs typeface="Plus Jakarta Sans"/>
                <a:sym typeface="Plus Jakarta Sans"/>
              </a:rPr>
              <a:t>~305 ns</a:t>
            </a:r>
            <a:r>
              <a:rPr lang="en-US" sz="975" b="0" i="0" u="none" strike="noStrike" cap="none">
                <a:solidFill>
                  <a:srgbClr val="475569"/>
                </a:solidFill>
                <a:latin typeface="Plus Jakarta Sans"/>
                <a:ea typeface="Plus Jakarta Sans"/>
                <a:cs typeface="Plus Jakarta Sans"/>
                <a:sym typeface="Plus Jakarta Sans"/>
              </a:rPr>
              <a:t>. Sự chênh lệch này là do các rào cản từ giao thức bus phần cứng hệ thống và thuật toán kiểm tra lỗi (ECC) hoạt động song song.</a:t>
            </a:r>
            <a:endParaRPr/>
          </a:p>
        </p:txBody>
      </p:sp>
      <p:sp>
        <p:nvSpPr>
          <p:cNvPr id="436" name="Google Shape;436;p27"/>
          <p:cNvSpPr/>
          <p:nvPr/>
        </p:nvSpPr>
        <p:spPr>
          <a:xfrm>
            <a:off x="771525" y="3002905"/>
            <a:ext cx="208344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7" name="Google Shape;437;p27"/>
          <p:cNvSpPr/>
          <p:nvPr/>
        </p:nvSpPr>
        <p:spPr>
          <a:xfrm>
            <a:off x="2854969" y="3002905"/>
            <a:ext cx="160987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8" name="Google Shape;438;p27"/>
          <p:cNvSpPr/>
          <p:nvPr/>
        </p:nvSpPr>
        <p:spPr>
          <a:xfrm>
            <a:off x="4464843" y="3002905"/>
            <a:ext cx="156775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9" name="Google Shape;439;p27"/>
          <p:cNvSpPr/>
          <p:nvPr/>
        </p:nvSpPr>
        <p:spPr>
          <a:xfrm>
            <a:off x="6032599" y="3002905"/>
            <a:ext cx="152578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0" name="Google Shape;440;p27"/>
          <p:cNvSpPr/>
          <p:nvPr/>
        </p:nvSpPr>
        <p:spPr>
          <a:xfrm>
            <a:off x="7558385" y="3002905"/>
            <a:ext cx="170452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1" name="Google Shape;441;p27"/>
          <p:cNvSpPr/>
          <p:nvPr/>
        </p:nvSpPr>
        <p:spPr>
          <a:xfrm>
            <a:off x="9262913" y="3002905"/>
            <a:ext cx="215756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2" name="Google Shape;442;p27"/>
          <p:cNvSpPr/>
          <p:nvPr/>
        </p:nvSpPr>
        <p:spPr>
          <a:xfrm>
            <a:off x="771525" y="3412480"/>
            <a:ext cx="208344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3" name="Google Shape;443;p27"/>
          <p:cNvSpPr/>
          <p:nvPr/>
        </p:nvSpPr>
        <p:spPr>
          <a:xfrm>
            <a:off x="2854969" y="3412480"/>
            <a:ext cx="160987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4" name="Google Shape;444;p27"/>
          <p:cNvSpPr/>
          <p:nvPr/>
        </p:nvSpPr>
        <p:spPr>
          <a:xfrm>
            <a:off x="4464843" y="3412480"/>
            <a:ext cx="156775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5" name="Google Shape;445;p27"/>
          <p:cNvSpPr/>
          <p:nvPr/>
        </p:nvSpPr>
        <p:spPr>
          <a:xfrm>
            <a:off x="6032599" y="3412480"/>
            <a:ext cx="152578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6" name="Google Shape;446;p27"/>
          <p:cNvSpPr/>
          <p:nvPr/>
        </p:nvSpPr>
        <p:spPr>
          <a:xfrm>
            <a:off x="7558385" y="3412480"/>
            <a:ext cx="170452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7" name="Google Shape;447;p27"/>
          <p:cNvSpPr/>
          <p:nvPr/>
        </p:nvSpPr>
        <p:spPr>
          <a:xfrm>
            <a:off x="9262913" y="3412480"/>
            <a:ext cx="215756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8" name="Google Shape;448;p27"/>
          <p:cNvSpPr/>
          <p:nvPr/>
        </p:nvSpPr>
        <p:spPr>
          <a:xfrm>
            <a:off x="771525" y="3847355"/>
            <a:ext cx="208344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27"/>
          <p:cNvSpPr/>
          <p:nvPr/>
        </p:nvSpPr>
        <p:spPr>
          <a:xfrm>
            <a:off x="2854969" y="3847355"/>
            <a:ext cx="160987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0" name="Google Shape;450;p27"/>
          <p:cNvSpPr/>
          <p:nvPr/>
        </p:nvSpPr>
        <p:spPr>
          <a:xfrm>
            <a:off x="4464843" y="3847355"/>
            <a:ext cx="156775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1" name="Google Shape;451;p27"/>
          <p:cNvSpPr/>
          <p:nvPr/>
        </p:nvSpPr>
        <p:spPr>
          <a:xfrm>
            <a:off x="6032599" y="3847355"/>
            <a:ext cx="152578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27"/>
          <p:cNvSpPr/>
          <p:nvPr/>
        </p:nvSpPr>
        <p:spPr>
          <a:xfrm>
            <a:off x="7558385" y="3847355"/>
            <a:ext cx="170452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p27"/>
          <p:cNvSpPr/>
          <p:nvPr/>
        </p:nvSpPr>
        <p:spPr>
          <a:xfrm>
            <a:off x="9262913" y="3847355"/>
            <a:ext cx="215756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4" name="Google Shape;454;p27"/>
          <p:cNvSpPr/>
          <p:nvPr/>
        </p:nvSpPr>
        <p:spPr>
          <a:xfrm>
            <a:off x="771525" y="4282231"/>
            <a:ext cx="208344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27"/>
          <p:cNvSpPr/>
          <p:nvPr/>
        </p:nvSpPr>
        <p:spPr>
          <a:xfrm>
            <a:off x="2854969" y="4282231"/>
            <a:ext cx="160987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6" name="Google Shape;456;p27"/>
          <p:cNvSpPr/>
          <p:nvPr/>
        </p:nvSpPr>
        <p:spPr>
          <a:xfrm>
            <a:off x="4464843" y="4282231"/>
            <a:ext cx="156775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7" name="Google Shape;457;p27"/>
          <p:cNvSpPr/>
          <p:nvPr/>
        </p:nvSpPr>
        <p:spPr>
          <a:xfrm>
            <a:off x="6032599" y="4282231"/>
            <a:ext cx="152578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8" name="Google Shape;458;p27"/>
          <p:cNvSpPr/>
          <p:nvPr/>
        </p:nvSpPr>
        <p:spPr>
          <a:xfrm>
            <a:off x="7558385" y="4282231"/>
            <a:ext cx="170452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9" name="Google Shape;459;p27"/>
          <p:cNvSpPr/>
          <p:nvPr/>
        </p:nvSpPr>
        <p:spPr>
          <a:xfrm>
            <a:off x="9262913" y="4282231"/>
            <a:ext cx="2157561"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0" name="Google Shape;460;p27"/>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So Sánh Định Lượng Giữa SCM Và Các Công Nghệ Truyền Thống</a:t>
            </a:r>
            <a:endParaRPr/>
          </a:p>
        </p:txBody>
      </p:sp>
      <p:sp>
        <p:nvSpPr>
          <p:cNvPr id="461" name="Google Shape;461;p27"/>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pic>
        <p:nvPicPr>
          <p:cNvPr id="466" name="Google Shape;466;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67" name="Google Shape;467;p28" descr="image.png"/>
          <p:cNvPicPr preferRelativeResize="0"/>
          <p:nvPr/>
        </p:nvPicPr>
        <p:blipFill rotWithShape="1">
          <a:blip r:embed="rId4">
            <a:alphaModFix/>
          </a:blip>
          <a:srcRect/>
          <a:stretch/>
        </p:blipFill>
        <p:spPr>
          <a:xfrm>
            <a:off x="771525" y="2055465"/>
            <a:ext cx="2490787" cy="3459360"/>
          </a:xfrm>
          <a:prstGeom prst="rect">
            <a:avLst/>
          </a:prstGeom>
          <a:noFill/>
          <a:ln>
            <a:noFill/>
          </a:ln>
        </p:spPr>
      </p:pic>
      <p:pic>
        <p:nvPicPr>
          <p:cNvPr id="468" name="Google Shape;468;p28" descr="image.png"/>
          <p:cNvPicPr preferRelativeResize="0"/>
          <p:nvPr/>
        </p:nvPicPr>
        <p:blipFill rotWithShape="1">
          <a:blip r:embed="rId5">
            <a:alphaModFix/>
          </a:blip>
          <a:srcRect/>
          <a:stretch/>
        </p:blipFill>
        <p:spPr>
          <a:xfrm>
            <a:off x="3490912" y="2055465"/>
            <a:ext cx="2490787" cy="3459360"/>
          </a:xfrm>
          <a:prstGeom prst="rect">
            <a:avLst/>
          </a:prstGeom>
          <a:noFill/>
          <a:ln>
            <a:noFill/>
          </a:ln>
        </p:spPr>
      </p:pic>
      <p:pic>
        <p:nvPicPr>
          <p:cNvPr id="469" name="Google Shape;469;p28" descr="image.png"/>
          <p:cNvPicPr preferRelativeResize="0"/>
          <p:nvPr/>
        </p:nvPicPr>
        <p:blipFill rotWithShape="1">
          <a:blip r:embed="rId5">
            <a:alphaModFix/>
          </a:blip>
          <a:srcRect/>
          <a:stretch/>
        </p:blipFill>
        <p:spPr>
          <a:xfrm>
            <a:off x="6210300" y="2055465"/>
            <a:ext cx="2490787" cy="3459360"/>
          </a:xfrm>
          <a:prstGeom prst="rect">
            <a:avLst/>
          </a:prstGeom>
          <a:noFill/>
          <a:ln>
            <a:noFill/>
          </a:ln>
        </p:spPr>
      </p:pic>
      <p:pic>
        <p:nvPicPr>
          <p:cNvPr id="470" name="Google Shape;470;p28" descr="image.png"/>
          <p:cNvPicPr preferRelativeResize="0"/>
          <p:nvPr/>
        </p:nvPicPr>
        <p:blipFill rotWithShape="1">
          <a:blip r:embed="rId5">
            <a:alphaModFix/>
          </a:blip>
          <a:srcRect/>
          <a:stretch/>
        </p:blipFill>
        <p:spPr>
          <a:xfrm>
            <a:off x="8929687" y="2055465"/>
            <a:ext cx="2490787" cy="3459360"/>
          </a:xfrm>
          <a:prstGeom prst="rect">
            <a:avLst/>
          </a:prstGeom>
          <a:noFill/>
          <a:ln>
            <a:noFill/>
          </a:ln>
        </p:spPr>
      </p:pic>
      <p:sp>
        <p:nvSpPr>
          <p:cNvPr id="471" name="Google Shape;471;p28"/>
          <p:cNvSpPr txBox="1"/>
          <p:nvPr/>
        </p:nvSpPr>
        <p:spPr>
          <a:xfrm>
            <a:off x="1066800" y="2350740"/>
            <a:ext cx="1995249"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1. Wear-Leveling</a:t>
            </a:r>
            <a:endParaRPr/>
          </a:p>
        </p:txBody>
      </p:sp>
      <p:sp>
        <p:nvSpPr>
          <p:cNvPr id="472" name="Google Shape;472;p28"/>
          <p:cNvSpPr txBox="1"/>
          <p:nvPr/>
        </p:nvSpPr>
        <p:spPr>
          <a:xfrm>
            <a:off x="1066800" y="2684115"/>
            <a:ext cx="1900237" cy="7923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Phân phối đồng đều áp lực ghi dữ liệu lên toàn bộ mảng silicon để ngăn ngừa lỗi phá hủy tế bào cục bộ.</a:t>
            </a:r>
            <a:endParaRPr/>
          </a:p>
        </p:txBody>
      </p:sp>
      <p:sp>
        <p:nvSpPr>
          <p:cNvPr id="473" name="Google Shape;473;p28"/>
          <p:cNvSpPr txBox="1"/>
          <p:nvPr/>
        </p:nvSpPr>
        <p:spPr>
          <a:xfrm>
            <a:off x="3786187" y="2350740"/>
            <a:ext cx="1995249"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2. Error Correction</a:t>
            </a:r>
            <a:endParaRPr/>
          </a:p>
        </p:txBody>
      </p:sp>
      <p:sp>
        <p:nvSpPr>
          <p:cNvPr id="474" name="Google Shape;474;p28"/>
          <p:cNvSpPr txBox="1"/>
          <p:nvPr/>
        </p:nvSpPr>
        <p:spPr>
          <a:xfrm>
            <a:off x="3786187" y="2684115"/>
            <a:ext cx="1900237" cy="7923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SCM yêu cầu thuật toán sửa lỗi phần cứng đa cấp cực kỳ phức tạp để quản lý các trạng thái đa bit.</a:t>
            </a:r>
            <a:endParaRPr/>
          </a:p>
        </p:txBody>
      </p:sp>
      <p:sp>
        <p:nvSpPr>
          <p:cNvPr id="475" name="Google Shape;475;p28"/>
          <p:cNvSpPr txBox="1"/>
          <p:nvPr/>
        </p:nvSpPr>
        <p:spPr>
          <a:xfrm>
            <a:off x="6505575" y="2350740"/>
            <a:ext cx="1995249"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3. Tối ưu hiệu năng ghi</a:t>
            </a:r>
            <a:endParaRPr/>
          </a:p>
        </p:txBody>
      </p:sp>
      <p:sp>
        <p:nvSpPr>
          <p:cNvPr id="476" name="Google Shape;476;p28"/>
          <p:cNvSpPr txBox="1"/>
          <p:nvPr/>
        </p:nvSpPr>
        <p:spPr>
          <a:xfrm>
            <a:off x="6505575" y="2922240"/>
            <a:ext cx="1900237" cy="594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Giảm thiểu rào cản độ trễ lớn của quá trình chuyển trạng thái tinh thể vật liệu.</a:t>
            </a:r>
            <a:endParaRPr/>
          </a:p>
        </p:txBody>
      </p:sp>
      <p:sp>
        <p:nvSpPr>
          <p:cNvPr id="477" name="Google Shape;477;p28"/>
          <p:cNvSpPr txBox="1"/>
          <p:nvPr/>
        </p:nvSpPr>
        <p:spPr>
          <a:xfrm>
            <a:off x="9224962" y="2350740"/>
            <a:ext cx="1995249"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4. Bảo vệ chống Drift</a:t>
            </a:r>
            <a:endParaRPr/>
          </a:p>
        </p:txBody>
      </p:sp>
      <p:sp>
        <p:nvSpPr>
          <p:cNvPr id="478" name="Google Shape;478;p28"/>
          <p:cNvSpPr txBox="1"/>
          <p:nvPr/>
        </p:nvSpPr>
        <p:spPr>
          <a:xfrm>
            <a:off x="9224962" y="2684115"/>
            <a:ext cx="1900237" cy="594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Xây dựng cơ chế chống hiện tượng tự trôi điện trở theo thời gian của trạng thái vô định hình.</a:t>
            </a:r>
            <a:endParaRPr/>
          </a:p>
        </p:txBody>
      </p:sp>
      <p:sp>
        <p:nvSpPr>
          <p:cNvPr id="479" name="Google Shape;479;p28"/>
          <p:cNvSpPr txBox="1"/>
          <p:nvPr/>
        </p:nvSpPr>
        <p:spPr>
          <a:xfrm>
            <a:off x="1295400" y="3619351"/>
            <a:ext cx="1671637"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ECP:</a:t>
            </a:r>
            <a:r>
              <a:rPr lang="en-US" sz="1125" b="0" i="0" u="none" strike="noStrike" cap="none">
                <a:solidFill>
                  <a:srgbClr val="475569"/>
                </a:solidFill>
                <a:latin typeface="Plus Jakarta Sans"/>
                <a:ea typeface="Plus Jakarta Sans"/>
                <a:cs typeface="Plus Jakarta Sans"/>
                <a:sym typeface="Plus Jakarta Sans"/>
              </a:rPr>
              <a:t> Thêm mảng con trỏ sửa lỗi ghi dự phòng.</a:t>
            </a:r>
            <a:endParaRPr/>
          </a:p>
        </p:txBody>
      </p:sp>
      <p:sp>
        <p:nvSpPr>
          <p:cNvPr id="480" name="Google Shape;480;p28"/>
          <p:cNvSpPr txBox="1"/>
          <p:nvPr/>
        </p:nvSpPr>
        <p:spPr>
          <a:xfrm>
            <a:off x="1295400" y="4190851"/>
            <a:ext cx="1671637"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EPAC:</a:t>
            </a:r>
            <a:r>
              <a:rPr lang="en-US" sz="1125" b="0" i="0" u="none" strike="noStrike" cap="none">
                <a:solidFill>
                  <a:srgbClr val="475569"/>
                </a:solidFill>
                <a:latin typeface="Plus Jakarta Sans"/>
                <a:ea typeface="Plus Jakarta Sans"/>
                <a:cs typeface="Plus Jakarta Sans"/>
                <a:sym typeface="Plus Jakarta Sans"/>
              </a:rPr>
              <a:t> Thuật toán hoán đổi địa chỉ ngẫu nhiên.</a:t>
            </a:r>
            <a:endParaRPr/>
          </a:p>
        </p:txBody>
      </p:sp>
      <p:sp>
        <p:nvSpPr>
          <p:cNvPr id="481" name="Google Shape;481;p28"/>
          <p:cNvSpPr txBox="1"/>
          <p:nvPr/>
        </p:nvSpPr>
        <p:spPr>
          <a:xfrm>
            <a:off x="4014787" y="3619351"/>
            <a:ext cx="1671637"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Thiết kế mã ECC đa cấp tối ưu riêng cho MLC PCM.</a:t>
            </a:r>
            <a:endParaRPr/>
          </a:p>
        </p:txBody>
      </p:sp>
      <p:sp>
        <p:nvSpPr>
          <p:cNvPr id="482" name="Google Shape;482;p28"/>
          <p:cNvSpPr txBox="1"/>
          <p:nvPr/>
        </p:nvSpPr>
        <p:spPr>
          <a:xfrm>
            <a:off x="4014787" y="4419451"/>
            <a:ext cx="1671637"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Khả năng tự động cô lập điểm lỗi cứng trên mảng nhớ.</a:t>
            </a:r>
            <a:endParaRPr/>
          </a:p>
        </p:txBody>
      </p:sp>
      <p:sp>
        <p:nvSpPr>
          <p:cNvPr id="483" name="Google Shape;483;p28"/>
          <p:cNvSpPr txBox="1"/>
          <p:nvPr/>
        </p:nvSpPr>
        <p:spPr>
          <a:xfrm>
            <a:off x="6734175" y="3659385"/>
            <a:ext cx="1671637"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PreSET:</a:t>
            </a:r>
            <a:r>
              <a:rPr lang="en-US" sz="1125" b="0" i="0" u="none" strike="noStrike" cap="none">
                <a:solidFill>
                  <a:srgbClr val="475569"/>
                </a:solidFill>
                <a:latin typeface="Plus Jakarta Sans"/>
                <a:ea typeface="Plus Jakarta Sans"/>
                <a:cs typeface="Plus Jakarta Sans"/>
                <a:sym typeface="Plus Jakarta Sans"/>
              </a:rPr>
              <a:t> Nạp sẵn năng lượng dòng điện hỗ trợ.</a:t>
            </a:r>
            <a:endParaRPr/>
          </a:p>
        </p:txBody>
      </p:sp>
      <p:sp>
        <p:nvSpPr>
          <p:cNvPr id="484" name="Google Shape;484;p28"/>
          <p:cNvSpPr txBox="1"/>
          <p:nvPr/>
        </p:nvSpPr>
        <p:spPr>
          <a:xfrm>
            <a:off x="6734175" y="4230885"/>
            <a:ext cx="1671637"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MaxPB:</a:t>
            </a:r>
            <a:r>
              <a:rPr lang="en-US" sz="1125" b="0" i="0" u="none" strike="noStrike" cap="none">
                <a:solidFill>
                  <a:srgbClr val="475569"/>
                </a:solidFill>
                <a:latin typeface="Plus Jakarta Sans"/>
                <a:ea typeface="Plus Jakarta Sans"/>
                <a:cs typeface="Plus Jakarta Sans"/>
                <a:sym typeface="Plus Jakarta Sans"/>
              </a:rPr>
              <a:t> Phép song song hóa ghi cấp trang độc lập.</a:t>
            </a:r>
            <a:endParaRPr/>
          </a:p>
        </p:txBody>
      </p:sp>
      <p:sp>
        <p:nvSpPr>
          <p:cNvPr id="485" name="Google Shape;485;p28"/>
          <p:cNvSpPr txBox="1"/>
          <p:nvPr/>
        </p:nvSpPr>
        <p:spPr>
          <a:xfrm>
            <a:off x="9453562" y="3421260"/>
            <a:ext cx="1671637"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Guardband:</a:t>
            </a:r>
            <a:r>
              <a:rPr lang="en-US" sz="1125" b="0" i="0" u="none" strike="noStrike" cap="none">
                <a:solidFill>
                  <a:srgbClr val="475569"/>
                </a:solidFill>
                <a:latin typeface="Plus Jakarta Sans"/>
                <a:ea typeface="Plus Jakarta Sans"/>
                <a:cs typeface="Plus Jakarta Sans"/>
                <a:sym typeface="Plus Jakarta Sans"/>
              </a:rPr>
              <a:t> Thiết lập vùng đệm điện trở biên an toàn.</a:t>
            </a:r>
            <a:endParaRPr/>
          </a:p>
        </p:txBody>
      </p:sp>
      <p:sp>
        <p:nvSpPr>
          <p:cNvPr id="486" name="Google Shape;486;p28"/>
          <p:cNvSpPr txBox="1"/>
          <p:nvPr/>
        </p:nvSpPr>
        <p:spPr>
          <a:xfrm>
            <a:off x="9453562" y="4221360"/>
            <a:ext cx="1671637"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Thuật toán tự động hiệu chuẩn điện trở định kỳ.</a:t>
            </a:r>
            <a:endParaRPr/>
          </a:p>
        </p:txBody>
      </p:sp>
      <p:sp>
        <p:nvSpPr>
          <p:cNvPr id="487" name="Google Shape;487;p28"/>
          <p:cNvSpPr txBox="1"/>
          <p:nvPr/>
        </p:nvSpPr>
        <p:spPr>
          <a:xfrm>
            <a:off x="1066800" y="3619351"/>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88" name="Google Shape;488;p28"/>
          <p:cNvSpPr txBox="1"/>
          <p:nvPr/>
        </p:nvSpPr>
        <p:spPr>
          <a:xfrm>
            <a:off x="1066800" y="4190851"/>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89" name="Google Shape;489;p28"/>
          <p:cNvSpPr txBox="1"/>
          <p:nvPr/>
        </p:nvSpPr>
        <p:spPr>
          <a:xfrm>
            <a:off x="3786187" y="3619351"/>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0" name="Google Shape;490;p28"/>
          <p:cNvSpPr txBox="1"/>
          <p:nvPr/>
        </p:nvSpPr>
        <p:spPr>
          <a:xfrm>
            <a:off x="3786187" y="4419451"/>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1" name="Google Shape;491;p28"/>
          <p:cNvSpPr txBox="1"/>
          <p:nvPr/>
        </p:nvSpPr>
        <p:spPr>
          <a:xfrm>
            <a:off x="6505575" y="365938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2" name="Google Shape;492;p28"/>
          <p:cNvSpPr txBox="1"/>
          <p:nvPr/>
        </p:nvSpPr>
        <p:spPr>
          <a:xfrm>
            <a:off x="6505575" y="423088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3" name="Google Shape;493;p28"/>
          <p:cNvSpPr txBox="1"/>
          <p:nvPr/>
        </p:nvSpPr>
        <p:spPr>
          <a:xfrm>
            <a:off x="9224962" y="3421260"/>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4" name="Google Shape;494;p28"/>
          <p:cNvSpPr txBox="1"/>
          <p:nvPr/>
        </p:nvSpPr>
        <p:spPr>
          <a:xfrm>
            <a:off x="9224962" y="4221360"/>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495" name="Google Shape;495;p28"/>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Các Hướng Nghiên Cứu Tối Ưu Hóa Storage-Class Memory</a:t>
            </a:r>
            <a:endParaRPr/>
          </a:p>
        </p:txBody>
      </p:sp>
      <p:sp>
        <p:nvSpPr>
          <p:cNvPr id="496" name="Google Shape;496;p28"/>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pic>
        <p:nvPicPr>
          <p:cNvPr id="501" name="Google Shape;501;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02" name="Google Shape;502;p29" descr="image.png"/>
          <p:cNvPicPr preferRelativeResize="0"/>
          <p:nvPr/>
        </p:nvPicPr>
        <p:blipFill rotWithShape="1">
          <a:blip r:embed="rId4">
            <a:alphaModFix/>
          </a:blip>
          <a:srcRect/>
          <a:stretch/>
        </p:blipFill>
        <p:spPr>
          <a:xfrm>
            <a:off x="6381750" y="1975395"/>
            <a:ext cx="5038725" cy="3619500"/>
          </a:xfrm>
          <a:prstGeom prst="rect">
            <a:avLst/>
          </a:prstGeom>
          <a:noFill/>
          <a:ln>
            <a:noFill/>
          </a:ln>
        </p:spPr>
      </p:pic>
      <p:sp>
        <p:nvSpPr>
          <p:cNvPr id="503" name="Google Shape;503;p29"/>
          <p:cNvSpPr txBox="1"/>
          <p:nvPr/>
        </p:nvSpPr>
        <p:spPr>
          <a:xfrm>
            <a:off x="771525" y="2632620"/>
            <a:ext cx="52906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E293B"/>
                </a:solidFill>
                <a:latin typeface="Plus Jakarta Sans SemiBold"/>
                <a:ea typeface="Plus Jakarta Sans SemiBold"/>
                <a:cs typeface="Plus Jakarta Sans SemiBold"/>
                <a:sym typeface="Plus Jakarta Sans SemiBold"/>
              </a:rPr>
              <a:t>Sản phẩm SCM thương mại thực tế đầu tiên</a:t>
            </a:r>
            <a:endParaRPr/>
          </a:p>
        </p:txBody>
      </p:sp>
      <p:sp>
        <p:nvSpPr>
          <p:cNvPr id="504" name="Google Shape;504;p29"/>
          <p:cNvSpPr txBox="1"/>
          <p:nvPr/>
        </p:nvSpPr>
        <p:spPr>
          <a:xfrm>
            <a:off x="771525" y="2965995"/>
            <a:ext cx="50387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Được phát triển dựa trên cấu trúc liên kết </a:t>
            </a:r>
            <a:r>
              <a:rPr lang="en-US" sz="1125" b="1" i="0" u="none" strike="noStrike" cap="none">
                <a:solidFill>
                  <a:srgbClr val="475569"/>
                </a:solidFill>
                <a:latin typeface="Plus Jakarta Sans"/>
                <a:ea typeface="Plus Jakarta Sans"/>
                <a:cs typeface="Plus Jakarta Sans"/>
                <a:sym typeface="Plus Jakarta Sans"/>
              </a:rPr>
              <a:t>3D XPoint</a:t>
            </a:r>
            <a:r>
              <a:rPr lang="en-US" sz="1125" b="0" i="0" u="none" strike="noStrike" cap="none">
                <a:solidFill>
                  <a:srgbClr val="475569"/>
                </a:solidFill>
                <a:latin typeface="Plus Jakarta Sans"/>
                <a:ea typeface="Plus Jakarta Sans"/>
                <a:cs typeface="Plus Jakarta Sans"/>
                <a:sym typeface="Plus Jakarta Sans"/>
              </a:rPr>
              <a:t> bí mật (thực chất là một nhánh cải tiến của công nghệ Phase Change Memory).</a:t>
            </a:r>
            <a:endParaRPr/>
          </a:p>
        </p:txBody>
      </p:sp>
      <p:sp>
        <p:nvSpPr>
          <p:cNvPr id="505" name="Google Shape;505;p29"/>
          <p:cNvSpPr txBox="1"/>
          <p:nvPr/>
        </p:nvSpPr>
        <p:spPr>
          <a:xfrm>
            <a:off x="1000125" y="3537495"/>
            <a:ext cx="48101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Giao diện phần cứng:</a:t>
            </a:r>
            <a:r>
              <a:rPr lang="en-US" sz="1125" b="0" i="0" u="none" strike="noStrike" cap="none">
                <a:solidFill>
                  <a:srgbClr val="475569"/>
                </a:solidFill>
                <a:latin typeface="Plus Jakarta Sans"/>
                <a:ea typeface="Plus Jakarta Sans"/>
                <a:cs typeface="Plus Jakarta Sans"/>
                <a:sym typeface="Plus Jakarta Sans"/>
              </a:rPr>
              <a:t> Kết nối trực tiếp qua khe DIMM vật lý của DRAM thông qua giao thức chuẩn hóa </a:t>
            </a:r>
            <a:r>
              <a:rPr lang="en-US" sz="1125" b="1" i="0" u="none" strike="noStrike" cap="none">
                <a:solidFill>
                  <a:srgbClr val="475569"/>
                </a:solidFill>
                <a:latin typeface="Plus Jakarta Sans"/>
                <a:ea typeface="Plus Jakarta Sans"/>
                <a:cs typeface="Plus Jakarta Sans"/>
                <a:sym typeface="Plus Jakarta Sans"/>
              </a:rPr>
              <a:t>DDR-T</a:t>
            </a:r>
            <a:r>
              <a:rPr lang="en-US" sz="1125" b="0" i="0" u="none" strike="noStrike" cap="none">
                <a:solidFill>
                  <a:srgbClr val="475569"/>
                </a:solidFill>
                <a:latin typeface="Plus Jakarta Sans"/>
                <a:ea typeface="Plus Jakarta Sans"/>
                <a:cs typeface="Plus Jakarta Sans"/>
                <a:sym typeface="Plus Jakarta Sans"/>
              </a:rPr>
              <a:t>.</a:t>
            </a:r>
            <a:endParaRPr/>
          </a:p>
        </p:txBody>
      </p:sp>
      <p:sp>
        <p:nvSpPr>
          <p:cNvPr id="506" name="Google Shape;506;p29"/>
          <p:cNvSpPr txBox="1"/>
          <p:nvPr/>
        </p:nvSpPr>
        <p:spPr>
          <a:xfrm>
            <a:off x="1000125" y="4108995"/>
            <a:ext cx="48101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Phân đoạn đọc ghi tối thiểu:</a:t>
            </a:r>
            <a:r>
              <a:rPr lang="en-US" sz="1125" b="0" i="0" u="none" strike="noStrike" cap="none">
                <a:solidFill>
                  <a:srgbClr val="475569"/>
                </a:solidFill>
                <a:latin typeface="Plus Jakarta Sans"/>
                <a:ea typeface="Plus Jakarta Sans"/>
                <a:cs typeface="Plus Jakarta Sans"/>
                <a:sym typeface="Plus Jakarta Sans"/>
              </a:rPr>
              <a:t> Hoạt động nội bộ ở phân mảnh 256-Byte (khác hoàn toàn với cache line 64-Byte của CPU hiện đại), đòi hỏi các kỹ sư phần mềm phải thiết kế căn chỉnh dữ liệu cực kỳ chi tiết.</a:t>
            </a:r>
            <a:endParaRPr/>
          </a:p>
        </p:txBody>
      </p:sp>
      <p:pic>
        <p:nvPicPr>
          <p:cNvPr id="507" name="Google Shape;507;p29" descr="image.png"/>
          <p:cNvPicPr preferRelativeResize="0"/>
          <p:nvPr/>
        </p:nvPicPr>
        <p:blipFill rotWithShape="1">
          <a:blip r:embed="rId5">
            <a:alphaModFix/>
          </a:blip>
          <a:srcRect/>
          <a:stretch/>
        </p:blipFill>
        <p:spPr>
          <a:xfrm>
            <a:off x="6391275" y="1984920"/>
            <a:ext cx="5019675" cy="3600450"/>
          </a:xfrm>
          <a:prstGeom prst="rect">
            <a:avLst/>
          </a:prstGeom>
          <a:noFill/>
          <a:ln>
            <a:noFill/>
          </a:ln>
        </p:spPr>
      </p:pic>
      <p:sp>
        <p:nvSpPr>
          <p:cNvPr id="508" name="Google Shape;508;p29"/>
          <p:cNvSpPr txBox="1"/>
          <p:nvPr/>
        </p:nvSpPr>
        <p:spPr>
          <a:xfrm>
            <a:off x="771525" y="353749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509" name="Google Shape;509;p29"/>
          <p:cNvSpPr txBox="1"/>
          <p:nvPr/>
        </p:nvSpPr>
        <p:spPr>
          <a:xfrm>
            <a:off x="771525" y="410899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510" name="Google Shape;510;p29"/>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Case Study: Intel Optane DC Persistent Memory</a:t>
            </a:r>
            <a:endParaRPr/>
          </a:p>
        </p:txBody>
      </p:sp>
      <p:sp>
        <p:nvSpPr>
          <p:cNvPr id="511" name="Google Shape;511;p29"/>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512" name="Table 511"/>
          <p:cNvGraphicFramePr>
            <a:graphicFrameLocks noGrp="1"/>
          </p:cNvGraphicFramePr>
          <p:nvPr/>
        </p:nvGraphicFramePr>
        <p:xfrm>
          <a:off x="768096" y="4892040"/>
          <a:ext cx="5038344" cy="15544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46504">
                  <a:extLst>
                    <a:ext uri="{9D8B030D-6E8A-4147-A177-3AD203B41FA5}">
                      <a16:colId xmlns:a16="http://schemas.microsoft.com/office/drawing/2014/main" val="20002"/>
                    </a:ext>
                  </a:extLst>
                </a:gridCol>
              </a:tblGrid>
              <a:tr h="518160">
                <a:tc>
                  <a:txBody>
                    <a:bodyPr/>
                    <a:lstStyle/>
                    <a:p>
                      <a:r>
                        <a:rPr sz="900" b="1">
                          <a:solidFill>
                            <a:srgbClr val="FFFFFF"/>
                          </a:solidFill>
                        </a:rPr>
                        <a:t>Chế độ</a:t>
                      </a:r>
                    </a:p>
                  </a:txBody>
                  <a:tcPr>
                    <a:solidFill>
                      <a:srgbClr val="1E408F"/>
                    </a:solidFill>
                  </a:tcPr>
                </a:tc>
                <a:tc>
                  <a:txBody>
                    <a:bodyPr/>
                    <a:lstStyle/>
                    <a:p>
                      <a:r>
                        <a:rPr sz="900" b="1">
                          <a:solidFill>
                            <a:srgbClr val="FFFFFF"/>
                          </a:solidFill>
                        </a:rPr>
                        <a:t>Đặc điểm</a:t>
                      </a:r>
                    </a:p>
                  </a:txBody>
                  <a:tcPr>
                    <a:solidFill>
                      <a:srgbClr val="1E408F"/>
                    </a:solidFill>
                  </a:tcPr>
                </a:tc>
                <a:tc>
                  <a:txBody>
                    <a:bodyPr/>
                    <a:lstStyle/>
                    <a:p>
                      <a:r>
                        <a:rPr sz="900" b="1">
                          <a:solidFill>
                            <a:srgbClr val="FFFFFF"/>
                          </a:solidFill>
                        </a:rPr>
                        <a:t>Phù hợp cho</a:t>
                      </a:r>
                    </a:p>
                  </a:txBody>
                  <a:tcPr>
                    <a:solidFill>
                      <a:srgbClr val="1E408F"/>
                    </a:solidFill>
                  </a:tcPr>
                </a:tc>
                <a:extLst>
                  <a:ext uri="{0D108BD9-81ED-4DB2-BD59-A6C34878D82A}">
                    <a16:rowId xmlns:a16="http://schemas.microsoft.com/office/drawing/2014/main" val="10000"/>
                  </a:ext>
                </a:extLst>
              </a:tr>
              <a:tr h="518160">
                <a:tc>
                  <a:txBody>
                    <a:bodyPr/>
                    <a:lstStyle/>
                    <a:p>
                      <a:r>
                        <a:rPr sz="800" b="1"/>
                        <a:t>Memory Mode</a:t>
                      </a:r>
                    </a:p>
                  </a:txBody>
                  <a:tcPr/>
                </a:tc>
                <a:tc>
                  <a:txBody>
                    <a:bodyPr/>
                    <a:lstStyle/>
                    <a:p>
                      <a:r>
                        <a:rPr sz="800" b="0"/>
                        <a:t>DRAM làm cache; Optane mở rộng RAM; dữ liệu bay khi mất điện</a:t>
                      </a:r>
                    </a:p>
                  </a:txBody>
                  <a:tcPr/>
                </a:tc>
                <a:tc>
                  <a:txBody>
                    <a:bodyPr/>
                    <a:lstStyle/>
                    <a:p>
                      <a:r>
                        <a:rPr sz="800" b="0"/>
                        <a:t>Tăng dung lượng RAM không cần persistence</a:t>
                      </a:r>
                    </a:p>
                  </a:txBody>
                  <a:tcPr/>
                </a:tc>
                <a:extLst>
                  <a:ext uri="{0D108BD9-81ED-4DB2-BD59-A6C34878D82A}">
                    <a16:rowId xmlns:a16="http://schemas.microsoft.com/office/drawing/2014/main" val="10001"/>
                  </a:ext>
                </a:extLst>
              </a:tr>
              <a:tr h="518160">
                <a:tc>
                  <a:txBody>
                    <a:bodyPr/>
                    <a:lstStyle/>
                    <a:p>
                      <a:r>
                        <a:rPr sz="800" b="1"/>
                        <a:t>App Direct Mode</a:t>
                      </a:r>
                    </a:p>
                  </a:txBody>
                  <a:tcPr/>
                </a:tc>
                <a:tc>
                  <a:txBody>
                    <a:bodyPr/>
                    <a:lstStyle/>
                    <a:p>
                      <a:r>
                        <a:rPr sz="800" b="0"/>
                        <a:t>Truy cập trực tiếp; không DRAM cache; dùng sfence/clwb để đảm bảo nhất quán</a:t>
                      </a:r>
                    </a:p>
                  </a:txBody>
                  <a:tcPr/>
                </a:tc>
                <a:tc>
                  <a:txBody>
                    <a:bodyPr/>
                    <a:lstStyle/>
                    <a:p>
                      <a:r>
                        <a:rPr sz="800" b="0"/>
                        <a:t>Persistent data structures, database</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5"/>
        <p:cNvGrpSpPr/>
        <p:nvPr/>
      </p:nvGrpSpPr>
      <p:grpSpPr>
        <a:xfrm>
          <a:off x="0" y="0"/>
          <a:ext cx="0" cy="0"/>
          <a:chOff x="0" y="0"/>
          <a:chExt cx="0" cy="0"/>
        </a:xfrm>
      </p:grpSpPr>
      <p:pic>
        <p:nvPicPr>
          <p:cNvPr id="516" name="Google Shape;516;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17" name="Google Shape;517;p30" descr="image.png"/>
          <p:cNvPicPr preferRelativeResize="0"/>
          <p:nvPr/>
        </p:nvPicPr>
        <p:blipFill rotWithShape="1">
          <a:blip r:embed="rId4">
            <a:alphaModFix/>
          </a:blip>
          <a:srcRect/>
          <a:stretch/>
        </p:blipFill>
        <p:spPr>
          <a:xfrm>
            <a:off x="771525" y="5233987"/>
            <a:ext cx="10648950" cy="579090"/>
          </a:xfrm>
          <a:prstGeom prst="rect">
            <a:avLst/>
          </a:prstGeom>
          <a:noFill/>
          <a:ln>
            <a:noFill/>
          </a:ln>
        </p:spPr>
      </p:pic>
      <p:sp>
        <p:nvSpPr>
          <p:cNvPr id="518" name="Google Shape;518;p30"/>
          <p:cNvSpPr txBox="1"/>
          <p:nvPr/>
        </p:nvSpPr>
        <p:spPr>
          <a:xfrm>
            <a:off x="771525" y="1757362"/>
            <a:ext cx="10648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Kết quả nghiên cứu thực nghiệm độc lập kéo dài hơn 330 giờ đo đạc chi tiết của giáo sư </a:t>
            </a:r>
            <a:r>
              <a:rPr lang="en-US" sz="1125" b="0" i="1" u="none" strike="noStrike" cap="none">
                <a:solidFill>
                  <a:srgbClr val="475569"/>
                </a:solidFill>
                <a:latin typeface="Plus Jakarta Sans"/>
                <a:ea typeface="Plus Jakarta Sans"/>
                <a:cs typeface="Plus Jakarta Sans"/>
                <a:sym typeface="Plus Jakarta Sans"/>
              </a:rPr>
              <a:t>Izraelevitz và các cộng sự (2019)</a:t>
            </a:r>
            <a:r>
              <a:rPr lang="en-US" sz="1125" b="0" i="0" u="none" strike="noStrike" cap="none">
                <a:solidFill>
                  <a:srgbClr val="475569"/>
                </a:solidFill>
                <a:latin typeface="Plus Jakarta Sans"/>
                <a:ea typeface="Plus Jakarta Sans"/>
                <a:cs typeface="Plus Jakarta Sans"/>
                <a:sym typeface="Plus Jakarta Sans"/>
              </a:rPr>
              <a:t> chỉ ra hành vi thực tế:</a:t>
            </a:r>
            <a:endParaRPr/>
          </a:p>
        </p:txBody>
      </p:sp>
      <p:graphicFrame>
        <p:nvGraphicFramePr>
          <p:cNvPr id="519" name="Google Shape;519;p30"/>
          <p:cNvGraphicFramePr/>
          <p:nvPr/>
        </p:nvGraphicFramePr>
        <p:xfrm>
          <a:off x="771525" y="2128837"/>
          <a:ext cx="3000000" cy="3000000"/>
        </p:xfrm>
        <a:graphic>
          <a:graphicData uri="http://schemas.openxmlformats.org/drawingml/2006/table">
            <a:tbl>
              <a:tblPr firstRow="1" bandRow="1">
                <a:noFill/>
                <a:tableStyleId>{DF3C2146-B867-4D5D-ABA1-988120CD81A7}</a:tableStyleId>
              </a:tblPr>
              <a:tblGrid>
                <a:gridCol w="2406100">
                  <a:extLst>
                    <a:ext uri="{9D8B030D-6E8A-4147-A177-3AD203B41FA5}">
                      <a16:colId xmlns:a16="http://schemas.microsoft.com/office/drawing/2014/main" val="20000"/>
                    </a:ext>
                  </a:extLst>
                </a:gridCol>
                <a:gridCol w="1519100">
                  <a:extLst>
                    <a:ext uri="{9D8B030D-6E8A-4147-A177-3AD203B41FA5}">
                      <a16:colId xmlns:a16="http://schemas.microsoft.com/office/drawing/2014/main" val="20001"/>
                    </a:ext>
                  </a:extLst>
                </a:gridCol>
                <a:gridCol w="2181975">
                  <a:extLst>
                    <a:ext uri="{9D8B030D-6E8A-4147-A177-3AD203B41FA5}">
                      <a16:colId xmlns:a16="http://schemas.microsoft.com/office/drawing/2014/main" val="20002"/>
                    </a:ext>
                  </a:extLst>
                </a:gridCol>
                <a:gridCol w="4541775">
                  <a:extLst>
                    <a:ext uri="{9D8B030D-6E8A-4147-A177-3AD203B41FA5}">
                      <a16:colId xmlns:a16="http://schemas.microsoft.com/office/drawing/2014/main" val="20003"/>
                    </a:ext>
                  </a:extLst>
                </a:gridCol>
              </a:tblGrid>
              <a:tr h="582925">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Thông số kiểm thử hiệu năng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DRAM Hệ thống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6366F1"/>
                          </a:solidFill>
                          <a:latin typeface="Plus Jakarta Sans SemiBold"/>
                          <a:ea typeface="Plus Jakarta Sans SemiBold"/>
                          <a:cs typeface="Plus Jakarta Sans SemiBold"/>
                          <a:sym typeface="Plus Jakarta Sans SemiBold"/>
                        </a:rPr>
                        <a:t>Intel Optane (App Direct Mode)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Đánh giá kỹ thuật từ nhóm nghiên cứu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58292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Random Read Latency (Độ trễ đọc)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~81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DC2626"/>
                          </a:solidFill>
                          <a:latin typeface="Plus Jakarta Sans SemiBold"/>
                          <a:ea typeface="Plus Jakarta Sans SemiBold"/>
                          <a:cs typeface="Plus Jakarta Sans SemiBold"/>
                          <a:sym typeface="Plus Jakarta Sans SemiBold"/>
                        </a:rPr>
                        <a:t>~305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Chậm hơn DRAM khoảng 3-4 lần do gánh nặng ECC phần cứng.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292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Random Write Latency (Độ trễ ghi)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~81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10B981"/>
                          </a:solidFill>
                          <a:latin typeface="Plus Jakarta Sans SemiBold"/>
                          <a:ea typeface="Plus Jakarta Sans SemiBold"/>
                          <a:cs typeface="Plus Jakarta Sans SemiBold"/>
                          <a:sym typeface="Plus Jakarta Sans SemiBold"/>
                        </a:rPr>
                        <a:t>~94 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Hiệu năng ghi cực kỳ ấn tượng nhờ bộ nhớ đệm pin nội bộ XPBuffer.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8292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Tính bất đối xứng Đọc / Ghi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Hoàn toàn cân bằng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6366F1"/>
                          </a:solidFill>
                          <a:latin typeface="Plus Jakarta Sans SemiBold"/>
                          <a:ea typeface="Plus Jakarta Sans SemiBold"/>
                          <a:cs typeface="Plus Jakarta Sans SemiBold"/>
                          <a:sym typeface="Plus Jakarta Sans SemiBold"/>
                        </a:rPr>
                        <a:t>Ghi nhanh hơn Đọc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Đảo ngược hoàn toàn</a:t>
                      </a:r>
                      <a:r>
                        <a:rPr lang="en-US" sz="1050" b="0" i="0" u="none" strike="noStrike" cap="none">
                          <a:solidFill>
                            <a:srgbClr val="475569"/>
                          </a:solidFill>
                          <a:latin typeface="Plus Jakarta Sans"/>
                          <a:ea typeface="Plus Jakarta Sans"/>
                          <a:cs typeface="Plus Jakarta Sans"/>
                          <a:sym typeface="Plus Jakarta Sans"/>
                        </a:rPr>
                        <a:t> so với nguyên lý Flash NAND (Đọc nhanh, Ghi chậm).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8292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Băng thông đọc tuần tự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Cực cao (~100 GB/s)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Thấp hơn DRAM 2 - 3x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Đạt hiệu suất tối đa khi sử dụng nhiều luồng song song (Multi-threaded).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20" name="Google Shape;520;p30"/>
          <p:cNvSpPr/>
          <p:nvPr/>
        </p:nvSpPr>
        <p:spPr>
          <a:xfrm>
            <a:off x="771525" y="2690812"/>
            <a:ext cx="2406104"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1" name="Google Shape;521;p30"/>
          <p:cNvSpPr/>
          <p:nvPr/>
        </p:nvSpPr>
        <p:spPr>
          <a:xfrm>
            <a:off x="3177629" y="2690812"/>
            <a:ext cx="1519088"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2" name="Google Shape;522;p30"/>
          <p:cNvSpPr/>
          <p:nvPr/>
        </p:nvSpPr>
        <p:spPr>
          <a:xfrm>
            <a:off x="4696717" y="2690812"/>
            <a:ext cx="2181969"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3" name="Google Shape;523;p30"/>
          <p:cNvSpPr/>
          <p:nvPr/>
        </p:nvSpPr>
        <p:spPr>
          <a:xfrm>
            <a:off x="6878687" y="2690812"/>
            <a:ext cx="4541787"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4" name="Google Shape;524;p30"/>
          <p:cNvSpPr txBox="1"/>
          <p:nvPr/>
        </p:nvSpPr>
        <p:spPr>
          <a:xfrm>
            <a:off x="1000125" y="5424487"/>
            <a:ext cx="1022985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Phát hiện khoa học:</a:t>
            </a:r>
            <a:r>
              <a:rPr lang="en-US" sz="975" b="0" i="0" u="none" strike="noStrike" cap="none">
                <a:solidFill>
                  <a:srgbClr val="475569"/>
                </a:solidFill>
                <a:latin typeface="Plus Jakarta Sans"/>
                <a:ea typeface="Plus Jakarta Sans"/>
                <a:cs typeface="Plus Jakarta Sans"/>
                <a:sym typeface="Plus Jakarta Sans"/>
              </a:rPr>
              <a:t> Việc giả lập bộ nhớ phi khả biến bằng phần mềm trên nền DRAM hoàn toàn </a:t>
            </a:r>
            <a:r>
              <a:rPr lang="en-US" sz="975" b="1" i="0" u="none" strike="noStrike" cap="none">
                <a:solidFill>
                  <a:srgbClr val="475569"/>
                </a:solidFill>
                <a:latin typeface="Plus Jakarta Sans"/>
                <a:ea typeface="Plus Jakarta Sans"/>
                <a:cs typeface="Plus Jakarta Sans"/>
                <a:sym typeface="Plus Jakarta Sans"/>
              </a:rPr>
              <a:t>không tái hiện chính xác</a:t>
            </a:r>
            <a:r>
              <a:rPr lang="en-US" sz="975" b="0" i="0" u="none" strike="noStrike" cap="none">
                <a:solidFill>
                  <a:srgbClr val="475569"/>
                </a:solidFill>
                <a:latin typeface="Plus Jakarta Sans"/>
                <a:ea typeface="Plus Jakarta Sans"/>
                <a:cs typeface="Plus Jakarta Sans"/>
                <a:sym typeface="Plus Jakarta Sans"/>
              </a:rPr>
              <a:t> được các hành vi vật lý bất đối xứng của linh kiện thực tế.</a:t>
            </a:r>
            <a:endParaRPr/>
          </a:p>
        </p:txBody>
      </p:sp>
      <p:sp>
        <p:nvSpPr>
          <p:cNvPr id="525" name="Google Shape;525;p30"/>
          <p:cNvSpPr/>
          <p:nvPr/>
        </p:nvSpPr>
        <p:spPr>
          <a:xfrm>
            <a:off x="771525" y="3286125"/>
            <a:ext cx="240610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6" name="Google Shape;526;p30"/>
          <p:cNvSpPr/>
          <p:nvPr/>
        </p:nvSpPr>
        <p:spPr>
          <a:xfrm>
            <a:off x="3177629" y="3286125"/>
            <a:ext cx="151908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7" name="Google Shape;527;p30"/>
          <p:cNvSpPr/>
          <p:nvPr/>
        </p:nvSpPr>
        <p:spPr>
          <a:xfrm>
            <a:off x="4696717" y="3286125"/>
            <a:ext cx="218196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8" name="Google Shape;528;p30"/>
          <p:cNvSpPr/>
          <p:nvPr/>
        </p:nvSpPr>
        <p:spPr>
          <a:xfrm>
            <a:off x="6878687" y="3286125"/>
            <a:ext cx="4541787"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9" name="Google Shape;529;p30"/>
          <p:cNvSpPr/>
          <p:nvPr/>
        </p:nvSpPr>
        <p:spPr>
          <a:xfrm>
            <a:off x="771525" y="3867150"/>
            <a:ext cx="240610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0" name="Google Shape;530;p30"/>
          <p:cNvSpPr/>
          <p:nvPr/>
        </p:nvSpPr>
        <p:spPr>
          <a:xfrm>
            <a:off x="3177629" y="3867150"/>
            <a:ext cx="151908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1" name="Google Shape;531;p30"/>
          <p:cNvSpPr/>
          <p:nvPr/>
        </p:nvSpPr>
        <p:spPr>
          <a:xfrm>
            <a:off x="4696717" y="3867150"/>
            <a:ext cx="218196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2" name="Google Shape;532;p30"/>
          <p:cNvSpPr/>
          <p:nvPr/>
        </p:nvSpPr>
        <p:spPr>
          <a:xfrm>
            <a:off x="6878687" y="3867150"/>
            <a:ext cx="4541787"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3" name="Google Shape;533;p30"/>
          <p:cNvSpPr/>
          <p:nvPr/>
        </p:nvSpPr>
        <p:spPr>
          <a:xfrm>
            <a:off x="771525" y="4448175"/>
            <a:ext cx="240610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4" name="Google Shape;534;p30"/>
          <p:cNvSpPr/>
          <p:nvPr/>
        </p:nvSpPr>
        <p:spPr>
          <a:xfrm>
            <a:off x="3177629" y="4448175"/>
            <a:ext cx="151908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5" name="Google Shape;535;p30"/>
          <p:cNvSpPr/>
          <p:nvPr/>
        </p:nvSpPr>
        <p:spPr>
          <a:xfrm>
            <a:off x="4696717" y="4448175"/>
            <a:ext cx="218196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6" name="Google Shape;536;p30"/>
          <p:cNvSpPr/>
          <p:nvPr/>
        </p:nvSpPr>
        <p:spPr>
          <a:xfrm>
            <a:off x="6878687" y="4448175"/>
            <a:ext cx="4541787"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7" name="Google Shape;537;p30"/>
          <p:cNvSpPr/>
          <p:nvPr/>
        </p:nvSpPr>
        <p:spPr>
          <a:xfrm>
            <a:off x="771525" y="5029200"/>
            <a:ext cx="2406104"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8" name="Google Shape;538;p30"/>
          <p:cNvSpPr/>
          <p:nvPr/>
        </p:nvSpPr>
        <p:spPr>
          <a:xfrm>
            <a:off x="3177629" y="5029200"/>
            <a:ext cx="1519088"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9" name="Google Shape;539;p30"/>
          <p:cNvSpPr/>
          <p:nvPr/>
        </p:nvSpPr>
        <p:spPr>
          <a:xfrm>
            <a:off x="4696717" y="5029200"/>
            <a:ext cx="218196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0" name="Google Shape;540;p30"/>
          <p:cNvSpPr/>
          <p:nvPr/>
        </p:nvSpPr>
        <p:spPr>
          <a:xfrm>
            <a:off x="6878687" y="5029200"/>
            <a:ext cx="4541787"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1" name="Google Shape;541;p30"/>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Kết Quả Đo Đạc Thực Tế Module Intel Optane (TL3)</a:t>
            </a:r>
            <a:endParaRPr/>
          </a:p>
        </p:txBody>
      </p:sp>
      <p:sp>
        <p:nvSpPr>
          <p:cNvPr id="542" name="Google Shape;542;p30"/>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6"/>
        <p:cNvGrpSpPr/>
        <p:nvPr/>
      </p:nvGrpSpPr>
      <p:grpSpPr>
        <a:xfrm>
          <a:off x="0" y="0"/>
          <a:ext cx="0" cy="0"/>
          <a:chOff x="0" y="0"/>
          <a:chExt cx="0" cy="0"/>
        </a:xfrm>
      </p:grpSpPr>
      <p:pic>
        <p:nvPicPr>
          <p:cNvPr id="547" name="Google Shape;54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48" name="Google Shape;548;p31" descr="image.png"/>
          <p:cNvPicPr preferRelativeResize="0"/>
          <p:nvPr/>
        </p:nvPicPr>
        <p:blipFill rotWithShape="1">
          <a:blip r:embed="rId4">
            <a:alphaModFix/>
          </a:blip>
          <a:srcRect/>
          <a:stretch/>
        </p:blipFill>
        <p:spPr>
          <a:xfrm>
            <a:off x="771525" y="4916983"/>
            <a:ext cx="10648950" cy="609600"/>
          </a:xfrm>
          <a:prstGeom prst="rect">
            <a:avLst/>
          </a:prstGeom>
          <a:noFill/>
          <a:ln>
            <a:noFill/>
          </a:ln>
        </p:spPr>
      </p:pic>
      <p:graphicFrame>
        <p:nvGraphicFramePr>
          <p:cNvPr id="549" name="Google Shape;549;p31"/>
          <p:cNvGraphicFramePr/>
          <p:nvPr/>
        </p:nvGraphicFramePr>
        <p:xfrm>
          <a:off x="771525" y="2043707"/>
          <a:ext cx="3000000" cy="3000000"/>
        </p:xfrm>
        <a:graphic>
          <a:graphicData uri="http://schemas.openxmlformats.org/drawingml/2006/table">
            <a:tbl>
              <a:tblPr firstRow="1" bandRow="1">
                <a:noFill/>
                <a:tableStyleId>{DF3C2146-B867-4D5D-ABA1-988120CD81A7}</a:tableStyleId>
              </a:tblPr>
              <a:tblGrid>
                <a:gridCol w="2496000">
                  <a:extLst>
                    <a:ext uri="{9D8B030D-6E8A-4147-A177-3AD203B41FA5}">
                      <a16:colId xmlns:a16="http://schemas.microsoft.com/office/drawing/2014/main" val="20000"/>
                    </a:ext>
                  </a:extLst>
                </a:gridCol>
                <a:gridCol w="874650">
                  <a:extLst>
                    <a:ext uri="{9D8B030D-6E8A-4147-A177-3AD203B41FA5}">
                      <a16:colId xmlns:a16="http://schemas.microsoft.com/office/drawing/2014/main" val="20001"/>
                    </a:ext>
                  </a:extLst>
                </a:gridCol>
                <a:gridCol w="1842800">
                  <a:extLst>
                    <a:ext uri="{9D8B030D-6E8A-4147-A177-3AD203B41FA5}">
                      <a16:colId xmlns:a16="http://schemas.microsoft.com/office/drawing/2014/main" val="20002"/>
                    </a:ext>
                  </a:extLst>
                </a:gridCol>
                <a:gridCol w="1632800">
                  <a:extLst>
                    <a:ext uri="{9D8B030D-6E8A-4147-A177-3AD203B41FA5}">
                      <a16:colId xmlns:a16="http://schemas.microsoft.com/office/drawing/2014/main" val="20003"/>
                    </a:ext>
                  </a:extLst>
                </a:gridCol>
                <a:gridCol w="2087750">
                  <a:extLst>
                    <a:ext uri="{9D8B030D-6E8A-4147-A177-3AD203B41FA5}">
                      <a16:colId xmlns:a16="http://schemas.microsoft.com/office/drawing/2014/main" val="20004"/>
                    </a:ext>
                  </a:extLst>
                </a:gridCol>
                <a:gridCol w="1714950">
                  <a:extLst>
                    <a:ext uri="{9D8B030D-6E8A-4147-A177-3AD203B41FA5}">
                      <a16:colId xmlns:a16="http://schemas.microsoft.com/office/drawing/2014/main" val="20005"/>
                    </a:ext>
                  </a:extLst>
                </a:gridCol>
              </a:tblGrid>
              <a:tr h="415375">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Đặc tính vật lý</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0" i="0" u="none" strike="noStrike" cap="none">
                          <a:solidFill>
                            <a:srgbClr val="0F172A"/>
                          </a:solidFill>
                          <a:latin typeface="Plus Jakarta Sans SemiBold"/>
                          <a:ea typeface="Plus Jakarta Sans SemiBold"/>
                          <a:cs typeface="Plus Jakarta Sans SemiBold"/>
                          <a:sym typeface="Plus Jakarta Sans SemiBold"/>
                        </a:rPr>
                        <a:t>DRAM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050" b="0" i="0" u="none" strike="noStrike" cap="none">
                          <a:solidFill>
                            <a:srgbClr val="4F46E5"/>
                          </a:solidFill>
                          <a:latin typeface="Plus Jakarta Sans SemiBold"/>
                          <a:ea typeface="Plus Jakarta Sans SemiBold"/>
                          <a:cs typeface="Plus Jakarta Sans SemiBold"/>
                          <a:sym typeface="Plus Jakarta Sans SemiBold"/>
                        </a:rPr>
                        <a:t>PCM (SCM)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7FF"/>
                    </a:solidFill>
                  </a:tcPr>
                </a:tc>
                <a:tc>
                  <a:txBody>
                    <a:bodyPr/>
                    <a:lstStyle/>
                    <a:p>
                      <a:pPr marL="0" marR="0" lvl="0" indent="0" algn="l" rtl="0">
                        <a:spcBef>
                          <a:spcPts val="0"/>
                        </a:spcBef>
                        <a:spcAft>
                          <a:spcPts val="0"/>
                        </a:spcAft>
                        <a:buNone/>
                      </a:pPr>
                      <a:r>
                        <a:rPr lang="en-US" sz="1050" b="0" i="0" u="none" strike="noStrike" cap="none">
                          <a:solidFill>
                            <a:srgbClr val="4F46E5"/>
                          </a:solidFill>
                          <a:latin typeface="Plus Jakarta Sans SemiBold"/>
                          <a:ea typeface="Plus Jakarta Sans SemiBold"/>
                          <a:cs typeface="Plus Jakarta Sans SemiBold"/>
                          <a:sym typeface="Plus Jakarta Sans SemiBold"/>
                        </a:rPr>
                        <a:t>ReRAM (SCM)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7FF"/>
                    </a:solidFill>
                  </a:tcPr>
                </a:tc>
                <a:tc>
                  <a:txBody>
                    <a:bodyPr/>
                    <a:lstStyle/>
                    <a:p>
                      <a:pPr marL="0" marR="0" lvl="0" indent="0" algn="l" rtl="0">
                        <a:spcBef>
                          <a:spcPts val="0"/>
                        </a:spcBef>
                        <a:spcAft>
                          <a:spcPts val="0"/>
                        </a:spcAft>
                        <a:buNone/>
                      </a:pPr>
                      <a:r>
                        <a:rPr lang="en-US" sz="1050" b="0" i="0" u="none" strike="noStrike" cap="none">
                          <a:solidFill>
                            <a:srgbClr val="4F46E5"/>
                          </a:solidFill>
                          <a:latin typeface="Plus Jakarta Sans SemiBold"/>
                          <a:ea typeface="Plus Jakarta Sans SemiBold"/>
                          <a:cs typeface="Plus Jakarta Sans SemiBold"/>
                          <a:sym typeface="Plus Jakarta Sans SemiBold"/>
                        </a:rPr>
                        <a:t>Intel Optane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7FF"/>
                    </a:solidFill>
                  </a:tcPr>
                </a:tc>
                <a:tc>
                  <a:txBody>
                    <a:bodyPr/>
                    <a:lstStyle/>
                    <a:p>
                      <a:pPr marL="0" marR="0" lvl="0" indent="0" algn="l" rtl="0">
                        <a:spcBef>
                          <a:spcPts val="0"/>
                        </a:spcBef>
                        <a:spcAft>
                          <a:spcPts val="0"/>
                        </a:spcAft>
                        <a:buNone/>
                      </a:pPr>
                      <a:r>
                        <a:rPr lang="en-US" sz="1050" b="0" i="0" u="none" strike="noStrike" cap="none">
                          <a:solidFill>
                            <a:srgbClr val="B91C1C"/>
                          </a:solidFill>
                          <a:latin typeface="Plus Jakarta Sans SemiBold"/>
                          <a:ea typeface="Plus Jakarta Sans SemiBold"/>
                          <a:cs typeface="Plus Jakarta Sans SemiBold"/>
                          <a:sym typeface="Plus Jakarta Sans SemiBold"/>
                        </a:rPr>
                        <a:t>NAND Flash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2E2"/>
                    </a:solidFill>
                  </a:tcPr>
                </a:tc>
                <a:extLst>
                  <a:ext uri="{0D108BD9-81ED-4DB2-BD59-A6C34878D82A}">
                    <a16:rowId xmlns:a16="http://schemas.microsoft.com/office/drawing/2014/main" val="10000"/>
                  </a:ext>
                </a:extLst>
              </a:tr>
              <a:tr h="41537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Khả năng giữ điện (Volatile)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537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Truy cập địa chỉ Byte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 (Block I/O)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1537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Kích thước ô nhớ vật lý (F²)</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4 - 10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~4 (Cấu trúc 3D XPoint)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1537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Yêu cầu linh kiện Selector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1T1C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Bắt buộc hoàn toàn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Tùy chọn thiết kế</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Có (Dùng OTS)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Không bắt buộc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15375">
                <a:tc>
                  <a:txBody>
                    <a:bodyPr/>
                    <a:lstStyle/>
                    <a:p>
                      <a:pPr marL="0" marR="0" lvl="0" indent="0" algn="l" rtl="0">
                        <a:spcBef>
                          <a:spcPts val="0"/>
                        </a:spcBef>
                        <a:spcAft>
                          <a:spcPts val="0"/>
                        </a:spcAft>
                        <a:buNone/>
                      </a:pPr>
                      <a:r>
                        <a:rPr lang="en-US" sz="1050" b="1" i="0" u="none" strike="noStrike" cap="none">
                          <a:solidFill>
                            <a:srgbClr val="475569"/>
                          </a:solidFill>
                          <a:latin typeface="Plus Jakarta Sans"/>
                          <a:ea typeface="Plus Jakarta Sans"/>
                          <a:cs typeface="Plus Jakarta Sans"/>
                          <a:sym typeface="Plus Jakarta Sans"/>
                        </a:rPr>
                        <a:t>Độ bền ghi giới hạn (Chu kỳ)</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Vô hạn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10⁸–10⁹</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~10⁶–10⁷</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050" b="0" i="0" u="none" strike="noStrike" cap="none">
                          <a:solidFill>
                            <a:srgbClr val="475569"/>
                          </a:solidFill>
                          <a:latin typeface="Plus Jakarta Sans"/>
                          <a:ea typeface="Plus Jakarta Sans"/>
                          <a:cs typeface="Plus Jakarta Sans"/>
                          <a:sym typeface="Plus Jakarta Sans"/>
                        </a:rPr>
                        <a:t>10⁴–10⁵</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50" name="Google Shape;550;p31"/>
          <p:cNvSpPr/>
          <p:nvPr/>
        </p:nvSpPr>
        <p:spPr>
          <a:xfrm>
            <a:off x="771525" y="2434232"/>
            <a:ext cx="2495996"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1" name="Google Shape;551;p31"/>
          <p:cNvSpPr/>
          <p:nvPr/>
        </p:nvSpPr>
        <p:spPr>
          <a:xfrm>
            <a:off x="3267521" y="2434232"/>
            <a:ext cx="874662"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2" name="Google Shape;552;p31"/>
          <p:cNvSpPr/>
          <p:nvPr/>
        </p:nvSpPr>
        <p:spPr>
          <a:xfrm>
            <a:off x="4142184" y="2434232"/>
            <a:ext cx="1842789"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3" name="Google Shape;553;p31"/>
          <p:cNvSpPr/>
          <p:nvPr/>
        </p:nvSpPr>
        <p:spPr>
          <a:xfrm>
            <a:off x="5984974" y="2434232"/>
            <a:ext cx="1632793"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4" name="Google Shape;554;p31"/>
          <p:cNvSpPr/>
          <p:nvPr/>
        </p:nvSpPr>
        <p:spPr>
          <a:xfrm>
            <a:off x="7617767" y="2434232"/>
            <a:ext cx="208776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5" name="Google Shape;555;p31"/>
          <p:cNvSpPr/>
          <p:nvPr/>
        </p:nvSpPr>
        <p:spPr>
          <a:xfrm>
            <a:off x="9705528" y="2434232"/>
            <a:ext cx="1714946"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6" name="Google Shape;556;p31"/>
          <p:cNvSpPr txBox="1"/>
          <p:nvPr/>
        </p:nvSpPr>
        <p:spPr>
          <a:xfrm>
            <a:off x="1000125" y="5107483"/>
            <a:ext cx="10229850" cy="228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125" b="1" i="0" u="none" strike="noStrike" cap="none">
                <a:solidFill>
                  <a:srgbClr val="4F46E5"/>
                </a:solidFill>
                <a:latin typeface="Plus Jakarta Sans"/>
                <a:ea typeface="Plus Jakarta Sans"/>
                <a:cs typeface="Plus Jakarta Sans"/>
                <a:sym typeface="Plus Jakarta Sans"/>
              </a:rPr>
              <a:t>"Không tồn tại một công nghệ tối ưu hoàn hảo mọi mặt — Storage-Class Memory đại diện cho nghệ thuật đánh đổi vật lý có kiểm soát."</a:t>
            </a:r>
            <a:endParaRPr/>
          </a:p>
        </p:txBody>
      </p:sp>
      <p:sp>
        <p:nvSpPr>
          <p:cNvPr id="557" name="Google Shape;557;p31"/>
          <p:cNvSpPr/>
          <p:nvPr/>
        </p:nvSpPr>
        <p:spPr>
          <a:xfrm>
            <a:off x="771525" y="2858095"/>
            <a:ext cx="249599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8" name="Google Shape;558;p31"/>
          <p:cNvSpPr/>
          <p:nvPr/>
        </p:nvSpPr>
        <p:spPr>
          <a:xfrm>
            <a:off x="3267521" y="2858095"/>
            <a:ext cx="874662"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9" name="Google Shape;559;p31"/>
          <p:cNvSpPr/>
          <p:nvPr/>
        </p:nvSpPr>
        <p:spPr>
          <a:xfrm>
            <a:off x="4142184" y="2858095"/>
            <a:ext cx="184278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0" name="Google Shape;560;p31"/>
          <p:cNvSpPr/>
          <p:nvPr/>
        </p:nvSpPr>
        <p:spPr>
          <a:xfrm>
            <a:off x="5984974" y="2858095"/>
            <a:ext cx="163279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1" name="Google Shape;561;p31"/>
          <p:cNvSpPr/>
          <p:nvPr/>
        </p:nvSpPr>
        <p:spPr>
          <a:xfrm>
            <a:off x="7617767" y="2858095"/>
            <a:ext cx="208776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2" name="Google Shape;562;p31"/>
          <p:cNvSpPr/>
          <p:nvPr/>
        </p:nvSpPr>
        <p:spPr>
          <a:xfrm>
            <a:off x="9705528" y="2858095"/>
            <a:ext cx="171494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3" name="Google Shape;563;p31"/>
          <p:cNvSpPr/>
          <p:nvPr/>
        </p:nvSpPr>
        <p:spPr>
          <a:xfrm>
            <a:off x="771525" y="3267670"/>
            <a:ext cx="249599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4" name="Google Shape;564;p31"/>
          <p:cNvSpPr/>
          <p:nvPr/>
        </p:nvSpPr>
        <p:spPr>
          <a:xfrm>
            <a:off x="3267521" y="3267670"/>
            <a:ext cx="874662"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5" name="Google Shape;565;p31"/>
          <p:cNvSpPr/>
          <p:nvPr/>
        </p:nvSpPr>
        <p:spPr>
          <a:xfrm>
            <a:off x="4142184" y="3267670"/>
            <a:ext cx="184278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6" name="Google Shape;566;p31"/>
          <p:cNvSpPr/>
          <p:nvPr/>
        </p:nvSpPr>
        <p:spPr>
          <a:xfrm>
            <a:off x="5984974" y="3267670"/>
            <a:ext cx="163279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7" name="Google Shape;567;p31"/>
          <p:cNvSpPr/>
          <p:nvPr/>
        </p:nvSpPr>
        <p:spPr>
          <a:xfrm>
            <a:off x="7617767" y="3267670"/>
            <a:ext cx="208776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8" name="Google Shape;568;p31"/>
          <p:cNvSpPr/>
          <p:nvPr/>
        </p:nvSpPr>
        <p:spPr>
          <a:xfrm>
            <a:off x="9705528" y="3267670"/>
            <a:ext cx="171494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9" name="Google Shape;569;p31"/>
          <p:cNvSpPr/>
          <p:nvPr/>
        </p:nvSpPr>
        <p:spPr>
          <a:xfrm>
            <a:off x="771525" y="3677245"/>
            <a:ext cx="249599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0" name="Google Shape;570;p31"/>
          <p:cNvSpPr/>
          <p:nvPr/>
        </p:nvSpPr>
        <p:spPr>
          <a:xfrm>
            <a:off x="3267521" y="3677245"/>
            <a:ext cx="874662"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1" name="Google Shape;571;p31"/>
          <p:cNvSpPr/>
          <p:nvPr/>
        </p:nvSpPr>
        <p:spPr>
          <a:xfrm>
            <a:off x="4142184" y="3677245"/>
            <a:ext cx="184278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2" name="Google Shape;572;p31"/>
          <p:cNvSpPr/>
          <p:nvPr/>
        </p:nvSpPr>
        <p:spPr>
          <a:xfrm>
            <a:off x="5984974" y="3677245"/>
            <a:ext cx="163279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3" name="Google Shape;573;p31"/>
          <p:cNvSpPr/>
          <p:nvPr/>
        </p:nvSpPr>
        <p:spPr>
          <a:xfrm>
            <a:off x="7617767" y="3677245"/>
            <a:ext cx="208776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4" name="Google Shape;574;p31"/>
          <p:cNvSpPr/>
          <p:nvPr/>
        </p:nvSpPr>
        <p:spPr>
          <a:xfrm>
            <a:off x="9705528" y="3677245"/>
            <a:ext cx="171494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5" name="Google Shape;575;p31"/>
          <p:cNvSpPr/>
          <p:nvPr/>
        </p:nvSpPr>
        <p:spPr>
          <a:xfrm>
            <a:off x="771525" y="4086820"/>
            <a:ext cx="249599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6" name="Google Shape;576;p31"/>
          <p:cNvSpPr/>
          <p:nvPr/>
        </p:nvSpPr>
        <p:spPr>
          <a:xfrm>
            <a:off x="3267521" y="4086820"/>
            <a:ext cx="874662"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7" name="Google Shape;577;p31"/>
          <p:cNvSpPr/>
          <p:nvPr/>
        </p:nvSpPr>
        <p:spPr>
          <a:xfrm>
            <a:off x="4142184" y="4086820"/>
            <a:ext cx="184278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8" name="Google Shape;578;p31"/>
          <p:cNvSpPr/>
          <p:nvPr/>
        </p:nvSpPr>
        <p:spPr>
          <a:xfrm>
            <a:off x="5984974" y="4086820"/>
            <a:ext cx="163279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9" name="Google Shape;579;p31"/>
          <p:cNvSpPr/>
          <p:nvPr/>
        </p:nvSpPr>
        <p:spPr>
          <a:xfrm>
            <a:off x="7617767" y="4086820"/>
            <a:ext cx="208776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0" name="Google Shape;580;p31"/>
          <p:cNvSpPr/>
          <p:nvPr/>
        </p:nvSpPr>
        <p:spPr>
          <a:xfrm>
            <a:off x="9705528" y="4086820"/>
            <a:ext cx="171494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1" name="Google Shape;581;p31"/>
          <p:cNvSpPr/>
          <p:nvPr/>
        </p:nvSpPr>
        <p:spPr>
          <a:xfrm>
            <a:off x="771525" y="4521696"/>
            <a:ext cx="249599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p31"/>
          <p:cNvSpPr/>
          <p:nvPr/>
        </p:nvSpPr>
        <p:spPr>
          <a:xfrm>
            <a:off x="3267521" y="4521696"/>
            <a:ext cx="874662"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3" name="Google Shape;583;p31"/>
          <p:cNvSpPr/>
          <p:nvPr/>
        </p:nvSpPr>
        <p:spPr>
          <a:xfrm>
            <a:off x="4142184" y="4521696"/>
            <a:ext cx="184278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4" name="Google Shape;584;p31"/>
          <p:cNvSpPr/>
          <p:nvPr/>
        </p:nvSpPr>
        <p:spPr>
          <a:xfrm>
            <a:off x="5984974" y="4521696"/>
            <a:ext cx="1632793"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5" name="Google Shape;585;p31"/>
          <p:cNvSpPr/>
          <p:nvPr/>
        </p:nvSpPr>
        <p:spPr>
          <a:xfrm>
            <a:off x="7617767" y="4521696"/>
            <a:ext cx="208776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6" name="Google Shape;586;p31"/>
          <p:cNvSpPr/>
          <p:nvPr/>
        </p:nvSpPr>
        <p:spPr>
          <a:xfrm>
            <a:off x="9705528" y="4521696"/>
            <a:ext cx="1714946"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31"/>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Tổng Kết So Sánh Toàn Diện Các Công Nghệ Bộ Nhớ</a:t>
            </a:r>
            <a:endParaRPr/>
          </a:p>
        </p:txBody>
      </p:sp>
      <p:sp>
        <p:nvSpPr>
          <p:cNvPr id="588" name="Google Shape;588;p31"/>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2"/>
        <p:cNvGrpSpPr/>
        <p:nvPr/>
      </p:nvGrpSpPr>
      <p:grpSpPr>
        <a:xfrm>
          <a:off x="0" y="0"/>
          <a:ext cx="0" cy="0"/>
          <a:chOff x="0" y="0"/>
          <a:chExt cx="0" cy="0"/>
        </a:xfrm>
      </p:grpSpPr>
      <p:pic>
        <p:nvPicPr>
          <p:cNvPr id="593" name="Google Shape;593;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94" name="Google Shape;594;p32" descr="image.png"/>
          <p:cNvPicPr preferRelativeResize="0"/>
          <p:nvPr/>
        </p:nvPicPr>
        <p:blipFill rotWithShape="1">
          <a:blip r:embed="rId4">
            <a:alphaModFix/>
          </a:blip>
          <a:srcRect/>
          <a:stretch/>
        </p:blipFill>
        <p:spPr>
          <a:xfrm>
            <a:off x="6381750" y="2262187"/>
            <a:ext cx="5038725" cy="2095500"/>
          </a:xfrm>
          <a:prstGeom prst="rect">
            <a:avLst/>
          </a:prstGeom>
          <a:noFill/>
          <a:ln>
            <a:noFill/>
          </a:ln>
        </p:spPr>
      </p:pic>
      <p:sp>
        <p:nvSpPr>
          <p:cNvPr id="595" name="Google Shape;595;p32"/>
          <p:cNvSpPr txBox="1"/>
          <p:nvPr/>
        </p:nvSpPr>
        <p:spPr>
          <a:xfrm>
            <a:off x="6381750" y="4500562"/>
            <a:ext cx="5038725" cy="213270"/>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4338CA"/>
                </a:solidFill>
                <a:latin typeface="Plus Jakarta Sans SemiBold"/>
                <a:ea typeface="Plus Jakarta Sans SemiBold"/>
                <a:cs typeface="Plus Jakarta Sans SemiBold"/>
                <a:sym typeface="Plus Jakarta Sans SemiBold"/>
              </a:rPr>
              <a:t>Tương lai lai hóa bộ nhớ:</a:t>
            </a:r>
            <a:endParaRPr/>
          </a:p>
        </p:txBody>
      </p:sp>
      <p:sp>
        <p:nvSpPr>
          <p:cNvPr id="596" name="Google Shape;596;p32"/>
          <p:cNvSpPr txBox="1"/>
          <p:nvPr/>
        </p:nvSpPr>
        <p:spPr>
          <a:xfrm>
            <a:off x="6381750" y="4713833"/>
            <a:ext cx="5038725" cy="594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Thiết kế hệ thống lai (Hybrid Memory DRAM + SCM) song song với nghiên cứu kiến trúc tính toán trong bộ nhớ (ReRAM PIM) đang là hai mũi nhọn khoa học nhận được đầu tư mạnh mẽ nhất hiện nay.</a:t>
            </a:r>
            <a:endParaRPr/>
          </a:p>
        </p:txBody>
      </p:sp>
      <p:sp>
        <p:nvSpPr>
          <p:cNvPr id="597" name="Google Shape;597;p32"/>
          <p:cNvSpPr txBox="1"/>
          <p:nvPr/>
        </p:nvSpPr>
        <p:spPr>
          <a:xfrm>
            <a:off x="1000125" y="2727870"/>
            <a:ext cx="48101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PCM &amp; ReRAM hoàn toàn khả thi làm SCM:</a:t>
            </a:r>
            <a:r>
              <a:rPr lang="en-US" sz="1125" b="0" i="0" u="none" strike="noStrike" cap="none">
                <a:solidFill>
                  <a:srgbClr val="475569"/>
                </a:solidFill>
                <a:latin typeface="Plus Jakarta Sans"/>
                <a:ea typeface="Plus Jakarta Sans"/>
                <a:cs typeface="Plus Jakarta Sans"/>
                <a:sym typeface="Plus Jakarta Sans"/>
              </a:rPr>
              <a:t> PCM sở hữu sự chín muồi vượt bậc trong dây chuyền chế tạo công nghiệp, trong khi ReRAM chứng minh tiềm năng mật độ và cấu trúc đơn giản, tiết kiệm năng lượng hơn hẳn.</a:t>
            </a:r>
            <a:endParaRPr/>
          </a:p>
        </p:txBody>
      </p:sp>
      <p:sp>
        <p:nvSpPr>
          <p:cNvPr id="598" name="Google Shape;598;p32"/>
          <p:cNvSpPr txBox="1"/>
          <p:nvPr/>
        </p:nvSpPr>
        <p:spPr>
          <a:xfrm>
            <a:off x="1000125" y="3785145"/>
            <a:ext cx="48101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475569"/>
                </a:solidFill>
                <a:latin typeface="Plus Jakarta Sans"/>
                <a:ea typeface="Plus Jakarta Sans"/>
                <a:cs typeface="Plus Jakarta Sans"/>
                <a:sym typeface="Plus Jakarta Sans"/>
              </a:rPr>
              <a:t>Thực tế thương mại từ Intel Optane:</a:t>
            </a:r>
            <a:r>
              <a:rPr lang="en-US" sz="1125" b="0" i="0" u="none" strike="noStrike" cap="none">
                <a:solidFill>
                  <a:srgbClr val="475569"/>
                </a:solidFill>
                <a:latin typeface="Plus Jakarta Sans"/>
                <a:ea typeface="Plus Jakarta Sans"/>
                <a:cs typeface="Plus Jakarta Sans"/>
                <a:sym typeface="Plus Jakarta Sans"/>
              </a:rPr>
              <a:t> Chứng minh sự tồn tại thực tế của SCM nhưng cảnh báo các rào cản độ trễ hệ thống (~305 ns) cao hơn lý thuyết phòng thí nghiệm, đòi hỏi sự cải cách toàn diện từ hệ điều hành và trình biên dịch.</a:t>
            </a:r>
            <a:endParaRPr/>
          </a:p>
        </p:txBody>
      </p:sp>
      <p:pic>
        <p:nvPicPr>
          <p:cNvPr id="599" name="Google Shape;599;p32" descr="image.png"/>
          <p:cNvPicPr preferRelativeResize="0"/>
          <p:nvPr/>
        </p:nvPicPr>
        <p:blipFill rotWithShape="1">
          <a:blip r:embed="rId5">
            <a:alphaModFix/>
          </a:blip>
          <a:srcRect/>
          <a:stretch/>
        </p:blipFill>
        <p:spPr>
          <a:xfrm>
            <a:off x="6391275" y="2271712"/>
            <a:ext cx="5019675" cy="2076450"/>
          </a:xfrm>
          <a:prstGeom prst="rect">
            <a:avLst/>
          </a:prstGeom>
          <a:noFill/>
          <a:ln>
            <a:noFill/>
          </a:ln>
        </p:spPr>
      </p:pic>
      <p:sp>
        <p:nvSpPr>
          <p:cNvPr id="600" name="Google Shape;600;p32"/>
          <p:cNvSpPr txBox="1"/>
          <p:nvPr/>
        </p:nvSpPr>
        <p:spPr>
          <a:xfrm>
            <a:off x="771525" y="2727870"/>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601" name="Google Shape;601;p32"/>
          <p:cNvSpPr txBox="1"/>
          <p:nvPr/>
        </p:nvSpPr>
        <p:spPr>
          <a:xfrm>
            <a:off x="771525" y="3785145"/>
            <a:ext cx="14287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6366F1"/>
                </a:solidFill>
                <a:latin typeface="Plus Jakarta Sans"/>
                <a:ea typeface="Plus Jakarta Sans"/>
                <a:cs typeface="Plus Jakarta Sans"/>
                <a:sym typeface="Plus Jakarta Sans"/>
              </a:rPr>
              <a:t>→</a:t>
            </a:r>
            <a:endParaRPr/>
          </a:p>
        </p:txBody>
      </p:sp>
      <p:sp>
        <p:nvSpPr>
          <p:cNvPr id="602" name="Google Shape;602;p32"/>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Kết Luận và Định Hướng Phát Triển Tương Lai</a:t>
            </a:r>
            <a:endParaRPr/>
          </a:p>
        </p:txBody>
      </p:sp>
      <p:sp>
        <p:nvSpPr>
          <p:cNvPr id="603" name="Google Shape;603;p32"/>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TextBox 603"/>
          <p:cNvSpPr txBox="1"/>
          <p:nvPr/>
        </p:nvSpPr>
        <p:spPr>
          <a:xfrm>
            <a:off x="768096" y="5760720"/>
            <a:ext cx="10652760" cy="777240"/>
          </a:xfrm>
          <a:prstGeom prst="rect">
            <a:avLst/>
          </a:prstGeom>
          <a:noFill/>
        </p:spPr>
        <p:txBody>
          <a:bodyPr wrap="square">
            <a:spAutoFit/>
          </a:bodyPr>
          <a:lstStyle/>
          <a:p>
            <a:pPr algn="ctr"/>
            <a:r>
              <a:rPr sz="1100" i="1">
                <a:solidFill>
                  <a:srgbClr val="94A3B8"/>
                </a:solidFill>
              </a:rPr>
              <a:t>“NVM đang chuyển phân cấp bộ nhớ từ các tầng rời rạc thành một phổ liên tục — người thiết kế hệ thống có thêm lựa chọn nhưng cũng thêm phức tạp.”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7"/>
        <p:cNvGrpSpPr/>
        <p:nvPr/>
      </p:nvGrpSpPr>
      <p:grpSpPr>
        <a:xfrm>
          <a:off x="0" y="0"/>
          <a:ext cx="0" cy="0"/>
          <a:chOff x="0" y="0"/>
          <a:chExt cx="0" cy="0"/>
        </a:xfrm>
      </p:grpSpPr>
      <p:pic>
        <p:nvPicPr>
          <p:cNvPr id="608" name="Google Shape;608;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09" name="Google Shape;609;p33"/>
          <p:cNvSpPr txBox="1"/>
          <p:nvPr/>
        </p:nvSpPr>
        <p:spPr>
          <a:xfrm>
            <a:off x="866775" y="2908845"/>
            <a:ext cx="952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1.</a:t>
            </a:r>
            <a:endParaRPr/>
          </a:p>
        </p:txBody>
      </p:sp>
      <p:sp>
        <p:nvSpPr>
          <p:cNvPr id="610" name="Google Shape;610;p33"/>
          <p:cNvSpPr txBox="1"/>
          <p:nvPr/>
        </p:nvSpPr>
        <p:spPr>
          <a:xfrm>
            <a:off x="962025" y="2908845"/>
            <a:ext cx="10458450" cy="22860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H.-S. P. Wong et al., "Phase Change Memory," </a:t>
            </a:r>
            <a:r>
              <a:rPr lang="en-US" sz="1125" b="0" i="1" u="none" strike="noStrike" cap="none">
                <a:solidFill>
                  <a:srgbClr val="475569"/>
                </a:solidFill>
                <a:latin typeface="Plus Jakarta Sans"/>
                <a:ea typeface="Plus Jakarta Sans"/>
                <a:cs typeface="Plus Jakarta Sans"/>
                <a:sym typeface="Plus Jakarta Sans"/>
              </a:rPr>
              <a:t>Proceedings of the IEEE</a:t>
            </a:r>
            <a:r>
              <a:rPr lang="en-US" sz="1125" b="0" i="0" u="none" strike="noStrike" cap="none">
                <a:solidFill>
                  <a:srgbClr val="475569"/>
                </a:solidFill>
                <a:latin typeface="Plus Jakarta Sans"/>
                <a:ea typeface="Plus Jakarta Sans"/>
                <a:cs typeface="Plus Jakarta Sans"/>
                <a:sym typeface="Plus Jakarta Sans"/>
              </a:rPr>
              <a:t>, vol. 98, no. 12, pp. 2201-2227, 2010.</a:t>
            </a:r>
            <a:endParaRPr/>
          </a:p>
        </p:txBody>
      </p:sp>
      <p:sp>
        <p:nvSpPr>
          <p:cNvPr id="611" name="Google Shape;611;p33"/>
          <p:cNvSpPr txBox="1"/>
          <p:nvPr/>
        </p:nvSpPr>
        <p:spPr>
          <a:xfrm>
            <a:off x="838200" y="3213645"/>
            <a:ext cx="1238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2.</a:t>
            </a:r>
            <a:endParaRPr/>
          </a:p>
        </p:txBody>
      </p:sp>
      <p:sp>
        <p:nvSpPr>
          <p:cNvPr id="612" name="Google Shape;612;p33"/>
          <p:cNvSpPr txBox="1"/>
          <p:nvPr/>
        </p:nvSpPr>
        <p:spPr>
          <a:xfrm>
            <a:off x="962025" y="3213645"/>
            <a:ext cx="10458450" cy="45720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S. Mittal, "A Survey of ReRAM-Based Architectures for Processing-In-Memory and Neural Networks," </a:t>
            </a:r>
            <a:r>
              <a:rPr lang="en-US" sz="1125" b="0" i="1" u="none" strike="noStrike" cap="none">
                <a:solidFill>
                  <a:srgbClr val="475569"/>
                </a:solidFill>
                <a:latin typeface="Plus Jakarta Sans"/>
                <a:ea typeface="Plus Jakarta Sans"/>
                <a:cs typeface="Plus Jakarta Sans"/>
                <a:sym typeface="Plus Jakarta Sans"/>
              </a:rPr>
              <a:t>Machine Learning and Knowledge Extraction</a:t>
            </a:r>
            <a:r>
              <a:rPr lang="en-US" sz="1125" b="0" i="0" u="none" strike="noStrike" cap="none">
                <a:solidFill>
                  <a:srgbClr val="475569"/>
                </a:solidFill>
                <a:latin typeface="Plus Jakarta Sans"/>
                <a:ea typeface="Plus Jakarta Sans"/>
                <a:cs typeface="Plus Jakarta Sans"/>
                <a:sym typeface="Plus Jakarta Sans"/>
              </a:rPr>
              <a:t>, vol. 1, no. 1, pp. 75-114, 2018.</a:t>
            </a:r>
            <a:endParaRPr/>
          </a:p>
        </p:txBody>
      </p:sp>
      <p:sp>
        <p:nvSpPr>
          <p:cNvPr id="613" name="Google Shape;613;p33"/>
          <p:cNvSpPr txBox="1"/>
          <p:nvPr/>
        </p:nvSpPr>
        <p:spPr>
          <a:xfrm>
            <a:off x="838200" y="3747045"/>
            <a:ext cx="1238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3.</a:t>
            </a:r>
            <a:endParaRPr/>
          </a:p>
        </p:txBody>
      </p:sp>
      <p:sp>
        <p:nvSpPr>
          <p:cNvPr id="614" name="Google Shape;614;p33"/>
          <p:cNvSpPr txBox="1"/>
          <p:nvPr/>
        </p:nvSpPr>
        <p:spPr>
          <a:xfrm>
            <a:off x="962025" y="3747045"/>
            <a:ext cx="10458450" cy="22860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J. Izraelevitz et al., "Basic Performance Measurements of the Intel Optane DC Persistent Memory Module," </a:t>
            </a:r>
            <a:r>
              <a:rPr lang="en-US" sz="1125" b="0" i="1" u="none" strike="noStrike" cap="none">
                <a:solidFill>
                  <a:srgbClr val="475569"/>
                </a:solidFill>
                <a:latin typeface="Plus Jakarta Sans"/>
                <a:ea typeface="Plus Jakarta Sans"/>
                <a:cs typeface="Plus Jakarta Sans"/>
                <a:sym typeface="Plus Jakarta Sans"/>
              </a:rPr>
              <a:t>arXiv preprint arXiv:1903.05714</a:t>
            </a:r>
            <a:r>
              <a:rPr lang="en-US" sz="1125" b="0" i="0" u="none" strike="noStrike" cap="none">
                <a:solidFill>
                  <a:srgbClr val="475569"/>
                </a:solidFill>
                <a:latin typeface="Plus Jakarta Sans"/>
                <a:ea typeface="Plus Jakarta Sans"/>
                <a:cs typeface="Plus Jakarta Sans"/>
                <a:sym typeface="Plus Jakarta Sans"/>
              </a:rPr>
              <a:t>, 2019.</a:t>
            </a:r>
            <a:endParaRPr/>
          </a:p>
        </p:txBody>
      </p:sp>
      <p:sp>
        <p:nvSpPr>
          <p:cNvPr id="615" name="Google Shape;615;p33"/>
          <p:cNvSpPr txBox="1"/>
          <p:nvPr/>
        </p:nvSpPr>
        <p:spPr>
          <a:xfrm>
            <a:off x="838200" y="4051845"/>
            <a:ext cx="1238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4.</a:t>
            </a:r>
            <a:endParaRPr/>
          </a:p>
        </p:txBody>
      </p:sp>
      <p:sp>
        <p:nvSpPr>
          <p:cNvPr id="616" name="Google Shape;616;p33"/>
          <p:cNvSpPr txBox="1"/>
          <p:nvPr/>
        </p:nvSpPr>
        <p:spPr>
          <a:xfrm>
            <a:off x="962025" y="4051845"/>
            <a:ext cx="10458450" cy="22860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J. S. Meena et al., "Overview of Emerging Nonvolatile Memory Technologies," </a:t>
            </a:r>
            <a:r>
              <a:rPr lang="en-US" sz="1125" b="0" i="1" u="none" strike="noStrike" cap="none">
                <a:solidFill>
                  <a:srgbClr val="475569"/>
                </a:solidFill>
                <a:latin typeface="Plus Jakarta Sans"/>
                <a:ea typeface="Plus Jakarta Sans"/>
                <a:cs typeface="Plus Jakarta Sans"/>
                <a:sym typeface="Plus Jakarta Sans"/>
              </a:rPr>
              <a:t>Nanoscale Research Letters</a:t>
            </a:r>
            <a:r>
              <a:rPr lang="en-US" sz="1125" b="0" i="0" u="none" strike="noStrike" cap="none">
                <a:solidFill>
                  <a:srgbClr val="475569"/>
                </a:solidFill>
                <a:latin typeface="Plus Jakarta Sans"/>
                <a:ea typeface="Plus Jakarta Sans"/>
                <a:cs typeface="Plus Jakarta Sans"/>
                <a:sym typeface="Plus Jakarta Sans"/>
              </a:rPr>
              <a:t>, vol. 9, no. 526, 2014.</a:t>
            </a:r>
            <a:endParaRPr/>
          </a:p>
        </p:txBody>
      </p:sp>
      <p:sp>
        <p:nvSpPr>
          <p:cNvPr id="617" name="Google Shape;617;p33"/>
          <p:cNvSpPr txBox="1"/>
          <p:nvPr/>
        </p:nvSpPr>
        <p:spPr>
          <a:xfrm>
            <a:off x="838200" y="4356645"/>
            <a:ext cx="1238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5.</a:t>
            </a:r>
            <a:endParaRPr/>
          </a:p>
        </p:txBody>
      </p:sp>
      <p:sp>
        <p:nvSpPr>
          <p:cNvPr id="618" name="Google Shape;618;p33"/>
          <p:cNvSpPr txBox="1"/>
          <p:nvPr/>
        </p:nvSpPr>
        <p:spPr>
          <a:xfrm>
            <a:off x="962025" y="4356645"/>
            <a:ext cx="10458450" cy="22860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475569"/>
                </a:solidFill>
                <a:latin typeface="Plus Jakarta Sans"/>
                <a:ea typeface="Plus Jakarta Sans"/>
                <a:cs typeface="Plus Jakarta Sans"/>
                <a:sym typeface="Plus Jakarta Sans"/>
              </a:rPr>
              <a:t>H. Kamath et al., "A Survey of Storage Class Memory," </a:t>
            </a:r>
            <a:r>
              <a:rPr lang="en-US" sz="1125" b="0" i="1" u="none" strike="noStrike" cap="none">
                <a:solidFill>
                  <a:srgbClr val="475569"/>
                </a:solidFill>
                <a:latin typeface="Plus Jakarta Sans"/>
                <a:ea typeface="Plus Jakarta Sans"/>
                <a:cs typeface="Plus Jakarta Sans"/>
                <a:sym typeface="Plus Jakarta Sans"/>
              </a:rPr>
              <a:t>IETE Technical Review</a:t>
            </a:r>
            <a:r>
              <a:rPr lang="en-US" sz="1125" b="0" i="0" u="none" strike="noStrike" cap="none">
                <a:solidFill>
                  <a:srgbClr val="475569"/>
                </a:solidFill>
                <a:latin typeface="Plus Jakarta Sans"/>
                <a:ea typeface="Plus Jakarta Sans"/>
                <a:cs typeface="Plus Jakarta Sans"/>
                <a:sym typeface="Plus Jakarta Sans"/>
              </a:rPr>
              <a:t>, 2019.</a:t>
            </a:r>
            <a:endParaRPr/>
          </a:p>
        </p:txBody>
      </p:sp>
      <p:sp>
        <p:nvSpPr>
          <p:cNvPr id="619" name="Google Shape;619;p33"/>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Tài Liệu Tham Khảo Chính</a:t>
            </a:r>
            <a:endParaRPr/>
          </a:p>
        </p:txBody>
      </p:sp>
      <p:sp>
        <p:nvSpPr>
          <p:cNvPr id="620" name="Google Shape;620;p33"/>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4"/>
        <p:cNvGrpSpPr/>
        <p:nvPr/>
      </p:nvGrpSpPr>
      <p:grpSpPr>
        <a:xfrm>
          <a:off x="0" y="0"/>
          <a:ext cx="0" cy="0"/>
          <a:chOff x="0" y="0"/>
          <a:chExt cx="0" cy="0"/>
        </a:xfrm>
      </p:grpSpPr>
      <p:pic>
        <p:nvPicPr>
          <p:cNvPr id="625" name="Google Shape;625;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26" name="Google Shape;626;p34"/>
          <p:cNvSpPr/>
          <p:nvPr/>
        </p:nvSpPr>
        <p:spPr>
          <a:xfrm>
            <a:off x="771525" y="3005137"/>
            <a:ext cx="1064895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7" name="Google Shape;627;p34"/>
          <p:cNvSpPr/>
          <p:nvPr/>
        </p:nvSpPr>
        <p:spPr>
          <a:xfrm>
            <a:off x="771525" y="3780383"/>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34"/>
          <p:cNvSpPr/>
          <p:nvPr/>
        </p:nvSpPr>
        <p:spPr>
          <a:xfrm>
            <a:off x="771525" y="3780383"/>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29" name="Google Shape;629;p34" descr="image.png"/>
          <p:cNvPicPr preferRelativeResize="0"/>
          <p:nvPr/>
        </p:nvPicPr>
        <p:blipFill rotWithShape="1">
          <a:blip r:embed="rId4">
            <a:alphaModFix/>
          </a:blip>
          <a:srcRect/>
          <a:stretch/>
        </p:blipFill>
        <p:spPr>
          <a:xfrm>
            <a:off x="771525" y="3154560"/>
            <a:ext cx="857250" cy="476250"/>
          </a:xfrm>
          <a:prstGeom prst="rect">
            <a:avLst/>
          </a:prstGeom>
          <a:noFill/>
          <a:ln>
            <a:noFill/>
          </a:ln>
        </p:spPr>
      </p:pic>
      <p:sp>
        <p:nvSpPr>
          <p:cNvPr id="630" name="Google Shape;630;p34"/>
          <p:cNvSpPr txBox="1"/>
          <p:nvPr/>
        </p:nvSpPr>
        <p:spPr>
          <a:xfrm>
            <a:off x="1866900" y="3148012"/>
            <a:ext cx="955357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https://cdn.mos.cms.futurecdn.net/abJvHkFJq5MRkRLsQ8mPZP.jpg</a:t>
            </a:r>
            <a:endParaRPr/>
          </a:p>
        </p:txBody>
      </p:sp>
      <p:sp>
        <p:nvSpPr>
          <p:cNvPr id="631" name="Google Shape;631;p34"/>
          <p:cNvSpPr txBox="1"/>
          <p:nvPr/>
        </p:nvSpPr>
        <p:spPr>
          <a:xfrm>
            <a:off x="1866900" y="3393727"/>
            <a:ext cx="955357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revive-global.com</a:t>
            </a:r>
            <a:endParaRPr/>
          </a:p>
        </p:txBody>
      </p:sp>
      <p:pic>
        <p:nvPicPr>
          <p:cNvPr id="632" name="Google Shape;632;p34" descr="image.png"/>
          <p:cNvPicPr preferRelativeResize="0"/>
          <p:nvPr/>
        </p:nvPicPr>
        <p:blipFill rotWithShape="1">
          <a:blip r:embed="rId5">
            <a:alphaModFix/>
          </a:blip>
          <a:srcRect/>
          <a:stretch/>
        </p:blipFill>
        <p:spPr>
          <a:xfrm>
            <a:off x="771525" y="3939331"/>
            <a:ext cx="857250" cy="476250"/>
          </a:xfrm>
          <a:prstGeom prst="rect">
            <a:avLst/>
          </a:prstGeom>
          <a:noFill/>
          <a:ln>
            <a:noFill/>
          </a:ln>
        </p:spPr>
      </p:pic>
      <p:sp>
        <p:nvSpPr>
          <p:cNvPr id="633" name="Google Shape;633;p34"/>
          <p:cNvSpPr txBox="1"/>
          <p:nvPr/>
        </p:nvSpPr>
        <p:spPr>
          <a:xfrm>
            <a:off x="1866900" y="3932783"/>
            <a:ext cx="955357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Plus Jakarta Sans"/>
                <a:ea typeface="Plus Jakarta Sans"/>
                <a:cs typeface="Plus Jakarta Sans"/>
                <a:sym typeface="Plus Jakarta Sans"/>
              </a:rPr>
              <a:t>https://cdn.prod.website-files.com/631605a86f78cea4454ab295/699f85b902efc692ea05e53a_DDR4%20Paradox%20feature%20.png</a:t>
            </a:r>
            <a:endParaRPr/>
          </a:p>
        </p:txBody>
      </p:sp>
      <p:sp>
        <p:nvSpPr>
          <p:cNvPr id="634" name="Google Shape;634;p34"/>
          <p:cNvSpPr txBox="1"/>
          <p:nvPr/>
        </p:nvSpPr>
        <p:spPr>
          <a:xfrm>
            <a:off x="1866900" y="4178498"/>
            <a:ext cx="955357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sourceability.com</a:t>
            </a:r>
            <a:endParaRPr/>
          </a:p>
        </p:txBody>
      </p:sp>
      <p:sp>
        <p:nvSpPr>
          <p:cNvPr id="635" name="Google Shape;635;p34"/>
          <p:cNvSpPr txBox="1"/>
          <p:nvPr/>
        </p:nvSpPr>
        <p:spPr>
          <a:xfrm>
            <a:off x="771525" y="485775"/>
            <a:ext cx="11181397" cy="407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0" i="0" u="none" strike="noStrike" cap="none">
                <a:solidFill>
                  <a:srgbClr val="0F172A"/>
                </a:solidFill>
                <a:latin typeface="Playfair Display SemiBold"/>
                <a:ea typeface="Playfair Display SemiBold"/>
                <a:cs typeface="Playfair Display SemiBold"/>
                <a:sym typeface="Playfair Display SemiBold"/>
              </a:rPr>
              <a:t>Image Sources</a:t>
            </a:r>
            <a:endParaRPr/>
          </a:p>
        </p:txBody>
      </p:sp>
      <p:sp>
        <p:nvSpPr>
          <p:cNvPr id="636" name="Google Shape;636;p34"/>
          <p:cNvSpPr/>
          <p:nvPr/>
        </p:nvSpPr>
        <p:spPr>
          <a:xfrm>
            <a:off x="771525" y="988665"/>
            <a:ext cx="10648950" cy="1905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4125</Words>
  <Application>Microsoft Office PowerPoint</Application>
  <PresentationFormat>Widescreen</PresentationFormat>
  <Paragraphs>352</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Playfair Display</vt:lpstr>
      <vt:lpstr>Arial</vt:lpstr>
      <vt:lpstr>Playfair Display SemiBold</vt:lpstr>
      <vt:lpstr>Plus Jakarta Sans</vt:lpstr>
      <vt:lpstr>Calibri</vt:lpstr>
      <vt:lpstr>Plus Jakarta Sans Medium</vt:lpstr>
      <vt:lpstr>Plus Jakarta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Đinh Hoàng Lộc</cp:lastModifiedBy>
  <cp:revision>1</cp:revision>
  <dcterms:modified xsi:type="dcterms:W3CDTF">2026-07-03T11:22:40Z</dcterms:modified>
</cp:coreProperties>
</file>