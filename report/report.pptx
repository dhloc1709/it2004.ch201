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Lst>
  <p:sldSz cx="12192000" cy="6858000"/>
  <p:notesSz cx="6858000" cy="9144000"/>
  <p:embeddedFontLst>
    <p:embeddedFont>
      <p:font typeface="Playfair Display"/>
      <p:regular r:id="rId27"/>
    </p:embeddedFont>
    <p:embeddedFont>
      <p:font typeface="Plus Jakarta Sans"/>
      <p:regular r:id="rId28"/>
    </p:embeddedFont>
    <p:embeddedFont>
      <p:font typeface="DejaVu Math TeX Gyre" panose="02000503000000000000" charset="0"/>
      <p:regular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extLst>
    <p:ext uri="{EFAFB233-063F-42B5-8137-9DF3F51BA10A}">
      <p15:sldGuideLst xmlns:p15="http://schemas.microsoft.com/office/powerpoint/2012/main">
        <p15:guide id="1" orient="horz" pos="2160" userDrawn="1">
          <p15:clr>
            <a:srgbClr val="000000"/>
          </p15:clr>
        </p15:guide>
        <p15:guide id="2" pos="2880" userDrawn="1">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F3C2146-B867-4D5D-ABA1-988120CD81A7}" styleName="Table_0">
    <a:wholeTbl>
      <a:tcTxStyle>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Style>
        <a:tcBdr/>
        <a:fill>
          <a:solidFill>
            <a:srgbClr val="CFD7E7"/>
          </a:solidFill>
        </a:fill>
      </a:tcStyle>
    </a:band1H>
    <a:band2H>
      <a:tcStyle>
        <a:tcBdr/>
      </a:tcStyle>
    </a:band2H>
    <a:band1V>
      <a:tcStyle>
        <a:tcBdr/>
        <a:fill>
          <a:solidFill>
            <a:srgbClr val="CFD7E7"/>
          </a:solidFill>
        </a:fill>
      </a:tcStyle>
    </a:band1V>
    <a:band2V>
      <a:tcStyle>
        <a:tcBdr/>
      </a:tcStyle>
    </a:band2V>
    <a:lastCol>
      <a:tcTxStyle b="on">
        <a:font>
          <a:latin typeface="Calibri"/>
          <a:ea typeface="Calibri"/>
          <a:cs typeface="Calibri"/>
        </a:font>
        <a:schemeClr val="lt1"/>
      </a:tcTxStyle>
      <a:tcStyle>
        <a:tcBdr/>
        <a:fill>
          <a:solidFill>
            <a:schemeClr val="accent1"/>
          </a:solidFill>
        </a:fill>
      </a:tcStyle>
    </a:lastCol>
    <a:firstCol>
      <a:tcTxStyle b="on">
        <a:font>
          <a:latin typeface="Calibri"/>
          <a:ea typeface="Calibri"/>
          <a:cs typeface="Calibri"/>
        </a:font>
        <a:schemeClr val="lt1"/>
      </a:tcTxStyle>
      <a:tcStyle>
        <a:tcBdr/>
        <a:fill>
          <a:solidFill>
            <a:schemeClr val="accent1"/>
          </a:solidFill>
        </a:fill>
      </a:tcStyle>
    </a:firstCol>
    <a:lastRow>
      <a:tcTxStyle b="on">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693" autoAdjust="0"/>
  </p:normalViewPr>
  <p:slideViewPr>
    <p:cSldViewPr snapToGrid="0" showGuides="1">
      <p:cViewPr>
        <p:scale>
          <a:sx n="100" d="100"/>
          <a:sy n="100" d="100"/>
        </p:scale>
        <p:origin x="954" y="-44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font" Target="fonts/font3.fntdata"/><Relationship Id="rId28" Type="http://schemas.openxmlformats.org/officeDocument/2006/relationships/font" Target="fonts/font2.fntdata"/><Relationship Id="rId27" Type="http://schemas.openxmlformats.org/officeDocument/2006/relationships/font" Target="fonts/font1.fntdata"/><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97" name="Google Shape;97;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18"/>
        <p:cNvGrpSpPr/>
        <p:nvPr/>
      </p:nvGrpSpPr>
      <p:grpSpPr>
        <a:xfrm>
          <a:off x="0" y="0"/>
          <a:ext cx="0" cy="0"/>
          <a:chOff x="0" y="0"/>
          <a:chExt cx="0" cy="0"/>
        </a:xfrm>
      </p:grpSpPr>
      <p:sp>
        <p:nvSpPr>
          <p:cNvPr id="119" name="Google Shape;119;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panose="020B0704020202020204"/>
              <a:buNone/>
              <a:defRPr/>
            </a:pP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Máy</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tính</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hiện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tại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dùng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hai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loại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bộ</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nhớ</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chính</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RAM —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rất</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nhanh</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nhưng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mất</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dữ</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liệu</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khi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tắt</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điện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và</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ổ SSD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hoặc</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HDD —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lưu</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dữ</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liệu</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bền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nhưng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chậm</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hơn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RAM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khoảng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một</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nghìn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lần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endPar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panose="020B0704020202020204"/>
              <a:buNone/>
              <a:defRPr/>
            </a:pPr>
            <a:endPar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panose="020B0704020202020204"/>
              <a:buNone/>
              <a:defRPr/>
            </a:pP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Vấn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đề</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là</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không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có</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gì</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ở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giữa</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Khi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ứng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dụng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cần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xử</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lý</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lượng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dữ</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liệu</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lớn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ví</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dụ</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huấn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luyện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AI hay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phân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tích</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dữ</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liệu</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thực</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thời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 CPU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liên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tục</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phải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chờ</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dữ</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liệu</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đi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từ</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ổ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cứng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lên</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RAM.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Cái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khoảng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trống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này</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người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ta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gọi</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là</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Memory Wall —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bức</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tường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hiệu</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 </a:t>
            </a:r>
            <a:r>
              <a:rPr lang="en-US" sz="1100" b="0" i="0" u="none" strike="noStrike" cap="none" dirty="0" err="1">
                <a:solidFill>
                  <a:srgbClr val="000000"/>
                </a:solidFill>
                <a:effectLst/>
                <a:latin typeface="Arial" panose="020B0704020202020204"/>
                <a:ea typeface="Arial" panose="020B0704020202020204"/>
                <a:cs typeface="Arial" panose="020B0704020202020204"/>
                <a:sym typeface="Arial" panose="020B0704020202020204"/>
              </a:rPr>
              <a:t>năng</a:t>
            </a:r>
            <a:r>
              <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rPr>
              <a:t>.</a:t>
            </a:r>
            <a:endPar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panose="020B0704020202020204"/>
              <a:buNone/>
              <a:defRPr/>
            </a:pPr>
            <a:endParaRPr lang="en-US" sz="1100" b="0" i="0" u="none" strike="noStrike" cap="none" dirty="0">
              <a:solidFill>
                <a:srgbClr val="000000"/>
              </a:solidFill>
              <a:effectLst/>
              <a:latin typeface="Arial" panose="020B0704020202020204"/>
              <a:ea typeface="Arial" panose="020B0704020202020204"/>
              <a:cs typeface="Arial" panose="020B0704020202020204"/>
              <a:sym typeface="Arial" panose="020B0704020202020204"/>
            </a:endParaRPr>
          </a:p>
          <a:p>
            <a:pPr marL="0" lvl="0" indent="0" algn="l" rtl="0">
              <a:spcBef>
                <a:spcPts val="0"/>
              </a:spcBef>
              <a:spcAft>
                <a:spcPts val="0"/>
              </a:spcAft>
              <a:buNone/>
            </a:pPr>
            <a:endParaRPr dirty="0"/>
          </a:p>
        </p:txBody>
      </p:sp>
      <p:sp>
        <p:nvSpPr>
          <p:cNvPr id="120" name="Google Shape;12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9"/>
        <p:cNvGrpSpPr/>
        <p:nvPr/>
      </p:nvGrpSpPr>
      <p:grpSpPr>
        <a:xfrm>
          <a:off x="0" y="0"/>
          <a:ext cx="0" cy="0"/>
          <a:chOff x="0" y="0"/>
          <a:chExt cx="0" cy="0"/>
        </a:xfrm>
      </p:grpSpPr>
      <p:sp>
        <p:nvSpPr>
          <p:cNvPr id="140" name="Google Shape;140;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Nhìn vào bảng, Flash thua DRAM ở ba </a:t>
            </a:r>
            <a:r>
              <a:rPr lang="en-US" altLang="en-US"/>
              <a:t>đ</a:t>
            </a:r>
            <a:r>
              <a:rPr lang="en-US" altLang="en-US"/>
              <a:t>iểm không thể khắc phục. Thứ nhất, cách truy cập: DRAM </a:t>
            </a:r>
            <a:r>
              <a:rPr lang="en-US" altLang="en-US"/>
              <a:t>đ</a:t>
            </a:r>
            <a:r>
              <a:rPr lang="en-US" altLang="en-US"/>
              <a:t>ọc từng byte bất kỳ trực tiếp, còn Flash chỉ </a:t>
            </a:r>
            <a:r>
              <a:rPr lang="en-US" altLang="en-US"/>
              <a:t>đ</a:t>
            </a:r>
            <a:r>
              <a:rPr lang="en-US" altLang="en-US"/>
              <a:t>ọc theo khối lớn — giống nh</a:t>
            </a:r>
            <a:r>
              <a:rPr lang="en-US" altLang="en-US"/>
              <a:t>ư</a:t>
            </a:r>
            <a:r>
              <a:rPr lang="en-US" altLang="en-US"/>
              <a:t> DRAM là từ </a:t>
            </a:r>
            <a:r>
              <a:rPr lang="en-US" altLang="en-US"/>
              <a:t>đ</a:t>
            </a:r>
            <a:r>
              <a:rPr lang="en-US" altLang="en-US"/>
              <a:t>iển tra ngay </a:t>
            </a:r>
            <a:r>
              <a:rPr lang="en-US" altLang="en-US"/>
              <a:t>đư</a:t>
            </a:r>
            <a:r>
              <a:rPr lang="en-US" altLang="en-US"/>
              <a:t>ợc còn Flash là sách phải lật từng trang.</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Thứ hai, tốc </a:t>
            </a:r>
            <a:r>
              <a:rPr lang="en-US" altLang="en-US"/>
              <a:t>đ</a:t>
            </a:r>
            <a:r>
              <a:rPr lang="en-US" altLang="en-US"/>
              <a:t>ộ: Flash chậm hơn một nghìn lần. Thứ ba, </a:t>
            </a:r>
            <a:r>
              <a:rPr lang="en-US" altLang="en-US"/>
              <a:t>đ</a:t>
            </a:r>
            <a:r>
              <a:rPr lang="en-US" altLang="en-US"/>
              <a:t>ộ bền: Flash hỏng sau khoảng 10.000 </a:t>
            </a:r>
            <a:r>
              <a:rPr lang="en-US" altLang="en-US"/>
              <a:t>đ</a:t>
            </a:r>
            <a:r>
              <a:rPr lang="en-US" altLang="en-US"/>
              <a:t>ến 100.000 lần ghi — nếu dùng làm RAM thì sẽ hỏng trong vài tuần.</a:t>
            </a:r>
            <a:endParaRPr lang="en-US" altLang="en-US"/>
          </a:p>
        </p:txBody>
      </p:sp>
      <p:sp>
        <p:nvSpPr>
          <p:cNvPr id="141" name="Google Shape;14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70"/>
        <p:cNvGrpSpPr/>
        <p:nvPr/>
      </p:nvGrpSpPr>
      <p:grpSpPr>
        <a:xfrm>
          <a:off x="0" y="0"/>
          <a:ext cx="0" cy="0"/>
          <a:chOff x="0" y="0"/>
          <a:chExt cx="0" cy="0"/>
        </a:xfrm>
      </p:grpSpPr>
      <p:sp>
        <p:nvSpPr>
          <p:cNvPr id="171" name="Google Shape;17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PCM l</a:t>
            </a:r>
            <a:r>
              <a:rPr lang="en-US" altLang="en-US"/>
              <a:t>ư</a:t>
            </a:r>
            <a:r>
              <a:rPr lang="en-US" altLang="en-US"/>
              <a:t>u dữ liệu bằng cách thay </a:t>
            </a:r>
            <a:r>
              <a:rPr lang="en-US" altLang="en-US"/>
              <a:t>đ</a:t>
            </a:r>
            <a:r>
              <a:rPr lang="en-US" altLang="en-US"/>
              <a:t>ổi trạng thái vật chất của một lớp vật liệu </a:t>
            </a:r>
            <a:r>
              <a:rPr lang="en-US" altLang="en-US"/>
              <a:t>đ</a:t>
            </a:r>
            <a:r>
              <a:rPr lang="en-US" altLang="en-US"/>
              <a:t>ặc biệt tên là GST</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Khi ta nung chảy GST bằng xung </a:t>
            </a:r>
            <a:r>
              <a:rPr lang="en-US" altLang="en-US"/>
              <a:t>đ</a:t>
            </a:r>
            <a:r>
              <a:rPr lang="en-US" altLang="en-US"/>
              <a:t>iện rất ngắn rồi làm nguội nhanh, nó </a:t>
            </a:r>
            <a:r>
              <a:rPr lang="en-US" altLang="en-US"/>
              <a:t>đ</a:t>
            </a:r>
            <a:r>
              <a:rPr lang="en-US" altLang="en-US"/>
              <a:t>ông </a:t>
            </a:r>
            <a:r>
              <a:rPr lang="en-US" altLang="en-US"/>
              <a:t>đ</a:t>
            </a:r>
            <a:r>
              <a:rPr lang="en-US" altLang="en-US"/>
              <a:t>ặc lại ở trạng thái vô </a:t>
            </a:r>
            <a:r>
              <a:rPr lang="en-US" altLang="en-US"/>
              <a:t>đ</a:t>
            </a:r>
            <a:r>
              <a:rPr lang="en-US" altLang="en-US"/>
              <a:t>ịnh hình - </a:t>
            </a:r>
            <a:r>
              <a:rPr lang="en-US" altLang="en-US"/>
              <a:t>đ</a:t>
            </a:r>
            <a:r>
              <a:rPr lang="en-US" altLang="en-US"/>
              <a:t>iện trở rất cao, </a:t>
            </a:r>
            <a:r>
              <a:rPr lang="en-US" altLang="en-US"/>
              <a:t>đ</a:t>
            </a:r>
            <a:r>
              <a:rPr lang="en-US" altLang="en-US"/>
              <a:t>ại diện cho bit 1. Khi ta ủ nhiệt từ từ, nó kết tinh lại thành cấu trúc ng</a:t>
            </a:r>
            <a:r>
              <a:rPr lang="en-US" altLang="en-US"/>
              <a:t>ă</a:t>
            </a:r>
            <a:r>
              <a:rPr lang="en-US" altLang="en-US"/>
              <a:t>n nắp - </a:t>
            </a:r>
            <a:r>
              <a:rPr lang="en-US" altLang="en-US"/>
              <a:t>đ</a:t>
            </a:r>
            <a:r>
              <a:rPr lang="en-US" altLang="en-US"/>
              <a:t>iện trở thấp, </a:t>
            </a:r>
            <a:r>
              <a:rPr lang="en-US" altLang="en-US"/>
              <a:t>đ</a:t>
            </a:r>
            <a:r>
              <a:rPr lang="en-US" altLang="en-US"/>
              <a:t>ại diện cho bit 0. </a:t>
            </a:r>
            <a:r>
              <a:rPr lang="en-US" altLang="en-US"/>
              <a:t>Đ</a:t>
            </a:r>
            <a:r>
              <a:rPr lang="en-US" altLang="en-US"/>
              <a:t>ể </a:t>
            </a:r>
            <a:r>
              <a:rPr lang="en-US" altLang="en-US"/>
              <a:t>đ</a:t>
            </a:r>
            <a:r>
              <a:rPr lang="en-US" altLang="en-US"/>
              <a:t>ọc, chỉ cần </a:t>
            </a:r>
            <a:r>
              <a:rPr lang="en-US" altLang="en-US"/>
              <a:t>đ</a:t>
            </a:r>
            <a:r>
              <a:rPr lang="en-US" altLang="en-US"/>
              <a:t>o </a:t>
            </a:r>
            <a:r>
              <a:rPr lang="en-US" altLang="en-US"/>
              <a:t>đ</a:t>
            </a:r>
            <a:r>
              <a:rPr lang="en-US" altLang="en-US"/>
              <a:t>iện trở bằng dòng </a:t>
            </a:r>
            <a:r>
              <a:rPr lang="en-US" altLang="en-US"/>
              <a:t>đ</a:t>
            </a:r>
            <a:r>
              <a:rPr lang="en-US" altLang="en-US"/>
              <a:t>iện nhỏ, không làm thay </a:t>
            </a:r>
            <a:r>
              <a:rPr lang="en-US" altLang="en-US"/>
              <a:t>đ</a:t>
            </a:r>
            <a:r>
              <a:rPr lang="en-US" altLang="en-US"/>
              <a:t>ổi trạng thái.</a:t>
            </a:r>
            <a:endParaRPr lang="en-US" altLang="en-US"/>
          </a:p>
        </p:txBody>
      </p:sp>
      <p:sp>
        <p:nvSpPr>
          <p:cNvPr id="172" name="Google Shape;172;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4"/>
        <p:cNvGrpSpPr/>
        <p:nvPr/>
      </p:nvGrpSpPr>
      <p:grpSpPr>
        <a:xfrm>
          <a:off x="0" y="0"/>
          <a:ext cx="0" cy="0"/>
          <a:chOff x="0" y="0"/>
          <a:chExt cx="0" cy="0"/>
        </a:xfrm>
      </p:grpSpPr>
      <p:sp>
        <p:nvSpPr>
          <p:cNvPr id="195" name="Google Shape;195;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PCM có ba thách thức kỹ thuật lớn.</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Thứ nhất là Resistance Drift: </a:t>
            </a:r>
            <a:r>
              <a:rPr lang="en-US" altLang="en-US"/>
              <a:t>đ</a:t>
            </a:r>
            <a:r>
              <a:rPr lang="en-US" altLang="en-US"/>
              <a:t>iện trở của trạng thái vô </a:t>
            </a:r>
            <a:r>
              <a:rPr lang="en-US" altLang="en-US"/>
              <a:t>đ</a:t>
            </a:r>
            <a:r>
              <a:rPr lang="en-US" altLang="en-US"/>
              <a:t>ịnh hình không cố </a:t>
            </a:r>
            <a:r>
              <a:rPr lang="en-US" altLang="en-US"/>
              <a:t>đ</a:t>
            </a:r>
            <a:r>
              <a:rPr lang="en-US" altLang="en-US"/>
              <a:t>ịnh mà tự t</a:t>
            </a:r>
            <a:r>
              <a:rPr lang="en-US" altLang="en-US"/>
              <a:t>ă</a:t>
            </a:r>
            <a:r>
              <a:rPr lang="en-US" altLang="en-US"/>
              <a:t>ng dần theo thời gian theo công thức số m</a:t>
            </a:r>
            <a:r>
              <a:rPr lang="en-US" altLang="en-US"/>
              <a:t>ũ</a:t>
            </a:r>
            <a:r>
              <a:rPr lang="en-US" altLang="en-US"/>
              <a:t>. </a:t>
            </a:r>
            <a:r>
              <a:rPr lang="en-US" altLang="en-US"/>
              <a:t>Đ</a:t>
            </a:r>
            <a:r>
              <a:rPr lang="en-US" altLang="en-US"/>
              <a:t>iều này </a:t>
            </a:r>
            <a:r>
              <a:rPr lang="en-US" altLang="en-US"/>
              <a:t>đ</a:t>
            </a:r>
            <a:r>
              <a:rPr lang="en-US" altLang="en-US"/>
              <a:t>ặc biệt nguy hiểm khi muốn l</a:t>
            </a:r>
            <a:r>
              <a:rPr lang="en-US" altLang="en-US"/>
              <a:t>ư</a:t>
            </a:r>
            <a:r>
              <a:rPr lang="en-US" altLang="en-US"/>
              <a:t>u nhiều hơn 1 bit mỗi ô — các mức </a:t>
            </a:r>
            <a:r>
              <a:rPr lang="en-US" altLang="en-US"/>
              <a:t>đ</a:t>
            </a:r>
            <a:r>
              <a:rPr lang="en-US" altLang="en-US"/>
              <a:t>iện trở trung gian bị 'trôi' lẫn vào nhau.</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Thứ hai là mâu thuẫn vật liệu: cùng một vật liệu vừa phải cực kỳ ổn </a:t>
            </a:r>
            <a:r>
              <a:rPr lang="en-US" altLang="en-US"/>
              <a:t>đ</a:t>
            </a:r>
            <a:r>
              <a:rPr lang="en-US" altLang="en-US"/>
              <a:t>ịnh ở nhiệt </a:t>
            </a:r>
            <a:r>
              <a:rPr lang="en-US" altLang="en-US"/>
              <a:t>đ</a:t>
            </a:r>
            <a:r>
              <a:rPr lang="en-US" altLang="en-US"/>
              <a:t>ộ th</a:t>
            </a:r>
            <a:r>
              <a:rPr lang="en-US" altLang="en-US"/>
              <a:t>ư</a:t>
            </a:r>
            <a:r>
              <a:rPr lang="en-US" altLang="en-US"/>
              <a:t>ờng (không tự ghi lại), vừa phải kết tinh cực nhanh khi có lệnh ghi. Hai yêu cầu này mâu thuẫn nhau và là bài toán trung tâm của nghiên cứu PCM.</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Thứ ba, dòng </a:t>
            </a:r>
            <a:r>
              <a:rPr lang="en-US" altLang="en-US"/>
              <a:t>đ</a:t>
            </a:r>
            <a:r>
              <a:rPr lang="en-US" altLang="en-US"/>
              <a:t>iện cần </a:t>
            </a:r>
            <a:r>
              <a:rPr lang="en-US" altLang="en-US"/>
              <a:t>đ</a:t>
            </a:r>
            <a:r>
              <a:rPr lang="en-US" altLang="en-US"/>
              <a:t>ể nung chảy GST rất lớn. Qua nhiều thế hệ thiết kế, từ Mushroom Cell </a:t>
            </a:r>
            <a:r>
              <a:rPr lang="en-US" altLang="en-US"/>
              <a:t>đ</a:t>
            </a:r>
            <a:r>
              <a:rPr lang="en-US" altLang="en-US"/>
              <a:t>ến Confined Cell, ng</a:t>
            </a:r>
            <a:r>
              <a:rPr lang="en-US" altLang="en-US"/>
              <a:t>ư</a:t>
            </a:r>
            <a:r>
              <a:rPr lang="en-US" altLang="en-US"/>
              <a:t>ời ta </a:t>
            </a:r>
            <a:r>
              <a:rPr lang="en-US" altLang="en-US"/>
              <a:t>đ</a:t>
            </a:r>
            <a:r>
              <a:rPr lang="en-US" altLang="en-US"/>
              <a:t>ã giảm </a:t>
            </a:r>
            <a:r>
              <a:rPr lang="en-US" altLang="en-US"/>
              <a:t>đư</a:t>
            </a:r>
            <a:r>
              <a:rPr lang="en-US" altLang="en-US"/>
              <a:t>ợc dòng này hơn 65%.</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endParaRPr lang="en-US" altLang="en-US"/>
          </a:p>
        </p:txBody>
      </p:sp>
      <p:sp>
        <p:nvSpPr>
          <p:cNvPr id="196" name="Google Shape;196;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21"/>
        <p:cNvGrpSpPr/>
        <p:nvPr/>
      </p:nvGrpSpPr>
      <p:grpSpPr>
        <a:xfrm>
          <a:off x="0" y="0"/>
          <a:ext cx="0" cy="0"/>
          <a:chOff x="0" y="0"/>
          <a:chExt cx="0" cy="0"/>
        </a:xfrm>
      </p:grpSpPr>
      <p:sp>
        <p:nvSpPr>
          <p:cNvPr id="222" name="Google Shape;222;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Ô nhớ PCM rất nhỏ, nh</a:t>
            </a:r>
            <a:r>
              <a:rPr lang="en-US" altLang="en-US"/>
              <a:t>ư</a:t>
            </a:r>
            <a:r>
              <a:rPr lang="en-US" altLang="en-US"/>
              <a:t>ng </a:t>
            </a:r>
            <a:r>
              <a:rPr lang="en-US" altLang="en-US"/>
              <a:t>đ</a:t>
            </a:r>
            <a:r>
              <a:rPr lang="en-US" altLang="en-US"/>
              <a:t>ể tích hợp hàng tỷ ô vào một chip mà không bị dòng </a:t>
            </a:r>
            <a:r>
              <a:rPr lang="en-US" altLang="en-US"/>
              <a:t>đ</a:t>
            </a:r>
            <a:r>
              <a:rPr lang="en-US" altLang="en-US"/>
              <a:t>iện </a:t>
            </a:r>
            <a:r>
              <a:rPr lang="en-US" altLang="en-US"/>
              <a:t>đ</a:t>
            </a:r>
            <a:r>
              <a:rPr lang="en-US" altLang="en-US"/>
              <a:t>i nhầm chỗ, mỗi ô bắt buộc phải có thêm một linh kiện 'gác cổng' gọi là Selector.</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Vấn </a:t>
            </a:r>
            <a:r>
              <a:rPr lang="en-US" altLang="en-US"/>
              <a:t>đ</a:t>
            </a:r>
            <a:r>
              <a:rPr lang="en-US" altLang="en-US"/>
              <a:t>ề là Selector lại to hơn bản thân ô nhớ PCM. Cho nên mật </a:t>
            </a:r>
            <a:r>
              <a:rPr lang="en-US" altLang="en-US"/>
              <a:t>đ</a:t>
            </a:r>
            <a:r>
              <a:rPr lang="en-US" altLang="en-US"/>
              <a:t>ộ của toàn bộ chip PCM bị giới hạn không phải bởi vật liệu GST, mà bởi kích th</a:t>
            </a:r>
            <a:r>
              <a:rPr lang="en-US" altLang="en-US"/>
              <a:t>ư</a:t>
            </a:r>
            <a:r>
              <a:rPr lang="en-US" altLang="en-US"/>
              <a:t>ớc của Selector này. </a:t>
            </a:r>
            <a:r>
              <a:rPr lang="en-US" altLang="en-US"/>
              <a:t>Đ</a:t>
            </a:r>
            <a:r>
              <a:rPr lang="en-US" altLang="en-US"/>
              <a:t>ây là </a:t>
            </a:r>
            <a:r>
              <a:rPr lang="en-US" altLang="en-US"/>
              <a:t>đ</a:t>
            </a:r>
            <a:r>
              <a:rPr lang="en-US" altLang="en-US"/>
              <a:t>iểm nghẽn mà các nhà nghiên cứu ch</a:t>
            </a:r>
            <a:r>
              <a:rPr lang="en-US" altLang="en-US"/>
              <a:t>ư</a:t>
            </a:r>
            <a:r>
              <a:rPr lang="en-US" altLang="en-US"/>
              <a:t>a giải quyết hoàn toàn — ch</a:t>
            </a:r>
            <a:r>
              <a:rPr lang="en-US" altLang="en-US"/>
              <a:t>ư</a:t>
            </a:r>
            <a:r>
              <a:rPr lang="en-US" altLang="en-US"/>
              <a:t>a có loại Selector nào thỏa mãn </a:t>
            </a:r>
            <a:r>
              <a:rPr lang="en-US" altLang="en-US"/>
              <a:t>đ</a:t>
            </a:r>
            <a:r>
              <a:rPr lang="en-US" altLang="en-US"/>
              <a:t>ồng thời tất cả các yêu cầu.</a:t>
            </a:r>
            <a:endParaRPr lang="en-US" altLang="en-US"/>
          </a:p>
        </p:txBody>
      </p:sp>
      <p:sp>
        <p:nvSpPr>
          <p:cNvPr id="223" name="Google Shape;223;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45"/>
        <p:cNvGrpSpPr/>
        <p:nvPr/>
      </p:nvGrpSpPr>
      <p:grpSpPr>
        <a:xfrm>
          <a:off x="0" y="0"/>
          <a:ext cx="0" cy="0"/>
          <a:chOff x="0" y="0"/>
          <a:chExt cx="0" cy="0"/>
        </a:xfrm>
      </p:grpSpPr>
      <p:sp>
        <p:nvSpPr>
          <p:cNvPr id="246" name="Google Shape;24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PCM có ba kiểu hỏng chính. Stuck-open: sau nhiều chu kỳ nung chảy và </a:t>
            </a:r>
            <a:r>
              <a:rPr lang="en-US" altLang="en-US"/>
              <a:t>đ</a:t>
            </a:r>
            <a:r>
              <a:rPr lang="en-US" altLang="en-US"/>
              <a:t>ông </a:t>
            </a:r>
            <a:r>
              <a:rPr lang="en-US" altLang="en-US"/>
              <a:t>đ</a:t>
            </a:r>
            <a:r>
              <a:rPr lang="en-US" altLang="en-US"/>
              <a:t>ặc, vật liệu bị co rút tạo ra khoảng trống giữa </a:t>
            </a:r>
            <a:r>
              <a:rPr lang="en-US" altLang="en-US"/>
              <a:t>đ</a:t>
            </a:r>
            <a:r>
              <a:rPr lang="en-US" altLang="en-US"/>
              <a:t>iện cực và GST — ô bị kẹt ở trạng thái cách </a:t>
            </a:r>
            <a:r>
              <a:rPr lang="en-US" altLang="en-US"/>
              <a:t>đ</a:t>
            </a:r>
            <a:r>
              <a:rPr lang="en-US" altLang="en-US"/>
              <a:t>iện mãi mãi.</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Stuck-close: nguyên tố Antimon trong GST di chuyển và tụ tập gần </a:t>
            </a:r>
            <a:r>
              <a:rPr lang="en-US" altLang="en-US"/>
              <a:t>đ</a:t>
            </a:r>
            <a:r>
              <a:rPr lang="en-US" altLang="en-US"/>
              <a:t>iện cực, làm GST dễ kết tinh hơn — ô bị kẹt ở trạng thái dẫn </a:t>
            </a:r>
            <a:r>
              <a:rPr lang="en-US" altLang="en-US"/>
              <a:t>đ</a:t>
            </a:r>
            <a:r>
              <a:rPr lang="en-US" altLang="en-US"/>
              <a:t>iện mãi mãi.</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Thermal Crosstalk: nhiệt từ quá trình ghi ô này lan sang ô bên cạnh và vô tình làm ô kia kết tinh. Khi mật </a:t>
            </a:r>
            <a:r>
              <a:rPr lang="en-US" altLang="en-US"/>
              <a:t>đ</a:t>
            </a:r>
            <a:r>
              <a:rPr lang="en-US" altLang="en-US"/>
              <a:t>ộ chip t</a:t>
            </a:r>
            <a:r>
              <a:rPr lang="en-US" altLang="en-US"/>
              <a:t>ă</a:t>
            </a:r>
            <a:r>
              <a:rPr lang="en-US" altLang="en-US"/>
              <a:t>ng, khoảng cách giữa các ô giảm, vấn </a:t>
            </a:r>
            <a:r>
              <a:rPr lang="en-US" altLang="en-US"/>
              <a:t>đ</a:t>
            </a:r>
            <a:r>
              <a:rPr lang="en-US" altLang="en-US"/>
              <a:t>ề này trở nên nghiêm trọng hơn.</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Đ</a:t>
            </a:r>
            <a:r>
              <a:rPr lang="en-US" altLang="en-US"/>
              <a:t>iểm tích cực: vật liệu GST vẫn giữ tính chất </a:t>
            </a:r>
            <a:r>
              <a:rPr lang="en-US" altLang="en-US"/>
              <a:t>đ</a:t>
            </a:r>
            <a:r>
              <a:rPr lang="en-US" altLang="en-US"/>
              <a:t>ến kích th</a:t>
            </a:r>
            <a:r>
              <a:rPr lang="en-US" altLang="en-US"/>
              <a:t>ư</a:t>
            </a:r>
            <a:r>
              <a:rPr lang="en-US" altLang="en-US"/>
              <a:t>ớc 1.8nm — giới hạn không phải vật liệu mà là công nghệ chế tạo Selector.</a:t>
            </a:r>
            <a:endParaRPr lang="en-US" altLang="en-US"/>
          </a:p>
        </p:txBody>
      </p:sp>
      <p:sp>
        <p:nvSpPr>
          <p:cNvPr id="247" name="Google Shape;247;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69"/>
        <p:cNvGrpSpPr/>
        <p:nvPr/>
      </p:nvGrpSpPr>
      <p:grpSpPr>
        <a:xfrm>
          <a:off x="0" y="0"/>
          <a:ext cx="0" cy="0"/>
          <a:chOff x="0" y="0"/>
          <a:chExt cx="0" cy="0"/>
        </a:xfrm>
      </p:grpSpPr>
      <p:sp>
        <p:nvSpPr>
          <p:cNvPr id="270" name="Google Shape;270;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ReRAM </a:t>
            </a:r>
            <a:r>
              <a:rPr lang="en-US" altLang="en-US"/>
              <a:t>đ</a:t>
            </a:r>
            <a:r>
              <a:rPr lang="en-US" altLang="en-US"/>
              <a:t>ơn giản hơn PCM về cấu trúc: chỉ gồm hai </a:t>
            </a:r>
            <a:r>
              <a:rPr lang="en-US" altLang="en-US"/>
              <a:t>đ</a:t>
            </a:r>
            <a:r>
              <a:rPr lang="en-US" altLang="en-US"/>
              <a:t>iện cực kim loại kẹp một lớp oxide mỏng ở giữa — gọi là cấu trúc MIM.</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Cơ chế hoạt </a:t>
            </a:r>
            <a:r>
              <a:rPr lang="en-US" altLang="en-US"/>
              <a:t>đ</a:t>
            </a:r>
            <a:r>
              <a:rPr lang="en-US" altLang="en-US"/>
              <a:t>ộng: khi áp </a:t>
            </a:r>
            <a:r>
              <a:rPr lang="en-US" altLang="en-US"/>
              <a:t>đ</a:t>
            </a:r>
            <a:r>
              <a:rPr lang="en-US" altLang="en-US"/>
              <a:t>iện áp </a:t>
            </a:r>
            <a:r>
              <a:rPr lang="en-US" altLang="en-US"/>
              <a:t>đ</a:t>
            </a:r>
            <a:r>
              <a:rPr lang="en-US" altLang="en-US"/>
              <a:t>ủ lớn, các ion oxy trong lớp oxide bị </a:t>
            </a:r>
            <a:r>
              <a:rPr lang="en-US" altLang="en-US"/>
              <a:t>đ</a:t>
            </a:r>
            <a:r>
              <a:rPr lang="en-US" altLang="en-US"/>
              <a:t>ẩy ra chỗ khác, </a:t>
            </a:r>
            <a:r>
              <a:rPr lang="en-US" altLang="en-US"/>
              <a:t>đ</a:t>
            </a:r>
            <a:r>
              <a:rPr lang="en-US" altLang="en-US"/>
              <a:t>ể lại các 'lỗ trống' — gọi là oxygen vacancy — tập trung thành một sợi dẫn </a:t>
            </a:r>
            <a:r>
              <a:rPr lang="en-US" altLang="en-US"/>
              <a:t>đ</a:t>
            </a:r>
            <a:r>
              <a:rPr lang="en-US" altLang="en-US"/>
              <a:t>iện xuyên qua lớp oxide. Sợi này nh</a:t>
            </a:r>
            <a:r>
              <a:rPr lang="en-US" altLang="en-US"/>
              <a:t>ư</a:t>
            </a:r>
            <a:r>
              <a:rPr lang="en-US" altLang="en-US"/>
              <a:t> một cây cầu nano cho dòng </a:t>
            </a:r>
            <a:r>
              <a:rPr lang="en-US" altLang="en-US"/>
              <a:t>đ</a:t>
            </a:r>
            <a:r>
              <a:rPr lang="en-US" altLang="en-US"/>
              <a:t>iện </a:t>
            </a:r>
            <a:r>
              <a:rPr lang="en-US" altLang="en-US"/>
              <a:t>đ</a:t>
            </a:r>
            <a:r>
              <a:rPr lang="en-US" altLang="en-US"/>
              <a:t>i qua. Khi áp </a:t>
            </a:r>
            <a:r>
              <a:rPr lang="en-US" altLang="en-US"/>
              <a:t>đ</a:t>
            </a:r>
            <a:r>
              <a:rPr lang="en-US" altLang="en-US"/>
              <a:t>iện áp ng</a:t>
            </a:r>
            <a:r>
              <a:rPr lang="en-US" altLang="en-US"/>
              <a:t>ư</a:t>
            </a:r>
            <a:r>
              <a:rPr lang="en-US" altLang="en-US"/>
              <a:t>ợc chiều, cây cầu bị 'phá' </a:t>
            </a:r>
            <a:r>
              <a:rPr lang="en-US" altLang="en-US"/>
              <a:t>đ</a:t>
            </a:r>
            <a:r>
              <a:rPr lang="en-US" altLang="en-US"/>
              <a:t>ứt — ô nhớ trở về trạng thái không dẫn </a:t>
            </a:r>
            <a:r>
              <a:rPr lang="en-US" altLang="en-US"/>
              <a:t>đ</a:t>
            </a:r>
            <a:r>
              <a:rPr lang="en-US" altLang="en-US"/>
              <a:t>iện.</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So với PCM, không cần nhiệt </a:t>
            </a:r>
            <a:r>
              <a:rPr lang="en-US" altLang="en-US"/>
              <a:t>đ</a:t>
            </a:r>
            <a:r>
              <a:rPr lang="en-US" altLang="en-US"/>
              <a:t>ộ cao — tiêu thụ </a:t>
            </a:r>
            <a:r>
              <a:rPr lang="en-US" altLang="en-US"/>
              <a:t>đ</a:t>
            </a:r>
            <a:r>
              <a:rPr lang="en-US" altLang="en-US"/>
              <a:t>iện n</a:t>
            </a:r>
            <a:r>
              <a:rPr lang="en-US" altLang="en-US"/>
              <a:t>ă</a:t>
            </a:r>
            <a:r>
              <a:rPr lang="en-US" altLang="en-US"/>
              <a:t>ng thấp hơn và cấu trúc </a:t>
            </a:r>
            <a:r>
              <a:rPr lang="en-US" altLang="en-US"/>
              <a:t>đ</a:t>
            </a:r>
            <a:r>
              <a:rPr lang="en-US" altLang="en-US"/>
              <a:t>ơn giản hơn.</a:t>
            </a:r>
            <a:endParaRPr lang="en-US" altLang="en-US"/>
          </a:p>
        </p:txBody>
      </p:sp>
      <p:sp>
        <p:nvSpPr>
          <p:cNvPr id="271" name="Google Shape;271;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95"/>
        <p:cNvGrpSpPr/>
        <p:nvPr/>
      </p:nvGrpSpPr>
      <p:grpSpPr>
        <a:xfrm>
          <a:off x="0" y="0"/>
          <a:ext cx="0" cy="0"/>
          <a:chOff x="0" y="0"/>
          <a:chExt cx="0" cy="0"/>
        </a:xfrm>
      </p:grpSpPr>
      <p:sp>
        <p:nvSpPr>
          <p:cNvPr id="296" name="Google Shape;29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Vì ReRAM chỉ là một phần tử </a:t>
            </a:r>
            <a:r>
              <a:rPr lang="en-US" altLang="en-US"/>
              <a:t>đ</a:t>
            </a:r>
            <a:r>
              <a:rPr lang="en-US" altLang="en-US"/>
              <a:t>iện trở </a:t>
            </a:r>
            <a:r>
              <a:rPr lang="en-US" altLang="en-US"/>
              <a:t>đ</a:t>
            </a:r>
            <a:r>
              <a:rPr lang="en-US" altLang="en-US"/>
              <a:t>ơn giản, ta có thể xếp chúng thành mạng l</a:t>
            </a:r>
            <a:r>
              <a:rPr lang="en-US" altLang="en-US"/>
              <a:t>ư</a:t>
            </a:r>
            <a:r>
              <a:rPr lang="en-US" altLang="en-US"/>
              <a:t>ới dày </a:t>
            </a:r>
            <a:r>
              <a:rPr lang="en-US" altLang="en-US"/>
              <a:t>đ</a:t>
            </a:r>
            <a:r>
              <a:rPr lang="en-US" altLang="en-US"/>
              <a:t>ặc — một ô tại mỗi giao </a:t>
            </a:r>
            <a:r>
              <a:rPr lang="en-US" altLang="en-US"/>
              <a:t>đ</a:t>
            </a:r>
            <a:r>
              <a:rPr lang="en-US" altLang="en-US"/>
              <a:t>iểm của hàng và cột. </a:t>
            </a:r>
            <a:r>
              <a:rPr lang="en-US" altLang="en-US"/>
              <a:t>Đ</a:t>
            </a:r>
            <a:r>
              <a:rPr lang="en-US" altLang="en-US"/>
              <a:t>ây là cấu trúc Crossbar, cho mật </a:t>
            </a:r>
            <a:r>
              <a:rPr lang="en-US" altLang="en-US"/>
              <a:t>đ</a:t>
            </a:r>
            <a:r>
              <a:rPr lang="en-US" altLang="en-US"/>
              <a:t>ộ cao nhất có thể.</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Nh</a:t>
            </a:r>
            <a:r>
              <a:rPr lang="en-US" altLang="en-US"/>
              <a:t>ư</a:t>
            </a:r>
            <a:r>
              <a:rPr lang="en-US" altLang="en-US"/>
              <a:t>ng có một vấn </a:t>
            </a:r>
            <a:r>
              <a:rPr lang="en-US" altLang="en-US"/>
              <a:t>đ</a:t>
            </a:r>
            <a:r>
              <a:rPr lang="en-US" altLang="en-US"/>
              <a:t>ề: khi </a:t>
            </a:r>
            <a:r>
              <a:rPr lang="en-US" altLang="en-US"/>
              <a:t>đ</a:t>
            </a:r>
            <a:r>
              <a:rPr lang="en-US" altLang="en-US"/>
              <a:t>ọc một ô, dòng </a:t>
            </a:r>
            <a:r>
              <a:rPr lang="en-US" altLang="en-US"/>
              <a:t>đ</a:t>
            </a:r>
            <a:r>
              <a:rPr lang="en-US" altLang="en-US"/>
              <a:t>iện có thể 'trốn' qua </a:t>
            </a:r>
            <a:r>
              <a:rPr lang="en-US" altLang="en-US"/>
              <a:t>đư</a:t>
            </a:r>
            <a:r>
              <a:rPr lang="en-US" altLang="en-US"/>
              <a:t>ờng khác — qua các ô lân cận có </a:t>
            </a:r>
            <a:r>
              <a:rPr lang="en-US" altLang="en-US"/>
              <a:t>đ</a:t>
            </a:r>
            <a:r>
              <a:rPr lang="en-US" altLang="en-US"/>
              <a:t>iện trở thấp — làm sai kết quả </a:t>
            </a:r>
            <a:r>
              <a:rPr lang="en-US" altLang="en-US"/>
              <a:t>đ</a:t>
            </a:r>
            <a:r>
              <a:rPr lang="en-US" altLang="en-US"/>
              <a:t>ọc. Gọi là Sneak-path, tức </a:t>
            </a:r>
            <a:r>
              <a:rPr lang="en-US" altLang="en-US"/>
              <a:t>đư</a:t>
            </a:r>
            <a:r>
              <a:rPr lang="en-US" altLang="en-US"/>
              <a:t>ờng </a:t>
            </a:r>
            <a:r>
              <a:rPr lang="en-US" altLang="en-US"/>
              <a:t>đ</a:t>
            </a:r>
            <a:r>
              <a:rPr lang="en-US" altLang="en-US"/>
              <a:t>i lậu.</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Giải pháp là thêm một transistor cho mỗi ô — cấu trúc 1T1R — </a:t>
            </a:r>
            <a:r>
              <a:rPr lang="en-US" altLang="en-US"/>
              <a:t>đ</a:t>
            </a:r>
            <a:r>
              <a:rPr lang="en-US" altLang="en-US"/>
              <a:t>ể chặn </a:t>
            </a:r>
            <a:r>
              <a:rPr lang="en-US" altLang="en-US"/>
              <a:t>đư</a:t>
            </a:r>
            <a:r>
              <a:rPr lang="en-US" altLang="en-US"/>
              <a:t>ờng </a:t>
            </a:r>
            <a:r>
              <a:rPr lang="en-US" altLang="en-US"/>
              <a:t>đ</a:t>
            </a:r>
            <a:r>
              <a:rPr lang="en-US" altLang="en-US"/>
              <a:t>i lậu </a:t>
            </a:r>
            <a:r>
              <a:rPr lang="en-US" altLang="en-US"/>
              <a:t>đ</a:t>
            </a:r>
            <a:r>
              <a:rPr lang="en-US" altLang="en-US"/>
              <a:t>ó. </a:t>
            </a:r>
            <a:r>
              <a:rPr lang="en-US" altLang="en-US"/>
              <a:t>Đ</a:t>
            </a:r>
            <a:r>
              <a:rPr lang="en-US" altLang="en-US"/>
              <a:t>ánh </a:t>
            </a:r>
            <a:r>
              <a:rPr lang="en-US" altLang="en-US"/>
              <a:t>đ</a:t>
            </a:r>
            <a:r>
              <a:rPr lang="en-US" altLang="en-US"/>
              <a:t>ổi: diện tích mỗi ô t</a:t>
            </a:r>
            <a:r>
              <a:rPr lang="en-US" altLang="en-US"/>
              <a:t>ă</a:t>
            </a:r>
            <a:r>
              <a:rPr lang="en-US" altLang="en-US"/>
              <a:t>ng lên, mật </a:t>
            </a:r>
            <a:r>
              <a:rPr lang="en-US" altLang="en-US"/>
              <a:t>đ</a:t>
            </a:r>
            <a:r>
              <a:rPr lang="en-US" altLang="en-US"/>
              <a:t>ộ giảm, nh</a:t>
            </a:r>
            <a:r>
              <a:rPr lang="en-US" altLang="en-US"/>
              <a:t>ư</a:t>
            </a:r>
            <a:r>
              <a:rPr lang="en-US" altLang="en-US"/>
              <a:t>ng </a:t>
            </a:r>
            <a:r>
              <a:rPr lang="en-US" altLang="en-US"/>
              <a:t>đ</a:t>
            </a:r>
            <a:r>
              <a:rPr lang="en-US" altLang="en-US"/>
              <a:t>ọc ghi chính xác hơn.</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Về </a:t>
            </a:r>
            <a:r>
              <a:rPr lang="en-US" altLang="en-US"/>
              <a:t>đ</a:t>
            </a:r>
            <a:r>
              <a:rPr lang="en-US" altLang="en-US"/>
              <a:t>ộ bền: ReRAM giữ dữ liệu hơn 10 n</a:t>
            </a:r>
            <a:r>
              <a:rPr lang="en-US" altLang="en-US"/>
              <a:t>ă</a:t>
            </a:r>
            <a:r>
              <a:rPr lang="en-US" altLang="en-US"/>
              <a:t>m và chịu </a:t>
            </a:r>
            <a:r>
              <a:rPr lang="en-US" altLang="en-US"/>
              <a:t>đư</a:t>
            </a:r>
            <a:r>
              <a:rPr lang="en-US" altLang="en-US"/>
              <a:t>ợc hơn 1 triệu lần ghi.</a:t>
            </a:r>
            <a:endParaRPr lang="en-US" altLang="en-US"/>
          </a:p>
        </p:txBody>
      </p:sp>
      <p:sp>
        <p:nvSpPr>
          <p:cNvPr id="297" name="Google Shape;297;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20"/>
        <p:cNvGrpSpPr/>
        <p:nvPr/>
      </p:nvGrpSpPr>
      <p:grpSpPr>
        <a:xfrm>
          <a:off x="0" y="0"/>
          <a:ext cx="0" cy="0"/>
          <a:chOff x="0" y="0"/>
          <a:chExt cx="0" cy="0"/>
        </a:xfrm>
      </p:grpSpPr>
      <p:sp>
        <p:nvSpPr>
          <p:cNvPr id="321" name="Google Shape;32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Đây là ứng dụng </a:t>
            </a:r>
            <a:r>
              <a:rPr lang="en-US" altLang="en-US"/>
              <a:t>đ</a:t>
            </a:r>
            <a:r>
              <a:rPr lang="en-US" altLang="en-US"/>
              <a:t>ặc biệt nhất của ReRAM — không chỉ l</a:t>
            </a:r>
            <a:r>
              <a:rPr lang="en-US" altLang="en-US"/>
              <a:t>ư</a:t>
            </a:r>
            <a:r>
              <a:rPr lang="en-US" altLang="en-US"/>
              <a:t>u trữ mà còn tính toán ngay trong bộ nhớ.</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Cấu trúc Crossbar hoạt </a:t>
            </a:r>
            <a:r>
              <a:rPr lang="en-US" altLang="en-US"/>
              <a:t>đ</a:t>
            </a:r>
            <a:r>
              <a:rPr lang="en-US" altLang="en-US"/>
              <a:t>ộng nh</a:t>
            </a:r>
            <a:r>
              <a:rPr lang="en-US" altLang="en-US"/>
              <a:t>ư</a:t>
            </a:r>
            <a:r>
              <a:rPr lang="en-US" altLang="en-US"/>
              <a:t> một mảng ma trận: mỗi ô nhớ l</a:t>
            </a:r>
            <a:r>
              <a:rPr lang="en-US" altLang="en-US"/>
              <a:t>ư</a:t>
            </a:r>
            <a:r>
              <a:rPr lang="en-US" altLang="en-US"/>
              <a:t>u một giá trị trọng số d</a:t>
            </a:r>
            <a:r>
              <a:rPr lang="en-US" altLang="en-US"/>
              <a:t>ư</a:t>
            </a:r>
            <a:r>
              <a:rPr lang="en-US" altLang="en-US"/>
              <a:t>ới dạng </a:t>
            </a:r>
            <a:r>
              <a:rPr lang="en-US" altLang="en-US"/>
              <a:t>đ</a:t>
            </a:r>
            <a:r>
              <a:rPr lang="en-US" altLang="en-US"/>
              <a:t>iện trở. Khi áp vector </a:t>
            </a:r>
            <a:r>
              <a:rPr lang="en-US" altLang="en-US"/>
              <a:t>đ</a:t>
            </a:r>
            <a:r>
              <a:rPr lang="en-US" altLang="en-US"/>
              <a:t>iện áp vào các hàng, dòng </a:t>
            </a:r>
            <a:r>
              <a:rPr lang="en-US" altLang="en-US"/>
              <a:t>đ</a:t>
            </a:r>
            <a:r>
              <a:rPr lang="en-US" altLang="en-US"/>
              <a:t>iện ở từng cột - theo </a:t>
            </a:r>
            <a:r>
              <a:rPr lang="en-US" altLang="en-US"/>
              <a:t>đ</a:t>
            </a:r>
            <a:r>
              <a:rPr lang="en-US" altLang="en-US"/>
              <a:t>ịnh luật Ohm và Kirchhoff - tự </a:t>
            </a:r>
            <a:r>
              <a:rPr lang="en-US" altLang="en-US"/>
              <a:t>đ</a:t>
            </a:r>
            <a:r>
              <a:rPr lang="en-US" altLang="en-US"/>
              <a:t>ộng tính ra tích của </a:t>
            </a:r>
            <a:r>
              <a:rPr lang="en-US" altLang="en-US"/>
              <a:t>đ</a:t>
            </a:r>
            <a:r>
              <a:rPr lang="en-US" altLang="en-US"/>
              <a:t>iện áp và </a:t>
            </a:r>
            <a:r>
              <a:rPr lang="en-US" altLang="en-US"/>
              <a:t>đ</a:t>
            </a:r>
            <a:r>
              <a:rPr lang="en-US" altLang="en-US"/>
              <a:t>iện trở. Toàn bộ phép nhân ma trận-vector hoàn thành trong một b</a:t>
            </a:r>
            <a:r>
              <a:rPr lang="en-US" altLang="en-US"/>
              <a:t>ư</a:t>
            </a:r>
            <a:r>
              <a:rPr lang="en-US" altLang="en-US"/>
              <a:t>ớc vật l</a:t>
            </a:r>
            <a:r>
              <a:rPr lang="en-US" altLang="en-US"/>
              <a:t>ý</a:t>
            </a:r>
            <a:r>
              <a:rPr lang="en-US" altLang="en-US"/>
              <a:t>, không cần chuyển dữ liệu giữa bộ nhớ và CPU.</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Mạng nơ-ron nhân tạo chủ yếu dùng phép nhân ma trận-vector - </a:t>
            </a:r>
            <a:r>
              <a:rPr lang="en-US" altLang="en-US"/>
              <a:t>đ</a:t>
            </a:r>
            <a:r>
              <a:rPr lang="en-US" altLang="en-US"/>
              <a:t>ây chính là l</a:t>
            </a:r>
            <a:r>
              <a:rPr lang="en-US" altLang="en-US"/>
              <a:t>ý</a:t>
            </a:r>
            <a:r>
              <a:rPr lang="en-US" altLang="en-US"/>
              <a:t> do ReRAM rất hứa hẹn cho phần cứng AI.</a:t>
            </a:r>
            <a:endParaRPr lang="en-US" altLang="en-US"/>
          </a:p>
        </p:txBody>
      </p:sp>
      <p:sp>
        <p:nvSpPr>
          <p:cNvPr id="322" name="Google Shape;322;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50"/>
        <p:cNvGrpSpPr/>
        <p:nvPr/>
      </p:nvGrpSpPr>
      <p:grpSpPr>
        <a:xfrm>
          <a:off x="0" y="0"/>
          <a:ext cx="0" cy="0"/>
          <a:chOff x="0" y="0"/>
          <a:chExt cx="0" cy="0"/>
        </a:xfrm>
      </p:grpSpPr>
      <p:sp>
        <p:nvSpPr>
          <p:cNvPr id="351" name="Google Shape;351;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Từ nguyên l</a:t>
            </a:r>
            <a:r>
              <a:rPr lang="" altLang="en-US"/>
              <a:t>ý</a:t>
            </a:r>
            <a:r>
              <a:rPr lang="en-US" altLang="en-US"/>
              <a:t> ở slide tr</a:t>
            </a:r>
            <a:r>
              <a:rPr lang="" altLang="en-US"/>
              <a:t>ư</a:t>
            </a:r>
            <a:r>
              <a:rPr lang="en-US" altLang="en-US"/>
              <a:t>ớc, các nhà nghiên cứu xây dựng các kiến trúc chip AI thực tế.</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ISAAC chia mạng nơ-ron thành các 'tile' — mỗi tile là một mảng Crossbar ReRAM nhỏ </a:t>
            </a:r>
            <a:r>
              <a:rPr lang="" altLang="en-US"/>
              <a:t>đ</a:t>
            </a:r>
            <a:r>
              <a:rPr lang="en-US" altLang="en-US"/>
              <a:t>ảm nhận một lớp của mạng. Các tile xử l</a:t>
            </a:r>
            <a:r>
              <a:rPr lang="" altLang="en-US"/>
              <a:t>ý</a:t>
            </a:r>
            <a:r>
              <a:rPr lang="en-US" altLang="en-US"/>
              <a:t> song song nhau theo dạng pipeline, giống nh</a:t>
            </a:r>
            <a:r>
              <a:rPr lang="" altLang="en-US"/>
              <a:t>ư</a:t>
            </a:r>
            <a:r>
              <a:rPr lang="en-US" altLang="en-US"/>
              <a:t> dây chuyền sản xuất.</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PipeLayer cải tiến thêm bằng cách cho phép xử l</a:t>
            </a:r>
            <a:r>
              <a:rPr lang="" altLang="en-US"/>
              <a:t>ý</a:t>
            </a:r>
            <a:r>
              <a:rPr lang="en-US" altLang="en-US"/>
              <a:t> nhiều ảnh cùng lúc </a:t>
            </a:r>
            <a:r>
              <a:rPr lang="" altLang="en-US"/>
              <a:t>đ</a:t>
            </a:r>
            <a:r>
              <a:rPr lang="en-US" altLang="en-US"/>
              <a:t>ồng thời qua các giai </a:t>
            </a:r>
            <a:r>
              <a:rPr lang="" altLang="en-US"/>
              <a:t>đ</a:t>
            </a:r>
            <a:r>
              <a:rPr lang="en-US" altLang="en-US"/>
              <a:t>oạn, t</a:t>
            </a:r>
            <a:r>
              <a:rPr lang="" altLang="en-US"/>
              <a:t>ă</a:t>
            </a:r>
            <a:r>
              <a:rPr lang="en-US" altLang="en-US"/>
              <a:t>ng throughput </a:t>
            </a:r>
            <a:r>
              <a:rPr lang="" altLang="en-US"/>
              <a:t>đ</a:t>
            </a:r>
            <a:r>
              <a:rPr lang="en-US" altLang="en-US"/>
              <a:t>áng kể.</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Về l</a:t>
            </a:r>
            <a:r>
              <a:rPr lang="" altLang="en-US"/>
              <a:t>ý</a:t>
            </a:r>
            <a:r>
              <a:rPr lang="en-US" altLang="en-US"/>
              <a:t> thuyết, kiến trúc này tiêu thụ </a:t>
            </a:r>
            <a:r>
              <a:rPr lang="" altLang="en-US"/>
              <a:t>đ</a:t>
            </a:r>
            <a:r>
              <a:rPr lang="en-US" altLang="en-US"/>
              <a:t>iện n</a:t>
            </a:r>
            <a:r>
              <a:rPr lang="" altLang="en-US"/>
              <a:t>ă</a:t>
            </a:r>
            <a:r>
              <a:rPr lang="en-US" altLang="en-US"/>
              <a:t>ng thấp hơn và cho tốc </a:t>
            </a:r>
            <a:r>
              <a:rPr lang="" altLang="en-US"/>
              <a:t>đ</a:t>
            </a:r>
            <a:r>
              <a:rPr lang="en-US" altLang="en-US"/>
              <a:t>ộ suy diễn cao hơn GPU — vì tính toán và l</a:t>
            </a:r>
            <a:r>
              <a:rPr lang="" altLang="en-US"/>
              <a:t>ư</a:t>
            </a:r>
            <a:r>
              <a:rPr lang="en-US" altLang="en-US"/>
              <a:t>u trữ diễn ra cùng một chỗ.</a:t>
            </a:r>
            <a:endParaRPr lang="en-US" altLang="en-US"/>
          </a:p>
        </p:txBody>
      </p:sp>
      <p:sp>
        <p:nvSpPr>
          <p:cNvPr id="352" name="Google Shape;352;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73"/>
        <p:cNvGrpSpPr/>
        <p:nvPr/>
      </p:nvGrpSpPr>
      <p:grpSpPr>
        <a:xfrm>
          <a:off x="0" y="0"/>
          <a:ext cx="0" cy="0"/>
          <a:chOff x="0" y="0"/>
          <a:chExt cx="0" cy="0"/>
        </a:xfrm>
      </p:grpSpPr>
      <p:sp>
        <p:nvSpPr>
          <p:cNvPr id="374" name="Google Shape;37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Tuy nhiên, thực tế có những nút thắt lớn khiến ReRAM accelerator ch</a:t>
            </a:r>
            <a:r>
              <a:rPr lang="" altLang="en-US"/>
              <a:t>ư</a:t>
            </a:r>
            <a:r>
              <a:rPr lang="en-US" altLang="en-US"/>
              <a:t>a th</a:t>
            </a:r>
            <a:r>
              <a:rPr lang="" altLang="en-US"/>
              <a:t>ư</a:t>
            </a:r>
            <a:r>
              <a:rPr lang="en-US" altLang="en-US"/>
              <a:t>ơng mại hóa </a:t>
            </a:r>
            <a:r>
              <a:rPr lang="" altLang="en-US"/>
              <a:t>đư</a:t>
            </a:r>
            <a:r>
              <a:rPr lang="en-US" altLang="en-US"/>
              <a:t>ợc.</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Vấn </a:t>
            </a:r>
            <a:r>
              <a:rPr lang="" altLang="en-US"/>
              <a:t>đ</a:t>
            </a:r>
            <a:r>
              <a:rPr lang="en-US" altLang="en-US"/>
              <a:t>ề lớn nhất: mảng Crossbar tính toán theo tín hiệu analog, nh</a:t>
            </a:r>
            <a:r>
              <a:rPr lang="" altLang="en-US"/>
              <a:t>ư</a:t>
            </a:r>
            <a:r>
              <a:rPr lang="en-US" altLang="en-US"/>
              <a:t>ng CPU và các lớp tiếp theo cần tín hiệu số. Cần có bộ chuyển </a:t>
            </a:r>
            <a:r>
              <a:rPr lang="" altLang="en-US"/>
              <a:t>đ</a:t>
            </a:r>
            <a:r>
              <a:rPr lang="en-US" altLang="en-US"/>
              <a:t>ổi ADC và DAC. </a:t>
            </a:r>
            <a:r>
              <a:rPr lang="" altLang="en-US"/>
              <a:t>Đ</a:t>
            </a:r>
            <a:r>
              <a:rPr lang="en-US" altLang="en-US"/>
              <a:t>iều </a:t>
            </a:r>
            <a:r>
              <a:rPr lang="" altLang="en-US"/>
              <a:t>đ</a:t>
            </a:r>
            <a:r>
              <a:rPr lang="en-US" altLang="en-US"/>
              <a:t>áng ngạc nhiên là ADC/DAC chiếm </a:t>
            </a:r>
            <a:r>
              <a:rPr lang="" altLang="en-US"/>
              <a:t>đ</a:t>
            </a:r>
            <a:r>
              <a:rPr lang="en-US" altLang="en-US"/>
              <a:t>ến 85-98% diện tích chip — phần tính toán thực sự chỉ chiếm 2-15%.</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Ngoài ra còn: lỗi cứng stuck-at khi ô nhớ bị hỏng v</a:t>
            </a:r>
            <a:r>
              <a:rPr lang="" altLang="en-US"/>
              <a:t>ĩ</a:t>
            </a:r>
            <a:r>
              <a:rPr lang="en-US" altLang="en-US"/>
              <a:t>nh viễn — xử l</a:t>
            </a:r>
            <a:r>
              <a:rPr lang="" altLang="en-US"/>
              <a:t>ý</a:t>
            </a:r>
            <a:r>
              <a:rPr lang="en-US" altLang="en-US"/>
              <a:t> bằng cách huấn luyện mạng </a:t>
            </a:r>
            <a:r>
              <a:rPr lang="" altLang="en-US"/>
              <a:t>đ</a:t>
            </a:r>
            <a:r>
              <a:rPr lang="en-US" altLang="en-US"/>
              <a:t>ể thích nghi với lỗi; process variation khi sản xuất không hoàn hảo; resistance drift làm trọng số dần sai theo thời gian; và thiếu công cụ mô phỏng mở </a:t>
            </a:r>
            <a:r>
              <a:rPr lang="" altLang="en-US"/>
              <a:t>đ</a:t>
            </a:r>
            <a:r>
              <a:rPr lang="en-US" altLang="en-US"/>
              <a:t>ủ lớn </a:t>
            </a:r>
            <a:r>
              <a:rPr lang="" altLang="en-US"/>
              <a:t>đ</a:t>
            </a:r>
            <a:r>
              <a:rPr lang="en-US" altLang="en-US"/>
              <a:t>ể kiểm chứng kết quả ở quy mô chip thực tế.</a:t>
            </a:r>
            <a:endParaRPr lang="en-US" altLang="en-US"/>
          </a:p>
        </p:txBody>
      </p:sp>
      <p:sp>
        <p:nvSpPr>
          <p:cNvPr id="375" name="Google Shape;375;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90"/>
        <p:cNvGrpSpPr/>
        <p:nvPr/>
      </p:nvGrpSpPr>
      <p:grpSpPr>
        <a:xfrm>
          <a:off x="0" y="0"/>
          <a:ext cx="0" cy="0"/>
          <a:chOff x="0" y="0"/>
          <a:chExt cx="0" cy="0"/>
        </a:xfrm>
      </p:grpSpPr>
      <p:sp>
        <p:nvSpPr>
          <p:cNvPr id="391" name="Google Shape;391;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Sau khi hiểu PCM và ReRAM, chúng ta thấy cả hai </a:t>
            </a:r>
            <a:r>
              <a:rPr lang="" altLang="en-US"/>
              <a:t>đ</a:t>
            </a:r>
            <a:r>
              <a:rPr lang="en-US" altLang="en-US"/>
              <a:t>ều có tốc </a:t>
            </a:r>
            <a:r>
              <a:rPr lang="" altLang="en-US"/>
              <a:t>đ</a:t>
            </a:r>
            <a:r>
              <a:rPr lang="en-US" altLang="en-US"/>
              <a:t>ộ gần với DRAM và l</a:t>
            </a:r>
            <a:r>
              <a:rPr lang="" altLang="en-US"/>
              <a:t>ư</a:t>
            </a:r>
            <a:r>
              <a:rPr lang="en-US" altLang="en-US"/>
              <a:t>u dữ liệu bền vững nh</a:t>
            </a:r>
            <a:r>
              <a:rPr lang="" altLang="en-US"/>
              <a:t>ư</a:t>
            </a:r>
            <a:r>
              <a:rPr lang="en-US" altLang="en-US"/>
              <a:t> Flash. </a:t>
            </a:r>
            <a:r>
              <a:rPr lang="" altLang="en-US"/>
              <a:t>Đ</a:t>
            </a:r>
            <a:r>
              <a:rPr lang="en-US" altLang="en-US"/>
              <a:t>ây chính là cơ sở cho khái niệm Storage-Class Memory — viết tắt là SCM.</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SCM là một lớp bộ nhớ mới </a:t>
            </a:r>
            <a:r>
              <a:rPr lang="" altLang="en-US"/>
              <a:t>đ</a:t>
            </a:r>
            <a:r>
              <a:rPr lang="en-US" altLang="en-US"/>
              <a:t>ặt giữa DRAM và Flash trong phân cấp: truy cập theo byte nh</a:t>
            </a:r>
            <a:r>
              <a:rPr lang="" altLang="en-US"/>
              <a:t>ư</a:t>
            </a:r>
            <a:r>
              <a:rPr lang="en-US" altLang="en-US"/>
              <a:t> RAM, không mất dữ liệu khi tắt </a:t>
            </a:r>
            <a:r>
              <a:rPr lang="" altLang="en-US"/>
              <a:t>đ</a:t>
            </a:r>
            <a:r>
              <a:rPr lang="en-US" altLang="en-US"/>
              <a:t>iện nh</a:t>
            </a:r>
            <a:r>
              <a:rPr lang="" altLang="en-US"/>
              <a:t>ư</a:t>
            </a:r>
            <a:r>
              <a:rPr lang="en-US" altLang="en-US"/>
              <a:t> ổ cứng, và </a:t>
            </a:r>
            <a:r>
              <a:rPr lang="" altLang="en-US"/>
              <a:t>đ</a:t>
            </a:r>
            <a:r>
              <a:rPr lang="en-US" altLang="en-US"/>
              <a:t>ộ trễ khoảng 100ns — nhanh hơn Flash vài nghìn lần dù chậm hơn DRAM một chút.</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 altLang="en-US"/>
              <a:t>Ư</a:t>
            </a:r>
            <a:r>
              <a:rPr lang="en-US" altLang="en-US"/>
              <a:t>u </a:t>
            </a:r>
            <a:r>
              <a:rPr lang="" altLang="en-US"/>
              <a:t>đ</a:t>
            </a:r>
            <a:r>
              <a:rPr lang="en-US" altLang="en-US"/>
              <a:t>iểm thêm: không cần refresh nh</a:t>
            </a:r>
            <a:r>
              <a:rPr lang="" altLang="en-US"/>
              <a:t>ư</a:t>
            </a:r>
            <a:r>
              <a:rPr lang="en-US" altLang="en-US"/>
              <a:t> DRAM nên không hao </a:t>
            </a:r>
            <a:r>
              <a:rPr lang="" altLang="en-US"/>
              <a:t>đ</a:t>
            </a:r>
            <a:r>
              <a:rPr lang="en-US" altLang="en-US"/>
              <a:t>iện khi </a:t>
            </a:r>
            <a:r>
              <a:rPr lang="" altLang="en-US"/>
              <a:t>đ</a:t>
            </a:r>
            <a:r>
              <a:rPr lang="en-US" altLang="en-US"/>
              <a:t>ứng chờ, và hỗ trợ l</a:t>
            </a:r>
            <a:r>
              <a:rPr lang="" altLang="en-US"/>
              <a:t>ư</a:t>
            </a:r>
            <a:r>
              <a:rPr lang="en-US" altLang="en-US"/>
              <a:t>u nhiều bit mỗi ô.</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=&gt; SCM không phải thay thế DRAM hay Flash mà là thêm một lớp mới giữa chúng.</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endParaRPr lang="en-US" altLang="en-US"/>
          </a:p>
        </p:txBody>
      </p:sp>
      <p:sp>
        <p:nvSpPr>
          <p:cNvPr id="392" name="Google Shape;392;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422"/>
        <p:cNvGrpSpPr/>
        <p:nvPr/>
      </p:nvGrpSpPr>
      <p:grpSpPr>
        <a:xfrm>
          <a:off x="0" y="0"/>
          <a:ext cx="0" cy="0"/>
          <a:chOff x="0" y="0"/>
          <a:chExt cx="0" cy="0"/>
        </a:xfrm>
      </p:grpSpPr>
      <p:sp>
        <p:nvSpPr>
          <p:cNvPr id="423" name="Google Shape;423;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Nhìn vào bảng số liệu từ tài liệu TL5 — khảo sát của Kamath và cộng sự 2019. Hai </a:t>
            </a:r>
            <a:r>
              <a:rPr lang="" altLang="en-US"/>
              <a:t>đ</a:t>
            </a:r>
            <a:r>
              <a:rPr lang="en-US" altLang="en-US"/>
              <a:t>iểm </a:t>
            </a:r>
            <a:r>
              <a:rPr lang="" altLang="en-US"/>
              <a:t>đ</a:t>
            </a:r>
            <a:r>
              <a:rPr lang="en-US" altLang="en-US"/>
              <a:t>áng chú </a:t>
            </a:r>
            <a:r>
              <a:rPr lang="" altLang="en-US"/>
              <a:t>ý</a:t>
            </a:r>
            <a:r>
              <a:rPr lang="en-US" altLang="en-US"/>
              <a:t> nhất:</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Một: PCM </a:t>
            </a:r>
            <a:r>
              <a:rPr lang="" altLang="en-US"/>
              <a:t>đ</a:t>
            </a:r>
            <a:r>
              <a:rPr lang="en-US" altLang="en-US"/>
              <a:t>ọc nhanh 20-50ns — gần với DRAM 50ns — nh</a:t>
            </a:r>
            <a:r>
              <a:rPr lang="" altLang="en-US"/>
              <a:t>ư</a:t>
            </a:r>
            <a:r>
              <a:rPr lang="en-US" altLang="en-US"/>
              <a:t>ng ghi chậm hơn nhiều, 500ns, do phải nung nóng vật liệu. </a:t>
            </a:r>
            <a:r>
              <a:rPr lang="" altLang="en-US"/>
              <a:t>Đ</a:t>
            </a:r>
            <a:r>
              <a:rPr lang="en-US" altLang="en-US"/>
              <a:t>ây là </a:t>
            </a:r>
            <a:r>
              <a:rPr lang="" altLang="en-US"/>
              <a:t>đ</a:t>
            </a:r>
            <a:r>
              <a:rPr lang="en-US" altLang="en-US"/>
              <a:t>ặc </a:t>
            </a:r>
            <a:r>
              <a:rPr lang="" altLang="en-US"/>
              <a:t>đ</a:t>
            </a:r>
            <a:r>
              <a:rPr lang="en-US" altLang="en-US"/>
              <a:t>iểm bất </a:t>
            </a:r>
            <a:r>
              <a:rPr lang="" altLang="en-US"/>
              <a:t>đ</a:t>
            </a:r>
            <a:r>
              <a:rPr lang="en-US" altLang="en-US"/>
              <a:t>ối xứng </a:t>
            </a:r>
            <a:r>
              <a:rPr lang="" altLang="en-US"/>
              <a:t>đ</a:t>
            </a:r>
            <a:r>
              <a:rPr lang="en-US" altLang="en-US"/>
              <a:t>ọc/ghi </a:t>
            </a:r>
            <a:r>
              <a:rPr lang="" altLang="en-US"/>
              <a:t>đ</a:t>
            </a:r>
            <a:r>
              <a:rPr lang="en-US" altLang="en-US"/>
              <a:t>iển hình của PCM.</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Hai: </a:t>
            </a:r>
            <a:r>
              <a:rPr lang="" altLang="en-US"/>
              <a:t>Đ</a:t>
            </a:r>
            <a:r>
              <a:rPr lang="en-US" altLang="en-US"/>
              <a:t>ộ bền — PCM chịu </a:t>
            </a:r>
            <a:r>
              <a:rPr lang="" altLang="en-US"/>
              <a:t>đư</a:t>
            </a:r>
            <a:r>
              <a:rPr lang="en-US" altLang="en-US"/>
              <a:t>ợc 10 m</a:t>
            </a:r>
            <a:r>
              <a:rPr lang="" altLang="en-US"/>
              <a:t>ũ</a:t>
            </a:r>
            <a:r>
              <a:rPr lang="en-US" altLang="en-US"/>
              <a:t> 8 </a:t>
            </a:r>
            <a:r>
              <a:rPr lang="" altLang="en-US"/>
              <a:t>đ</a:t>
            </a:r>
            <a:r>
              <a:rPr lang="en-US" altLang="en-US"/>
              <a:t>ến 10 m</a:t>
            </a:r>
            <a:r>
              <a:rPr lang="" altLang="en-US"/>
              <a:t>ũ</a:t>
            </a:r>
            <a:r>
              <a:rPr lang="en-US" altLang="en-US"/>
              <a:t> 9 chu kỳ ghi, ReRAM 10 m</a:t>
            </a:r>
            <a:r>
              <a:rPr lang="" altLang="en-US"/>
              <a:t>ũ</a:t>
            </a:r>
            <a:r>
              <a:rPr lang="en-US" altLang="en-US"/>
              <a:t> 11. So với Flash chỉ 10 m</a:t>
            </a:r>
            <a:r>
              <a:rPr lang="" altLang="en-US"/>
              <a:t>ũ</a:t>
            </a:r>
            <a:r>
              <a:rPr lang="en-US" altLang="en-US"/>
              <a:t> 4 </a:t>
            </a:r>
            <a:r>
              <a:rPr lang="" altLang="en-US"/>
              <a:t>đ</a:t>
            </a:r>
            <a:r>
              <a:rPr lang="en-US" altLang="en-US"/>
              <a:t>ến 10 m</a:t>
            </a:r>
            <a:r>
              <a:rPr lang="" altLang="en-US"/>
              <a:t>ũ</a:t>
            </a:r>
            <a:r>
              <a:rPr lang="en-US" altLang="en-US"/>
              <a:t> 5 — SCM bền hơn Flash rất nhiều.</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L</a:t>
            </a:r>
            <a:r>
              <a:rPr lang="" altLang="en-US"/>
              <a:t>ư</a:t>
            </a:r>
            <a:r>
              <a:rPr lang="en-US" altLang="en-US"/>
              <a:t>u </a:t>
            </a:r>
            <a:r>
              <a:rPr lang="" altLang="en-US"/>
              <a:t>ý</a:t>
            </a:r>
            <a:r>
              <a:rPr lang="en-US" altLang="en-US"/>
              <a:t> ở cuối bảng: Optane thực tế </a:t>
            </a:r>
            <a:r>
              <a:rPr lang="" altLang="en-US"/>
              <a:t>đ</a:t>
            </a:r>
            <a:r>
              <a:rPr lang="en-US" altLang="en-US"/>
              <a:t>o </a:t>
            </a:r>
            <a:r>
              <a:rPr lang="" altLang="en-US"/>
              <a:t>đư</a:t>
            </a:r>
            <a:r>
              <a:rPr lang="en-US" altLang="en-US"/>
              <a:t>ợc 305ns cho random read — cao hơn l</a:t>
            </a:r>
            <a:r>
              <a:rPr lang="" altLang="en-US"/>
              <a:t>ý</a:t>
            </a:r>
            <a:r>
              <a:rPr lang="en-US" altLang="en-US"/>
              <a:t> thuyết vì có thêm overhead hệ thống, phần này sẽ giải thích ở slide 18</a:t>
            </a:r>
            <a:endParaRPr lang="en-US" altLang="en-US"/>
          </a:p>
        </p:txBody>
      </p:sp>
      <p:sp>
        <p:nvSpPr>
          <p:cNvPr id="424" name="Google Shape;424;p1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462"/>
        <p:cNvGrpSpPr/>
        <p:nvPr/>
      </p:nvGrpSpPr>
      <p:grpSpPr>
        <a:xfrm>
          <a:off x="0" y="0"/>
          <a:ext cx="0" cy="0"/>
          <a:chOff x="0" y="0"/>
          <a:chExt cx="0" cy="0"/>
        </a:xfrm>
      </p:grpSpPr>
      <p:sp>
        <p:nvSpPr>
          <p:cNvPr id="463" name="Google Shape;463;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SCM có hai nh</a:t>
            </a:r>
            <a:r>
              <a:rPr lang="" altLang="en-US"/>
              <a:t>ư</a:t>
            </a:r>
            <a:r>
              <a:rPr lang="en-US" altLang="en-US"/>
              <a:t>ợc </a:t>
            </a:r>
            <a:r>
              <a:rPr lang="" altLang="en-US"/>
              <a:t>đ</a:t>
            </a:r>
            <a:r>
              <a:rPr lang="en-US" altLang="en-US"/>
              <a:t>iểm cốt l</a:t>
            </a:r>
            <a:r>
              <a:rPr lang="" altLang="en-US"/>
              <a:t>õ</a:t>
            </a:r>
            <a:r>
              <a:rPr lang="en-US" altLang="en-US"/>
              <a:t>i: </a:t>
            </a:r>
            <a:r>
              <a:rPr lang="" altLang="en-US"/>
              <a:t>đ</a:t>
            </a:r>
            <a:r>
              <a:rPr lang="en-US" altLang="en-US"/>
              <a:t>ộ bền ghi giới hạn và </a:t>
            </a:r>
            <a:r>
              <a:rPr lang="" altLang="en-US"/>
              <a:t>đ</a:t>
            </a:r>
            <a:r>
              <a:rPr lang="en-US" altLang="en-US"/>
              <a:t>ộ trễ ghi cao. Cộng </a:t>
            </a:r>
            <a:r>
              <a:rPr lang="" altLang="en-US"/>
              <a:t>đ</a:t>
            </a:r>
            <a:r>
              <a:rPr lang="en-US" altLang="en-US"/>
              <a:t>ồng nghiên cứu </a:t>
            </a:r>
            <a:r>
              <a:rPr lang="" altLang="en-US"/>
              <a:t>đ</a:t>
            </a:r>
            <a:r>
              <a:rPr lang="en-US" altLang="en-US"/>
              <a:t>ang giải quyết theo bốn h</a:t>
            </a:r>
            <a:r>
              <a:rPr lang="" altLang="en-US"/>
              <a:t>ư</a:t>
            </a:r>
            <a:r>
              <a:rPr lang="en-US" altLang="en-US"/>
              <a:t>ớng.</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H</a:t>
            </a:r>
            <a:r>
              <a:rPr lang="" altLang="en-US"/>
              <a:t>ư</a:t>
            </a:r>
            <a:r>
              <a:rPr lang="en-US" altLang="en-US"/>
              <a:t>ớng một — Wear-leveling: phân phối </a:t>
            </a:r>
            <a:r>
              <a:rPr lang="" altLang="en-US"/>
              <a:t>đ</a:t>
            </a:r>
            <a:r>
              <a:rPr lang="en-US" altLang="en-US"/>
              <a:t>ều tải ghi lên toàn bộ mảng thay vì cứ ghi </a:t>
            </a:r>
            <a:r>
              <a:rPr lang="" altLang="en-US"/>
              <a:t>đ</a:t>
            </a:r>
            <a:r>
              <a:rPr lang="en-US" altLang="en-US"/>
              <a:t>i ghi lại một chỗ. Dùng kỹ thuật nh</a:t>
            </a:r>
            <a:r>
              <a:rPr lang="" altLang="en-US"/>
              <a:t>ư</a:t>
            </a:r>
            <a:r>
              <a:rPr lang="en-US" altLang="en-US"/>
              <a:t> ECP </a:t>
            </a:r>
            <a:r>
              <a:rPr lang="" altLang="en-US"/>
              <a:t>đ</a:t>
            </a:r>
            <a:r>
              <a:rPr lang="en-US" altLang="en-US"/>
              <a:t>ể theo d</a:t>
            </a:r>
            <a:r>
              <a:rPr lang="" altLang="en-US"/>
              <a:t>õ</a:t>
            </a:r>
            <a:r>
              <a:rPr lang="en-US" altLang="en-US"/>
              <a:t>i và hoán </a:t>
            </a:r>
            <a:r>
              <a:rPr lang="" altLang="en-US"/>
              <a:t>đ</a:t>
            </a:r>
            <a:r>
              <a:rPr lang="en-US" altLang="en-US"/>
              <a:t>ổi </a:t>
            </a:r>
            <a:r>
              <a:rPr lang="" altLang="en-US"/>
              <a:t>đ</a:t>
            </a:r>
            <a:r>
              <a:rPr lang="en-US" altLang="en-US"/>
              <a:t>ịa chỉ.</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H</a:t>
            </a:r>
            <a:r>
              <a:rPr lang="" altLang="en-US"/>
              <a:t>ư</a:t>
            </a:r>
            <a:r>
              <a:rPr lang="en-US" altLang="en-US"/>
              <a:t>ớng hai — Sửa lỗi: khi ô nhớ bắt </a:t>
            </a:r>
            <a:r>
              <a:rPr lang="" altLang="en-US"/>
              <a:t>đ</a:t>
            </a:r>
            <a:r>
              <a:rPr lang="en-US" altLang="en-US"/>
              <a:t>ầu hỏng, cần mã sửa lỗi phức tạp hơn DRAM thông th</a:t>
            </a:r>
            <a:r>
              <a:rPr lang="" altLang="en-US"/>
              <a:t>ư</a:t>
            </a:r>
            <a:r>
              <a:rPr lang="en-US" altLang="en-US"/>
              <a:t>ờng vì lỗi cứng không thể tự phục hồi.</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H</a:t>
            </a:r>
            <a:r>
              <a:rPr lang="" altLang="en-US"/>
              <a:t>ư</a:t>
            </a:r>
            <a:r>
              <a:rPr lang="en-US" altLang="en-US"/>
              <a:t>ớng ba — Tối </a:t>
            </a:r>
            <a:r>
              <a:rPr lang="" altLang="en-US"/>
              <a:t>ư</a:t>
            </a:r>
            <a:r>
              <a:rPr lang="en-US" altLang="en-US"/>
              <a:t>u hiệu n</a:t>
            </a:r>
            <a:r>
              <a:rPr lang="" altLang="en-US"/>
              <a:t>ă</a:t>
            </a:r>
            <a:r>
              <a:rPr lang="en-US" altLang="en-US"/>
              <a:t>ng ghi: dùng PreSET </a:t>
            </a:r>
            <a:r>
              <a:rPr lang="" altLang="en-US"/>
              <a:t>đ</a:t>
            </a:r>
            <a:r>
              <a:rPr lang="en-US" altLang="en-US"/>
              <a:t>ể nạp tr</a:t>
            </a:r>
            <a:r>
              <a:rPr lang="" altLang="en-US"/>
              <a:t>ư</a:t>
            </a:r>
            <a:r>
              <a:rPr lang="en-US" altLang="en-US"/>
              <a:t>ớc n</a:t>
            </a:r>
            <a:r>
              <a:rPr lang="" altLang="en-US"/>
              <a:t>ă</a:t>
            </a:r>
            <a:r>
              <a:rPr lang="en-US" altLang="en-US"/>
              <a:t>ng l</a:t>
            </a:r>
            <a:r>
              <a:rPr lang="" altLang="en-US"/>
              <a:t>ư</a:t>
            </a:r>
            <a:r>
              <a:rPr lang="en-US" altLang="en-US"/>
              <a:t>ợng cho ô nhớ, giảm thời gian ghi thực tế; MaxPB song song hóa nhiều ô trong cùng page.</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H</a:t>
            </a:r>
            <a:r>
              <a:rPr lang="" altLang="en-US"/>
              <a:t>ư</a:t>
            </a:r>
            <a:r>
              <a:rPr lang="en-US" altLang="en-US"/>
              <a:t>ớng bốn — MLC: l</a:t>
            </a:r>
            <a:r>
              <a:rPr lang="" altLang="en-US"/>
              <a:t>ư</a:t>
            </a:r>
            <a:r>
              <a:rPr lang="en-US" altLang="en-US"/>
              <a:t>u 2-4 bit mỗi ô bằng cách dùng nhiều mức </a:t>
            </a:r>
            <a:r>
              <a:rPr lang="" altLang="en-US"/>
              <a:t>đ</a:t>
            </a:r>
            <a:r>
              <a:rPr lang="en-US" altLang="en-US"/>
              <a:t>iện trở, cần thuật toán kiểm tra nhiều vòng </a:t>
            </a:r>
            <a:r>
              <a:rPr lang="" altLang="en-US"/>
              <a:t>đ</a:t>
            </a:r>
            <a:r>
              <a:rPr lang="en-US" altLang="en-US"/>
              <a:t>ể </a:t>
            </a:r>
            <a:r>
              <a:rPr lang="" altLang="en-US"/>
              <a:t>đ</a:t>
            </a:r>
            <a:r>
              <a:rPr lang="en-US" altLang="en-US"/>
              <a:t>ạt </a:t>
            </a:r>
            <a:r>
              <a:rPr lang="" altLang="en-US"/>
              <a:t>đ</a:t>
            </a:r>
            <a:r>
              <a:rPr lang="en-US" altLang="en-US"/>
              <a:t>ộ chính xác cao.</a:t>
            </a:r>
            <a:endParaRPr lang="en-US" altLang="en-US"/>
          </a:p>
        </p:txBody>
      </p:sp>
      <p:sp>
        <p:nvSpPr>
          <p:cNvPr id="464" name="Google Shape;464;p1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497"/>
        <p:cNvGrpSpPr/>
        <p:nvPr/>
      </p:nvGrpSpPr>
      <p:grpSpPr>
        <a:xfrm>
          <a:off x="0" y="0"/>
          <a:ext cx="0" cy="0"/>
          <a:chOff x="0" y="0"/>
          <a:chExt cx="0" cy="0"/>
        </a:xfrm>
      </p:grpSpPr>
      <p:sp>
        <p:nvSpPr>
          <p:cNvPr id="498" name="Google Shape;498;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 altLang="en-US"/>
              <a:t>Đ</a:t>
            </a:r>
            <a:r>
              <a:rPr lang="en-US" altLang="en-US"/>
              <a:t>ây là sản phẩm SCM th</a:t>
            </a:r>
            <a:r>
              <a:rPr lang="" altLang="en-US"/>
              <a:t>ư</a:t>
            </a:r>
            <a:r>
              <a:rPr lang="en-US" altLang="en-US"/>
              <a:t>ơng mại </a:t>
            </a:r>
            <a:r>
              <a:rPr lang="" altLang="en-US"/>
              <a:t>đ</a:t>
            </a:r>
            <a:r>
              <a:rPr lang="en-US" altLang="en-US"/>
              <a:t>ầu tiên ra thị tr</a:t>
            </a:r>
            <a:r>
              <a:rPr lang="" altLang="en-US"/>
              <a:t>ư</a:t>
            </a:r>
            <a:r>
              <a:rPr lang="en-US" altLang="en-US"/>
              <a:t>ờng, n</a:t>
            </a:r>
            <a:r>
              <a:rPr lang="" altLang="en-US"/>
              <a:t>ă</a:t>
            </a:r>
            <a:r>
              <a:rPr lang="en-US" altLang="en-US"/>
              <a:t>m 2019. Intel gọi công nghệ bên trong là 3D XPoint — họ không công bố chi tiết, nh</a:t>
            </a:r>
            <a:r>
              <a:rPr lang="" altLang="en-US"/>
              <a:t>ư</a:t>
            </a:r>
            <a:r>
              <a:rPr lang="en-US" altLang="en-US"/>
              <a:t>ng cộng </a:t>
            </a:r>
            <a:r>
              <a:rPr lang="" altLang="en-US"/>
              <a:t>đ</a:t>
            </a:r>
            <a:r>
              <a:rPr lang="en-US" altLang="en-US"/>
              <a:t>ồng nghiên cứu xác nhận nó họ hàng gần với PCM.</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 altLang="en-US"/>
              <a:t>Đ</a:t>
            </a:r>
            <a:r>
              <a:rPr lang="en-US" altLang="en-US"/>
              <a:t>iểm </a:t>
            </a:r>
            <a:r>
              <a:rPr lang="" altLang="en-US"/>
              <a:t>đ</a:t>
            </a:r>
            <a:r>
              <a:rPr lang="en-US" altLang="en-US"/>
              <a:t>ặc biệt: Optane cắm vào khe DIMM — khe RAM thông th</a:t>
            </a:r>
            <a:r>
              <a:rPr lang="" altLang="en-US"/>
              <a:t>ư</a:t>
            </a:r>
            <a:r>
              <a:rPr lang="en-US" altLang="en-US"/>
              <a:t>ờng trên mainboard — không phải khe PCIe nh</a:t>
            </a:r>
            <a:r>
              <a:rPr lang="" altLang="en-US"/>
              <a:t>ư</a:t>
            </a:r>
            <a:r>
              <a:rPr lang="en-US" altLang="en-US"/>
              <a:t> SSD. CPU truy cập bằng lệnh load/store y hệt RAM.</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Nhìn vào bảng hai chế </a:t>
            </a:r>
            <a:r>
              <a:rPr lang="" altLang="en-US"/>
              <a:t>đ</a:t>
            </a:r>
            <a:r>
              <a:rPr lang="en-US" altLang="en-US"/>
              <a:t>ộ: Memory Mode thì Optane </a:t>
            </a:r>
            <a:r>
              <a:rPr lang="" altLang="en-US"/>
              <a:t>đ</a:t>
            </a:r>
            <a:r>
              <a:rPr lang="en-US" altLang="en-US"/>
              <a:t>óng vai trò RAM mở rộng dung l</a:t>
            </a:r>
            <a:r>
              <a:rPr lang="" altLang="en-US"/>
              <a:t>ư</a:t>
            </a:r>
            <a:r>
              <a:rPr lang="en-US" altLang="en-US"/>
              <a:t>ợng nh</a:t>
            </a:r>
            <a:r>
              <a:rPr lang="" altLang="en-US"/>
              <a:t>ư</a:t>
            </a:r>
            <a:r>
              <a:rPr lang="en-US" altLang="en-US"/>
              <a:t>ng dữ liệu sẽ mất khi tắt </a:t>
            </a:r>
            <a:r>
              <a:rPr lang="" altLang="en-US"/>
              <a:t>đ</a:t>
            </a:r>
            <a:r>
              <a:rPr lang="en-US" altLang="en-US"/>
              <a:t>iện. App Direct Mode thì dữ liệu bền vững — ứng dụng phải tự quản l</a:t>
            </a:r>
            <a:r>
              <a:rPr lang="" altLang="en-US"/>
              <a:t>ý</a:t>
            </a:r>
            <a:r>
              <a:rPr lang="en-US" altLang="en-US"/>
              <a:t> việc </a:t>
            </a:r>
            <a:r>
              <a:rPr lang="" altLang="en-US"/>
              <a:t>đ</a:t>
            </a:r>
            <a:r>
              <a:rPr lang="en-US" altLang="en-US"/>
              <a:t>ảm bảo nhất quán khi có sự cố.</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Một chi tiết kỹ thuật quan trọng: CPU ghi theo </a:t>
            </a:r>
            <a:r>
              <a:rPr lang="" altLang="en-US"/>
              <a:t>đ</a:t>
            </a:r>
            <a:r>
              <a:rPr lang="en-US" altLang="en-US"/>
              <a:t>ơn vị 64 byte, nh</a:t>
            </a:r>
            <a:r>
              <a:rPr lang="" altLang="en-US"/>
              <a:t>ư</a:t>
            </a:r>
            <a:r>
              <a:rPr lang="en-US" altLang="en-US"/>
              <a:t>ng Optane bên trong hoạt </a:t>
            </a:r>
            <a:r>
              <a:rPr lang="" altLang="en-US"/>
              <a:t>đ</a:t>
            </a:r>
            <a:r>
              <a:rPr lang="en-US" altLang="en-US"/>
              <a:t>ộng theo khối 256 byte. Mỗi lần ghi nhỏ hơn 256 byte </a:t>
            </a:r>
            <a:r>
              <a:rPr lang="" altLang="en-US"/>
              <a:t>đ</a:t>
            </a:r>
            <a:r>
              <a:rPr lang="en-US" altLang="en-US"/>
              <a:t>ều tốn chi phí </a:t>
            </a:r>
            <a:r>
              <a:rPr lang="" altLang="en-US"/>
              <a:t>đ</a:t>
            </a:r>
            <a:r>
              <a:rPr lang="en-US" altLang="en-US"/>
              <a:t>ọc-sửa-ghi lại toàn bộ khối — gây write amplification</a:t>
            </a:r>
            <a:endParaRPr lang="en-US" altLang="en-US"/>
          </a:p>
        </p:txBody>
      </p:sp>
      <p:sp>
        <p:nvSpPr>
          <p:cNvPr id="499" name="Google Shape;499;p1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12"/>
        <p:cNvGrpSpPr/>
        <p:nvPr/>
      </p:nvGrpSpPr>
      <p:grpSpPr>
        <a:xfrm>
          <a:off x="0" y="0"/>
          <a:ext cx="0" cy="0"/>
          <a:chOff x="0" y="0"/>
          <a:chExt cx="0" cy="0"/>
        </a:xfrm>
      </p:grpSpPr>
      <p:sp>
        <p:nvSpPr>
          <p:cNvPr id="513" name="Google Shape;513;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Nhóm nghiên cứu của giáo s</a:t>
            </a:r>
            <a:r>
              <a:rPr lang="" altLang="en-US"/>
              <a:t>ư</a:t>
            </a:r>
            <a:r>
              <a:rPr lang="en-US" altLang="en-US"/>
              <a:t> Izraelevitz tại UC San Diego </a:t>
            </a:r>
            <a:r>
              <a:rPr lang="" altLang="en-US"/>
              <a:t>đ</a:t>
            </a:r>
            <a:r>
              <a:rPr lang="en-US" altLang="en-US"/>
              <a:t>o 330 giờ liên tục trên phần cứng Optane thật — </a:t>
            </a:r>
            <a:r>
              <a:rPr lang="" altLang="en-US"/>
              <a:t>đ</a:t>
            </a:r>
            <a:r>
              <a:rPr lang="en-US" altLang="en-US"/>
              <a:t>ây là một trong những nghiên cứu </a:t>
            </a:r>
            <a:r>
              <a:rPr lang="" altLang="en-US"/>
              <a:t>đ</a:t>
            </a:r>
            <a:r>
              <a:rPr lang="en-US" altLang="en-US"/>
              <a:t>o l</a:t>
            </a:r>
            <a:r>
              <a:rPr lang="" altLang="en-US"/>
              <a:t>ư</a:t>
            </a:r>
            <a:r>
              <a:rPr lang="en-US" altLang="en-US"/>
              <a:t>ờng </a:t>
            </a:r>
            <a:r>
              <a:rPr lang="" altLang="en-US"/>
              <a:t>đ</a:t>
            </a:r>
            <a:r>
              <a:rPr lang="en-US" altLang="en-US"/>
              <a:t>ộc lập </a:t>
            </a:r>
            <a:r>
              <a:rPr lang="" altLang="en-US"/>
              <a:t>đ</a:t>
            </a:r>
            <a:r>
              <a:rPr lang="en-US" altLang="en-US"/>
              <a:t>ầu tiên.</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Nhìn bảng: </a:t>
            </a:r>
            <a:r>
              <a:rPr lang="" altLang="en-US"/>
              <a:t>đ</a:t>
            </a:r>
            <a:r>
              <a:rPr lang="en-US" altLang="en-US"/>
              <a:t>ọc ngẫu nhiên mất 305ns, chậm hơn DRAM 81ns khoảng 3-4 lần. Nh</a:t>
            </a:r>
            <a:r>
              <a:rPr lang="" altLang="en-US"/>
              <a:t>ư</a:t>
            </a:r>
            <a:r>
              <a:rPr lang="en-US" altLang="en-US"/>
              <a:t>ng ghi chỉ mất 94ns — gần nh</a:t>
            </a:r>
            <a:r>
              <a:rPr lang="" altLang="en-US"/>
              <a:t>ư</a:t>
            </a:r>
            <a:r>
              <a:rPr lang="en-US" altLang="en-US"/>
              <a:t> bằng DRAM 81ns. Tại sao ghi nhanh vậy? Vì ngay khi store </a:t>
            </a:r>
            <a:r>
              <a:rPr lang="" altLang="en-US"/>
              <a:t>đ</a:t>
            </a:r>
            <a:r>
              <a:rPr lang="en-US" altLang="en-US"/>
              <a:t>ến </a:t>
            </a:r>
            <a:r>
              <a:rPr lang="" altLang="en-US"/>
              <a:t>đư</a:t>
            </a:r>
            <a:r>
              <a:rPr lang="en-US" altLang="en-US"/>
              <a:t>ợc bộ </a:t>
            </a:r>
            <a:r>
              <a:rPr lang="" altLang="en-US"/>
              <a:t>đ</a:t>
            </a:r>
            <a:r>
              <a:rPr lang="en-US" altLang="en-US"/>
              <a:t>iều khiển CPU, dữ liệu </a:t>
            </a:r>
            <a:r>
              <a:rPr lang="" altLang="en-US"/>
              <a:t>đư</a:t>
            </a:r>
            <a:r>
              <a:rPr lang="en-US" altLang="en-US"/>
              <a:t>ợc coi là an toàn nhờ tụ </a:t>
            </a:r>
            <a:r>
              <a:rPr lang="" altLang="en-US"/>
              <a:t>đ</a:t>
            </a:r>
            <a:r>
              <a:rPr lang="en-US" altLang="en-US"/>
              <a:t>iện dự phòng — không cần chờ ghi xuống chip thật.</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Phát hiện quan trọng nhất: tất cả các nghiên cứu tr</a:t>
            </a:r>
            <a:r>
              <a:rPr lang="" altLang="en-US"/>
              <a:t>ư</a:t>
            </a:r>
            <a:r>
              <a:rPr lang="en-US" altLang="en-US"/>
              <a:t>ớc 2019 dùng DRAM giả làm NVM </a:t>
            </a:r>
            <a:r>
              <a:rPr lang="" altLang="en-US"/>
              <a:t>đ</a:t>
            </a:r>
            <a:r>
              <a:rPr lang="en-US" altLang="en-US"/>
              <a:t>ể thử nghiệm. Kết quả thực tế chậm hơn </a:t>
            </a:r>
            <a:r>
              <a:rPr lang="" altLang="en-US"/>
              <a:t>đ</a:t>
            </a:r>
            <a:r>
              <a:rPr lang="en-US" altLang="en-US"/>
              <a:t>áng kể so với dự </a:t>
            </a:r>
            <a:r>
              <a:rPr lang="" altLang="en-US"/>
              <a:t>đ</a:t>
            </a:r>
            <a:r>
              <a:rPr lang="en-US" altLang="en-US"/>
              <a:t>oán </a:t>
            </a:r>
            <a:r>
              <a:rPr lang="" altLang="en-US"/>
              <a:t>đ</a:t>
            </a:r>
            <a:r>
              <a:rPr lang="en-US" altLang="en-US"/>
              <a:t>ó. Tức là nhiều bài báo tr</a:t>
            </a:r>
            <a:r>
              <a:rPr lang="" altLang="en-US"/>
              <a:t>ư</a:t>
            </a:r>
            <a:r>
              <a:rPr lang="en-US" altLang="en-US"/>
              <a:t>ớc </a:t>
            </a:r>
            <a:r>
              <a:rPr lang="" altLang="en-US"/>
              <a:t>đ</a:t>
            </a:r>
            <a:r>
              <a:rPr lang="en-US" altLang="en-US"/>
              <a:t>ây </a:t>
            </a:r>
            <a:r>
              <a:rPr lang="" altLang="en-US"/>
              <a:t>đư</a:t>
            </a:r>
            <a:r>
              <a:rPr lang="en-US" altLang="en-US"/>
              <a:t>a ra con số quá lạc quan.</a:t>
            </a:r>
            <a:endParaRPr lang="en-US" altLang="en-US"/>
          </a:p>
        </p:txBody>
      </p:sp>
      <p:sp>
        <p:nvSpPr>
          <p:cNvPr id="514" name="Google Shape;514;p1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43"/>
        <p:cNvGrpSpPr/>
        <p:nvPr/>
      </p:nvGrpSpPr>
      <p:grpSpPr>
        <a:xfrm>
          <a:off x="0" y="0"/>
          <a:ext cx="0" cy="0"/>
          <a:chOff x="0" y="0"/>
          <a:chExt cx="0" cy="0"/>
        </a:xfrm>
      </p:grpSpPr>
      <p:sp>
        <p:nvSpPr>
          <p:cNvPr id="544" name="Google Shape;544;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Bảng này tổng hợp so sánh toàn bộ các công nghệ theo các tiêu chí kỹ thuật quan trọng.</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Một vài </a:t>
            </a:r>
            <a:r>
              <a:rPr lang="" altLang="en-US"/>
              <a:t>đ</a:t>
            </a:r>
            <a:r>
              <a:rPr lang="en-US" altLang="en-US"/>
              <a:t>iểm nổi bật: chỉ có DRAM và các công nghệ SCM mới là byte-addressable — Flash vẫn phải truy cập theo block. Về </a:t>
            </a:r>
            <a:r>
              <a:rPr lang="" altLang="en-US"/>
              <a:t>đ</a:t>
            </a:r>
            <a:r>
              <a:rPr lang="en-US" altLang="en-US"/>
              <a:t>ộ bền ghi, thứ tự từ tốt </a:t>
            </a:r>
            <a:r>
              <a:rPr lang="" altLang="en-US"/>
              <a:t>đ</a:t>
            </a:r>
            <a:r>
              <a:rPr lang="en-US" altLang="en-US"/>
              <a:t>ến kém là: DRAM vô hạn → ReRAM 10 m</a:t>
            </a:r>
            <a:r>
              <a:rPr lang="" altLang="en-US"/>
              <a:t>ũ</a:t>
            </a:r>
            <a:r>
              <a:rPr lang="en-US" altLang="en-US"/>
              <a:t> 11 → PCM 10 m</a:t>
            </a:r>
            <a:r>
              <a:rPr lang="" altLang="en-US"/>
              <a:t>ũ</a:t>
            </a:r>
            <a:r>
              <a:rPr lang="en-US" altLang="en-US"/>
              <a:t> 8-9 → Optane 10 m</a:t>
            </a:r>
            <a:r>
              <a:rPr lang="" altLang="en-US"/>
              <a:t>ũ</a:t>
            </a:r>
            <a:r>
              <a:rPr lang="en-US" altLang="en-US"/>
              <a:t> 6-7 → Flash 10 m</a:t>
            </a:r>
            <a:r>
              <a:rPr lang="" altLang="en-US"/>
              <a:t>ũ</a:t>
            </a:r>
            <a:r>
              <a:rPr lang="en-US" altLang="en-US"/>
              <a:t> 4-5.</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L</a:t>
            </a:r>
            <a:r>
              <a:rPr lang="" altLang="en-US"/>
              <a:t>ư</a:t>
            </a:r>
            <a:r>
              <a:rPr lang="en-US" altLang="en-US"/>
              <a:t>u </a:t>
            </a:r>
            <a:r>
              <a:rPr lang="" altLang="en-US"/>
              <a:t>ý</a:t>
            </a:r>
            <a:r>
              <a:rPr lang="en-US" altLang="en-US"/>
              <a:t>: Optane bền hơn Flash nh</a:t>
            </a:r>
            <a:r>
              <a:rPr lang="" altLang="en-US"/>
              <a:t>ư</a:t>
            </a:r>
            <a:r>
              <a:rPr lang="en-US" altLang="en-US"/>
              <a:t>ng kém hơn PCM l</a:t>
            </a:r>
            <a:r>
              <a:rPr lang="" altLang="en-US"/>
              <a:t>ý</a:t>
            </a:r>
            <a:r>
              <a:rPr lang="en-US" altLang="en-US"/>
              <a:t> thuyết — phản ánh chi phí của wear-leveling và overhead hệ thống trong sản phẩm thực tế</a:t>
            </a:r>
            <a:endParaRPr lang="en-US" altLang="en-US"/>
          </a:p>
        </p:txBody>
      </p:sp>
      <p:sp>
        <p:nvSpPr>
          <p:cNvPr id="545" name="Google Shape;545;p1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89"/>
        <p:cNvGrpSpPr/>
        <p:nvPr/>
      </p:nvGrpSpPr>
      <p:grpSpPr>
        <a:xfrm>
          <a:off x="0" y="0"/>
          <a:ext cx="0" cy="0"/>
          <a:chOff x="0" y="0"/>
          <a:chExt cx="0" cy="0"/>
        </a:xfrm>
      </p:grpSpPr>
      <p:sp>
        <p:nvSpPr>
          <p:cNvPr id="590" name="Google Shape;590;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Tổng kết lại ba </a:t>
            </a:r>
            <a:r>
              <a:rPr lang="" altLang="en-US"/>
              <a:t>đ</a:t>
            </a:r>
            <a:r>
              <a:rPr lang="en-US" altLang="en-US"/>
              <a:t>iểm chính của báo cáo.</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Một: PCM và ReRAM </a:t>
            </a:r>
            <a:r>
              <a:rPr lang="" altLang="en-US"/>
              <a:t>đ</a:t>
            </a:r>
            <a:r>
              <a:rPr lang="en-US" altLang="en-US"/>
              <a:t>ều khả thi làm SCM. PCM </a:t>
            </a:r>
            <a:r>
              <a:rPr lang="" altLang="en-US"/>
              <a:t>đ</a:t>
            </a:r>
            <a:r>
              <a:rPr lang="en-US" altLang="en-US"/>
              <a:t>ã có sản phẩm th</a:t>
            </a:r>
            <a:r>
              <a:rPr lang="" altLang="en-US"/>
              <a:t>ư</a:t>
            </a:r>
            <a:r>
              <a:rPr lang="en-US" altLang="en-US"/>
              <a:t>ơng mại — Optane. ReRAM tiềm n</a:t>
            </a:r>
            <a:r>
              <a:rPr lang="" altLang="en-US"/>
              <a:t>ă</a:t>
            </a:r>
            <a:r>
              <a:rPr lang="en-US" altLang="en-US"/>
              <a:t>ng về mật </a:t>
            </a:r>
            <a:r>
              <a:rPr lang="" altLang="en-US"/>
              <a:t>đ</a:t>
            </a:r>
            <a:r>
              <a:rPr lang="en-US" altLang="en-US"/>
              <a:t>ộ và n</a:t>
            </a:r>
            <a:r>
              <a:rPr lang="" altLang="en-US"/>
              <a:t>ă</a:t>
            </a:r>
            <a:r>
              <a:rPr lang="en-US" altLang="en-US"/>
              <a:t>ng l</a:t>
            </a:r>
            <a:r>
              <a:rPr lang="" altLang="en-US"/>
              <a:t>ư</a:t>
            </a:r>
            <a:r>
              <a:rPr lang="en-US" altLang="en-US"/>
              <a:t>ợng thấp hơn, nh</a:t>
            </a:r>
            <a:r>
              <a:rPr lang="" altLang="en-US"/>
              <a:t>ư</a:t>
            </a:r>
            <a:r>
              <a:rPr lang="en-US" altLang="en-US"/>
              <a:t>ng ch</a:t>
            </a:r>
            <a:r>
              <a:rPr lang="" altLang="en-US"/>
              <a:t>ư</a:t>
            </a:r>
            <a:r>
              <a:rPr lang="en-US" altLang="en-US"/>
              <a:t>a có sản phẩm SCM lớn.</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Hai: Optane cho thấy khoảng cách giữa l</a:t>
            </a:r>
            <a:r>
              <a:rPr lang="" altLang="en-US"/>
              <a:t>ý</a:t>
            </a:r>
            <a:r>
              <a:rPr lang="en-US" altLang="en-US"/>
              <a:t> thuyết và thực tế là rất lớn — 10-50ns l</a:t>
            </a:r>
            <a:r>
              <a:rPr lang="" altLang="en-US"/>
              <a:t>ý</a:t>
            </a:r>
            <a:r>
              <a:rPr lang="en-US" altLang="en-US"/>
              <a:t> thuyết so với 305ns thực tế. Khoảng cách này </a:t>
            </a:r>
            <a:r>
              <a:rPr lang="" altLang="en-US"/>
              <a:t>đ</a:t>
            </a:r>
            <a:r>
              <a:rPr lang="en-US" altLang="en-US"/>
              <a:t>ến từ bộ </a:t>
            </a:r>
            <a:r>
              <a:rPr lang="" altLang="en-US"/>
              <a:t>đ</a:t>
            </a:r>
            <a:r>
              <a:rPr lang="en-US" altLang="en-US"/>
              <a:t>iều khiển, giao thức, và wear-leveling — không phải từ vật liệu.</a:t>
            </a:r>
            <a:endParaRPr lang="en-US" altLang="en-US"/>
          </a:p>
          <a:p>
            <a:pPr marL="0" lvl="0" indent="0" algn="l" rtl="0">
              <a:spcBef>
                <a:spcPts val="0"/>
              </a:spcBef>
              <a:spcAft>
                <a:spcPts val="0"/>
              </a:spcAft>
              <a:buNone/>
            </a:pPr>
            <a:endParaRPr lang="en-US" altLang="en-US"/>
          </a:p>
          <a:p>
            <a:pPr marL="0" lvl="0" indent="0" algn="l" rtl="0">
              <a:spcBef>
                <a:spcPts val="0"/>
              </a:spcBef>
              <a:spcAft>
                <a:spcPts val="0"/>
              </a:spcAft>
              <a:buNone/>
            </a:pPr>
            <a:r>
              <a:rPr lang="en-US" altLang="en-US"/>
              <a:t>Ba: T</a:t>
            </a:r>
            <a:r>
              <a:rPr lang="" altLang="en-US"/>
              <a:t>ư</a:t>
            </a:r>
            <a:r>
              <a:rPr lang="en-US" altLang="en-US"/>
              <a:t>ơng lai theo h</a:t>
            </a:r>
            <a:r>
              <a:rPr lang="" altLang="en-US"/>
              <a:t>ư</a:t>
            </a:r>
            <a:r>
              <a:rPr lang="en-US" altLang="en-US"/>
              <a:t>ớng hệ bộ nhớ lai — kết hợp DRAM và SCM, không thay thế hoàn toàn.s</a:t>
            </a:r>
            <a:endParaRPr lang="en-US" altLang="en-US"/>
          </a:p>
        </p:txBody>
      </p:sp>
      <p:sp>
        <p:nvSpPr>
          <p:cNvPr id="591" name="Google Shape;591;p2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704020202020204"/>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panose="020B0704020202020204"/>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panose="020B0704020202020204"/>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9pPr>
          </a:lstStyle>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image" Target="../media/image4.jpeg"/><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5.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3.png"/><Relationship Id="rId7" Type="http://schemas.openxmlformats.org/officeDocument/2006/relationships/image" Target="../media/image12.png"/><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3" Type="http://schemas.openxmlformats.org/officeDocument/2006/relationships/image" Target="../media/image8.png"/><Relationship Id="rId2" Type="http://schemas.openxmlformats.org/officeDocument/2006/relationships/image" Target="../media/image7.png"/><Relationship Id="rId10" Type="http://schemas.openxmlformats.org/officeDocument/2006/relationships/notesSlide" Target="../notesSlides/notesSlide6.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8.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image" Target="../media/image22.png"/><Relationship Id="rId7" Type="http://schemas.openxmlformats.org/officeDocument/2006/relationships/image" Target="../media/image21.png"/><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3" Type="http://schemas.openxmlformats.org/officeDocument/2006/relationships/notesSlide" Target="../notesSlides/notesSlide8.xml"/><Relationship Id="rId12" Type="http://schemas.openxmlformats.org/officeDocument/2006/relationships/slideLayout" Target="../slideLayouts/slideLayout1.xml"/><Relationship Id="rId11" Type="http://schemas.openxmlformats.org/officeDocument/2006/relationships/image" Target="../media/image25.png"/><Relationship Id="rId10" Type="http://schemas.openxmlformats.org/officeDocument/2006/relationships/image" Target="../media/image24.png"/><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image" Target="../media/image2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32.png"/><Relationship Id="rId1"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33.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34.png"/><Relationship Id="rId1" Type="http://schemas.openxmlformats.org/officeDocument/2006/relationships/image" Target="../media/image16.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1.xml"/><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image" Target="../media/image37.jpe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1.xml"/><Relationship Id="rId2" Type="http://schemas.openxmlformats.org/officeDocument/2006/relationships/image" Target="../media/image38.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1.xml"/><Relationship Id="rId2" Type="http://schemas.openxmlformats.org/officeDocument/2006/relationships/image" Target="../media/image39.png"/><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1.xml"/><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sp>
        <p:nvSpPr>
          <p:cNvPr id="87" name="Google Shape;87;p13"/>
          <p:cNvSpPr txBox="1"/>
          <p:nvPr/>
        </p:nvSpPr>
        <p:spPr>
          <a:xfrm>
            <a:off x="9728745" y="552450"/>
            <a:ext cx="1691729"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dirty="0">
                <a:solidFill>
                  <a:srgbClr val="64748B"/>
                </a:solidFill>
                <a:latin typeface="Plus Jakarta Sans Medium"/>
                <a:ea typeface="Plus Jakarta Sans Medium"/>
                <a:cs typeface="Plus Jakarta Sans Medium"/>
                <a:sym typeface="Plus Jakarta Sans Medium"/>
              </a:rPr>
              <a:t> IT2004.CH201</a:t>
            </a:r>
            <a:endParaRPr dirty="0"/>
          </a:p>
        </p:txBody>
      </p:sp>
      <p:sp>
        <p:nvSpPr>
          <p:cNvPr id="89" name="Google Shape;89;p13"/>
          <p:cNvSpPr txBox="1"/>
          <p:nvPr/>
        </p:nvSpPr>
        <p:spPr>
          <a:xfrm>
            <a:off x="771525" y="2316063"/>
            <a:ext cx="10001250" cy="1643062"/>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3450" b="1" i="0" u="none" strike="noStrike" cap="none">
                <a:solidFill>
                  <a:srgbClr val="0F172A"/>
                </a:solidFill>
                <a:latin typeface="Playfair Display"/>
                <a:ea typeface="Playfair Display"/>
                <a:cs typeface="Playfair Display"/>
                <a:sym typeface="Playfair Display"/>
              </a:rPr>
              <a:t>Kiến Trúc Bộ Nhớ Phi Khả Biến Dựa Trên ReRAM/PCM và Ứng Dụng Trong Storage-Class Memory (SCM)</a:t>
            </a:r>
            <a:endParaRPr lang="en-US" sz="3450" b="1" i="0" u="none" strike="noStrike" cap="none">
              <a:solidFill>
                <a:srgbClr val="0F172A"/>
              </a:solidFill>
              <a:latin typeface="Playfair Display"/>
              <a:ea typeface="Playfair Display"/>
              <a:cs typeface="Playfair Display"/>
              <a:sym typeface="Playfair Display"/>
            </a:endParaRPr>
          </a:p>
        </p:txBody>
      </p:sp>
      <p:sp>
        <p:nvSpPr>
          <p:cNvPr id="91" name="Google Shape;91;p13"/>
          <p:cNvSpPr txBox="1"/>
          <p:nvPr/>
        </p:nvSpPr>
        <p:spPr>
          <a:xfrm>
            <a:off x="771525" y="4593265"/>
            <a:ext cx="1927224" cy="12695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25" b="0" i="0" u="none" strike="noStrike" cap="none" dirty="0">
                <a:solidFill>
                  <a:srgbClr val="94A3B8"/>
                </a:solidFill>
                <a:latin typeface="Plus Jakarta Sans SemiBold"/>
                <a:ea typeface="Plus Jakarta Sans SemiBold"/>
                <a:cs typeface="Plus Jakarta Sans SemiBold"/>
                <a:sym typeface="Plus Jakarta Sans SemiBold"/>
              </a:rPr>
              <a:t>GIẢNG VIÊN HƯỚNG DẪN</a:t>
            </a:r>
            <a:endParaRPr dirty="0"/>
          </a:p>
        </p:txBody>
      </p:sp>
      <p:sp>
        <p:nvSpPr>
          <p:cNvPr id="92" name="Google Shape;92;p13"/>
          <p:cNvSpPr txBox="1"/>
          <p:nvPr/>
        </p:nvSpPr>
        <p:spPr>
          <a:xfrm>
            <a:off x="771525" y="4755190"/>
            <a:ext cx="1927224" cy="2585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050" b="0" i="0" u="none" strike="noStrike" cap="none" dirty="0">
                <a:solidFill>
                  <a:srgbClr val="334155"/>
                </a:solidFill>
                <a:latin typeface="Plus Jakarta Sans SemiBold"/>
                <a:ea typeface="Plus Jakarta Sans SemiBold"/>
                <a:cs typeface="Plus Jakarta Sans SemiBold"/>
                <a:sym typeface="Plus Jakarta Sans SemiBold"/>
              </a:rPr>
              <a:t>TS. Nguyễn Mạnh Thảo</a:t>
            </a:r>
            <a:endParaRPr dirty="0"/>
          </a:p>
        </p:txBody>
      </p:sp>
      <p:sp>
        <p:nvSpPr>
          <p:cNvPr id="93" name="Google Shape;93;p13"/>
          <p:cNvSpPr txBox="1"/>
          <p:nvPr/>
        </p:nvSpPr>
        <p:spPr>
          <a:xfrm>
            <a:off x="5116831" y="4593265"/>
            <a:ext cx="2769870" cy="12695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25" b="0" i="0" u="none" strike="noStrike" cap="none" dirty="0">
                <a:solidFill>
                  <a:srgbClr val="94A3B8"/>
                </a:solidFill>
                <a:latin typeface="Plus Jakarta Sans SemiBold"/>
                <a:ea typeface="Plus Jakarta Sans SemiBold"/>
                <a:cs typeface="Plus Jakarta Sans SemiBold"/>
                <a:sym typeface="Plus Jakarta Sans SemiBold"/>
              </a:rPr>
              <a:t>DANH SÁCH THÀNH VIÊN</a:t>
            </a:r>
            <a:endParaRPr dirty="0"/>
          </a:p>
        </p:txBody>
      </p:sp>
      <p:sp>
        <p:nvSpPr>
          <p:cNvPr id="94" name="Google Shape;94;p13"/>
          <p:cNvSpPr txBox="1"/>
          <p:nvPr/>
        </p:nvSpPr>
        <p:spPr>
          <a:xfrm>
            <a:off x="5116831" y="4755190"/>
            <a:ext cx="2769870" cy="1050288"/>
          </a:xfrm>
          <a:prstGeom prst="rect">
            <a:avLst/>
          </a:prstGeom>
          <a:noFill/>
          <a:ln>
            <a:noFill/>
          </a:ln>
        </p:spPr>
        <p:txBody>
          <a:bodyPr spcFirstLastPara="1" wrap="square" lIns="0" tIns="0" rIns="0" bIns="0" anchor="t" anchorCtr="0">
            <a:spAutoFit/>
          </a:bodyPr>
          <a:lstStyle/>
          <a:p>
            <a:pPr lvl="0">
              <a:lnSpc>
                <a:spcPct val="140000"/>
              </a:lnSpc>
            </a:pPr>
            <a:r>
              <a:rPr lang="en-US" sz="975" dirty="0">
                <a:solidFill>
                  <a:srgbClr val="475569"/>
                </a:solidFill>
                <a:latin typeface="Plus Jakarta Sans"/>
                <a:ea typeface="Plus Jakarta Sans"/>
                <a:cs typeface="Plus Jakarta Sans"/>
                <a:sym typeface="Plus Jakarta Sans"/>
              </a:rPr>
              <a:t>Phan Văn Minh - 250202014</a:t>
            </a:r>
            <a:endParaRPr lang="en-US" sz="975" b="0" i="0" u="none" strike="noStrike" cap="none" dirty="0">
              <a:solidFill>
                <a:srgbClr val="475569"/>
              </a:solidFill>
              <a:latin typeface="Plus Jakarta Sans"/>
              <a:ea typeface="Plus Jakarta Sans"/>
              <a:cs typeface="Plus Jakarta Sans"/>
              <a:sym typeface="Plus Jakarta Sans"/>
            </a:endParaRPr>
          </a:p>
          <a:p>
            <a:pPr lvl="0">
              <a:lnSpc>
                <a:spcPct val="140000"/>
              </a:lnSpc>
            </a:pPr>
            <a:r>
              <a:rPr lang="en-US" sz="975" b="0" i="0" u="none" strike="noStrike" cap="none" dirty="0">
                <a:solidFill>
                  <a:srgbClr val="475569"/>
                </a:solidFill>
                <a:latin typeface="Plus Jakarta Sans"/>
                <a:ea typeface="Plus Jakarta Sans"/>
                <a:cs typeface="Plus Jakarta Sans"/>
                <a:sym typeface="Plus Jakarta Sans"/>
              </a:rPr>
              <a:t>Bùi </a:t>
            </a:r>
            <a:r>
              <a:rPr lang="en-US" sz="975" b="0" i="0" u="none" strike="noStrike" cap="none" dirty="0" err="1">
                <a:solidFill>
                  <a:srgbClr val="475569"/>
                </a:solidFill>
                <a:latin typeface="Plus Jakarta Sans"/>
                <a:ea typeface="Plus Jakarta Sans"/>
                <a:cs typeface="Plus Jakarta Sans"/>
                <a:sym typeface="Plus Jakarta Sans"/>
              </a:rPr>
              <a:t>Tấn</a:t>
            </a:r>
            <a:r>
              <a:rPr lang="en-US" sz="975" b="0" i="0" u="none" strike="noStrike" cap="none" dirty="0">
                <a:solidFill>
                  <a:srgbClr val="475569"/>
                </a:solidFill>
                <a:latin typeface="Plus Jakarta Sans"/>
                <a:ea typeface="Plus Jakarta Sans"/>
                <a:cs typeface="Plus Jakarta Sans"/>
                <a:sym typeface="Plus Jakarta Sans"/>
              </a:rPr>
              <a:t> </a:t>
            </a:r>
            <a:r>
              <a:rPr lang="en-US" sz="975" b="0" i="0" u="none" strike="noStrike" cap="none" dirty="0" err="1">
                <a:solidFill>
                  <a:srgbClr val="475569"/>
                </a:solidFill>
                <a:latin typeface="Plus Jakarta Sans"/>
                <a:ea typeface="Plus Jakarta Sans"/>
                <a:cs typeface="Plus Jakarta Sans"/>
                <a:sym typeface="Plus Jakarta Sans"/>
              </a:rPr>
              <a:t>Hưng</a:t>
            </a:r>
            <a:r>
              <a:rPr lang="en-US" sz="975" dirty="0">
                <a:solidFill>
                  <a:srgbClr val="475569"/>
                </a:solidFill>
                <a:latin typeface="Plus Jakarta Sans"/>
                <a:ea typeface="Plus Jakarta Sans"/>
                <a:cs typeface="Plus Jakarta Sans"/>
                <a:sym typeface="Plus Jakarta Sans"/>
              </a:rPr>
              <a:t> - 250202039</a:t>
            </a:r>
            <a:endParaRPr lang="en-US" sz="975" b="0" i="0" u="none" strike="noStrike" cap="none" dirty="0">
              <a:solidFill>
                <a:srgbClr val="475569"/>
              </a:solidFill>
              <a:latin typeface="Plus Jakarta Sans"/>
              <a:ea typeface="Plus Jakarta Sans"/>
              <a:cs typeface="Plus Jakarta Sans"/>
              <a:sym typeface="Plus Jakarta Sans"/>
            </a:endParaRPr>
          </a:p>
          <a:p>
            <a:pPr lvl="0">
              <a:lnSpc>
                <a:spcPct val="140000"/>
              </a:lnSpc>
            </a:pPr>
            <a:r>
              <a:rPr lang="en-US" sz="975" b="0" i="0" u="none" strike="noStrike" cap="none" dirty="0">
                <a:solidFill>
                  <a:srgbClr val="475569"/>
                </a:solidFill>
                <a:latin typeface="Plus Jakarta Sans"/>
                <a:ea typeface="Plus Jakarta Sans"/>
                <a:cs typeface="Plus Jakarta Sans"/>
                <a:sym typeface="Plus Jakarta Sans"/>
              </a:rPr>
              <a:t>Nguyễn </a:t>
            </a:r>
            <a:r>
              <a:rPr lang="en-US" sz="975" b="0" i="0" u="none" strike="noStrike" cap="none" dirty="0" err="1">
                <a:solidFill>
                  <a:srgbClr val="475569"/>
                </a:solidFill>
                <a:latin typeface="Plus Jakarta Sans"/>
                <a:ea typeface="Plus Jakarta Sans"/>
                <a:cs typeface="Plus Jakarta Sans"/>
                <a:sym typeface="Plus Jakarta Sans"/>
              </a:rPr>
              <a:t>Tấn</a:t>
            </a:r>
            <a:r>
              <a:rPr lang="en-US" sz="975" b="0" i="0" u="none" strike="noStrike" cap="none" dirty="0">
                <a:solidFill>
                  <a:srgbClr val="475569"/>
                </a:solidFill>
                <a:latin typeface="Plus Jakarta Sans"/>
                <a:ea typeface="Plus Jakarta Sans"/>
                <a:cs typeface="Plus Jakarta Sans"/>
                <a:sym typeface="Plus Jakarta Sans"/>
              </a:rPr>
              <a:t> Đạt</a:t>
            </a:r>
            <a:r>
              <a:rPr lang="en-US" sz="975" dirty="0">
                <a:solidFill>
                  <a:srgbClr val="475569"/>
                </a:solidFill>
                <a:latin typeface="Plus Jakarta Sans"/>
                <a:ea typeface="Plus Jakarta Sans"/>
                <a:cs typeface="Plus Jakarta Sans"/>
                <a:sym typeface="Plus Jakarta Sans"/>
              </a:rPr>
              <a:t> - 250202033 </a:t>
            </a:r>
            <a:endParaRPr lang="en-US" sz="975" b="0" i="0" u="none" strike="noStrike" cap="none" dirty="0">
              <a:solidFill>
                <a:srgbClr val="475569"/>
              </a:solidFill>
              <a:latin typeface="Plus Jakarta Sans"/>
              <a:ea typeface="Plus Jakarta Sans"/>
              <a:cs typeface="Plus Jakarta Sans"/>
              <a:sym typeface="Plus Jakarta Sans"/>
            </a:endParaRPr>
          </a:p>
          <a:p>
            <a:pPr lvl="0">
              <a:lnSpc>
                <a:spcPct val="140000"/>
              </a:lnSpc>
            </a:pPr>
            <a:r>
              <a:rPr lang="en-US" sz="975" b="0" i="0" u="none" strike="noStrike" cap="none" dirty="0">
                <a:solidFill>
                  <a:srgbClr val="475569"/>
                </a:solidFill>
                <a:latin typeface="Plus Jakarta Sans"/>
                <a:ea typeface="Plus Jakarta Sans"/>
                <a:cs typeface="Plus Jakarta Sans"/>
                <a:sym typeface="Plus Jakarta Sans"/>
              </a:rPr>
              <a:t>Đinh Hoàng Lộc</a:t>
            </a:r>
            <a:r>
              <a:rPr lang="en-US" sz="975" dirty="0">
                <a:solidFill>
                  <a:srgbClr val="475569"/>
                </a:solidFill>
                <a:latin typeface="Plus Jakarta Sans"/>
                <a:ea typeface="Plus Jakarta Sans"/>
                <a:cs typeface="Plus Jakarta Sans"/>
                <a:sym typeface="Plus Jakarta Sans"/>
              </a:rPr>
              <a:t> - 250202011 </a:t>
            </a:r>
            <a:endParaRPr lang="en-US" sz="975" dirty="0">
              <a:solidFill>
                <a:srgbClr val="475569"/>
              </a:solidFill>
              <a:latin typeface="Plus Jakarta Sans"/>
              <a:ea typeface="Plus Jakarta Sans"/>
              <a:cs typeface="Plus Jakarta Sans"/>
              <a:sym typeface="Plus Jakarta Sans"/>
            </a:endParaRPr>
          </a:p>
          <a:p>
            <a:pPr lvl="0">
              <a:lnSpc>
                <a:spcPct val="140000"/>
              </a:lnSpc>
            </a:pPr>
            <a:r>
              <a:rPr lang="en-US" sz="975" b="0" i="0" u="none" strike="noStrike" cap="none" dirty="0">
                <a:solidFill>
                  <a:srgbClr val="475569"/>
                </a:solidFill>
                <a:latin typeface="Plus Jakarta Sans"/>
                <a:ea typeface="Plus Jakarta Sans"/>
                <a:cs typeface="Plus Jakarta Sans"/>
                <a:sym typeface="Plus Jakarta Sans"/>
              </a:rPr>
              <a:t>Dương Hiển </a:t>
            </a:r>
            <a:r>
              <a:rPr lang="en-US" sz="975" b="0" i="0" u="none" strike="noStrike" cap="none" dirty="0" err="1">
                <a:solidFill>
                  <a:srgbClr val="475569"/>
                </a:solidFill>
                <a:latin typeface="Plus Jakarta Sans"/>
                <a:ea typeface="Plus Jakarta Sans"/>
                <a:cs typeface="Plus Jakarta Sans"/>
                <a:sym typeface="Plus Jakarta Sans"/>
              </a:rPr>
              <a:t>Thế</a:t>
            </a:r>
            <a:r>
              <a:rPr lang="en-US" sz="975" b="0" i="0" u="none" strike="noStrike" cap="none" dirty="0">
                <a:solidFill>
                  <a:srgbClr val="475569"/>
                </a:solidFill>
                <a:latin typeface="Plus Jakarta Sans"/>
                <a:ea typeface="Plus Jakarta Sans"/>
                <a:cs typeface="Plus Jakarta Sans"/>
                <a:sym typeface="Plus Jakarta Sans"/>
              </a:rPr>
              <a:t> </a:t>
            </a:r>
            <a:r>
              <a:rPr lang="en-US" sz="975" dirty="0">
                <a:solidFill>
                  <a:srgbClr val="475569"/>
                </a:solidFill>
                <a:latin typeface="Plus Jakarta Sans"/>
                <a:ea typeface="Plus Jakarta Sans"/>
                <a:cs typeface="Plus Jakarta Sans"/>
                <a:sym typeface="Plus Jakarta Sans"/>
              </a:rPr>
              <a:t> - 250202054 </a:t>
            </a:r>
            <a:endParaRPr lang="en-US" sz="975" b="0" i="0" u="none" strike="noStrike" cap="none" dirty="0">
              <a:solidFill>
                <a:srgbClr val="475569"/>
              </a:solidFill>
              <a:latin typeface="Plus Jakarta Sans"/>
              <a:ea typeface="Plus Jakarta Sans"/>
              <a:cs typeface="Plus Jakarta Sans"/>
              <a:sym typeface="Plus Jakarta Sans"/>
            </a:endParaRPr>
          </a:p>
        </p:txBody>
      </p:sp>
      <p:pic>
        <p:nvPicPr>
          <p:cNvPr id="3" name="Picture 2"/>
          <p:cNvPicPr>
            <a:picLocks noChangeAspect="1"/>
          </p:cNvPicPr>
          <p:nvPr/>
        </p:nvPicPr>
        <p:blipFill>
          <a:blip r:embed="rId1"/>
          <a:stretch>
            <a:fillRect/>
          </a:stretch>
        </p:blipFill>
        <p:spPr>
          <a:xfrm>
            <a:off x="646738" y="226562"/>
            <a:ext cx="1959301" cy="15837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8"/>
        <p:cNvGrpSpPr/>
        <p:nvPr/>
      </p:nvGrpSpPr>
      <p:grpSpPr>
        <a:xfrm>
          <a:off x="0" y="0"/>
          <a:ext cx="0" cy="0"/>
          <a:chOff x="0" y="0"/>
          <a:chExt cx="0" cy="0"/>
        </a:xfrm>
      </p:grpSpPr>
      <p:pic>
        <p:nvPicPr>
          <p:cNvPr id="99" name="Google Shape;99;p14"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100" name="Google Shape;100;p14"/>
          <p:cNvSpPr txBox="1"/>
          <p:nvPr/>
        </p:nvSpPr>
        <p:spPr>
          <a:xfrm>
            <a:off x="1000125" y="29469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01. Đặt vấn đề:</a:t>
            </a:r>
            <a:r>
              <a:rPr lang="en-US" sz="1125" b="0" i="0" u="none" strike="noStrike" cap="none">
                <a:solidFill>
                  <a:srgbClr val="475569"/>
                </a:solidFill>
                <a:latin typeface="Plus Jakarta Sans"/>
                <a:ea typeface="Plus Jakarta Sans"/>
                <a:cs typeface="Plus Jakarta Sans"/>
                <a:sym typeface="Plus Jakarta Sans"/>
              </a:rPr>
              <a:t> Giới hạn phân cấp bộ nhớ truyền thống</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1" name="Google Shape;101;p14"/>
          <p:cNvSpPr txBox="1"/>
          <p:nvPr/>
        </p:nvSpPr>
        <p:spPr>
          <a:xfrm>
            <a:off x="1000125" y="33660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02. Công nghệ PCM:</a:t>
            </a:r>
            <a:r>
              <a:rPr lang="en-US" sz="1125" b="0" i="0" u="none" strike="noStrike" cap="none">
                <a:solidFill>
                  <a:srgbClr val="475569"/>
                </a:solidFill>
                <a:latin typeface="Plus Jakarta Sans"/>
                <a:ea typeface="Plus Jakarta Sans"/>
                <a:cs typeface="Plus Jakarta Sans"/>
                <a:sym typeface="Plus Jakarta Sans"/>
              </a:rPr>
              <a:t> Nguyên lý, thiết kế và thách thức</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2" name="Google Shape;102;p14"/>
          <p:cNvSpPr txBox="1"/>
          <p:nvPr/>
        </p:nvSpPr>
        <p:spPr>
          <a:xfrm>
            <a:off x="1000125" y="37851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03. Công nghệ ReRAM:</a:t>
            </a:r>
            <a:r>
              <a:rPr lang="en-US" sz="1125" b="0" i="0" u="none" strike="noStrike" cap="none">
                <a:solidFill>
                  <a:srgbClr val="475569"/>
                </a:solidFill>
                <a:latin typeface="Plus Jakarta Sans"/>
                <a:ea typeface="Plus Jakarta Sans"/>
                <a:cs typeface="Plus Jakarta Sans"/>
                <a:sym typeface="Plus Jakarta Sans"/>
              </a:rPr>
              <a:t> Cơ chế vật lý &amp; cấu trúc Crossbar</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3" name="Google Shape;103;p14"/>
          <p:cNvSpPr txBox="1"/>
          <p:nvPr/>
        </p:nvSpPr>
        <p:spPr>
          <a:xfrm>
            <a:off x="1000125" y="42042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04. Processing-In-Memory (PIM):</a:t>
            </a:r>
            <a:r>
              <a:rPr lang="en-US" sz="1125" b="0" i="0" u="none" strike="noStrike" cap="none">
                <a:solidFill>
                  <a:srgbClr val="475569"/>
                </a:solidFill>
                <a:latin typeface="Plus Jakarta Sans"/>
                <a:ea typeface="Plus Jakarta Sans"/>
                <a:cs typeface="Plus Jakarta Sans"/>
                <a:sym typeface="Plus Jakarta Sans"/>
              </a:rPr>
              <a:t> Ứng dụng ReRAM tính toán</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4" name="Google Shape;104;p14"/>
          <p:cNvSpPr txBox="1"/>
          <p:nvPr/>
        </p:nvSpPr>
        <p:spPr>
          <a:xfrm>
            <a:off x="6610350" y="29469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05. Storage-Class Memory:</a:t>
            </a:r>
            <a:r>
              <a:rPr lang="en-US" sz="1125" b="0" i="0" u="none" strike="noStrike" cap="none">
                <a:solidFill>
                  <a:srgbClr val="475569"/>
                </a:solidFill>
                <a:latin typeface="Plus Jakarta Sans"/>
                <a:ea typeface="Plus Jakarta Sans"/>
                <a:cs typeface="Plus Jakarta Sans"/>
                <a:sym typeface="Plus Jakarta Sans"/>
              </a:rPr>
              <a:t> Khái niệm &amp; hướng nghiên cứu</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5" name="Google Shape;105;p14"/>
          <p:cNvSpPr txBox="1"/>
          <p:nvPr/>
        </p:nvSpPr>
        <p:spPr>
          <a:xfrm>
            <a:off x="6610350" y="33660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06. Case study:</a:t>
            </a:r>
            <a:r>
              <a:rPr lang="en-US" sz="1125" b="0" i="0" u="none" strike="noStrike" cap="none">
                <a:solidFill>
                  <a:srgbClr val="475569"/>
                </a:solidFill>
                <a:latin typeface="Plus Jakarta Sans"/>
                <a:ea typeface="Plus Jakarta Sans"/>
                <a:cs typeface="Plus Jakarta Sans"/>
                <a:sym typeface="Plus Jakarta Sans"/>
              </a:rPr>
              <a:t> Intel Optane DC PMM thực tế</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6" name="Google Shape;106;p14"/>
          <p:cNvSpPr txBox="1"/>
          <p:nvPr/>
        </p:nvSpPr>
        <p:spPr>
          <a:xfrm>
            <a:off x="6610350" y="37851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07. Đánh giá tổng hợp:</a:t>
            </a:r>
            <a:r>
              <a:rPr lang="en-US" sz="1125" b="0" i="0" u="none" strike="noStrike" cap="none">
                <a:solidFill>
                  <a:srgbClr val="475569"/>
                </a:solidFill>
                <a:latin typeface="Plus Jakarta Sans"/>
                <a:ea typeface="Plus Jakarta Sans"/>
                <a:cs typeface="Plus Jakarta Sans"/>
                <a:sym typeface="Plus Jakarta Sans"/>
              </a:rPr>
              <a:t> So sánh định lượng &amp; tương lai</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7" name="Google Shape;107;p14"/>
          <p:cNvSpPr txBox="1"/>
          <p:nvPr/>
        </p:nvSpPr>
        <p:spPr>
          <a:xfrm>
            <a:off x="6610350" y="4204245"/>
            <a:ext cx="481012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08. Tổng kết &amp; Thảo luận:</a:t>
            </a:r>
            <a:r>
              <a:rPr lang="en-US" sz="1125" b="0" i="0" u="none" strike="noStrike" cap="none">
                <a:solidFill>
                  <a:srgbClr val="475569"/>
                </a:solidFill>
                <a:latin typeface="Plus Jakarta Sans"/>
                <a:ea typeface="Plus Jakarta Sans"/>
                <a:cs typeface="Plus Jakarta Sans"/>
                <a:sym typeface="Plus Jakarta Sans"/>
              </a:rPr>
              <a:t> Kết luận khoa học</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08" name="Google Shape;108;p14"/>
          <p:cNvSpPr txBox="1"/>
          <p:nvPr/>
        </p:nvSpPr>
        <p:spPr>
          <a:xfrm>
            <a:off x="771525" y="29469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09" name="Google Shape;109;p14"/>
          <p:cNvSpPr txBox="1"/>
          <p:nvPr/>
        </p:nvSpPr>
        <p:spPr>
          <a:xfrm>
            <a:off x="771525" y="33660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10" name="Google Shape;110;p14"/>
          <p:cNvSpPr txBox="1"/>
          <p:nvPr/>
        </p:nvSpPr>
        <p:spPr>
          <a:xfrm>
            <a:off x="771525" y="37851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11" name="Google Shape;111;p14"/>
          <p:cNvSpPr txBox="1"/>
          <p:nvPr/>
        </p:nvSpPr>
        <p:spPr>
          <a:xfrm>
            <a:off x="771525" y="42042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12" name="Google Shape;112;p14"/>
          <p:cNvSpPr txBox="1"/>
          <p:nvPr/>
        </p:nvSpPr>
        <p:spPr>
          <a:xfrm>
            <a:off x="6381750" y="29469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13" name="Google Shape;113;p14"/>
          <p:cNvSpPr txBox="1"/>
          <p:nvPr/>
        </p:nvSpPr>
        <p:spPr>
          <a:xfrm>
            <a:off x="6381750" y="33660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14" name="Google Shape;114;p14"/>
          <p:cNvSpPr txBox="1"/>
          <p:nvPr/>
        </p:nvSpPr>
        <p:spPr>
          <a:xfrm>
            <a:off x="6381750" y="37851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15" name="Google Shape;115;p14"/>
          <p:cNvSpPr txBox="1"/>
          <p:nvPr/>
        </p:nvSpPr>
        <p:spPr>
          <a:xfrm>
            <a:off x="6381750" y="42042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16" name="Google Shape;116;p14"/>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Nội dung trình bày</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117" name="Google Shape;117;p14"/>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1"/>
        <p:cNvGrpSpPr/>
        <p:nvPr/>
      </p:nvGrpSpPr>
      <p:grpSpPr>
        <a:xfrm>
          <a:off x="0" y="0"/>
          <a:ext cx="0" cy="0"/>
          <a:chOff x="0" y="0"/>
          <a:chExt cx="0" cy="0"/>
        </a:xfrm>
      </p:grpSpPr>
      <p:pic>
        <p:nvPicPr>
          <p:cNvPr id="123" name="Google Shape;123;p15" descr="image.png"/>
          <p:cNvPicPr preferRelativeResize="0"/>
          <p:nvPr/>
        </p:nvPicPr>
        <p:blipFill rotWithShape="1">
          <a:blip r:embed="rId1"/>
          <a:srcRect/>
          <a:stretch>
            <a:fillRect/>
          </a:stretch>
        </p:blipFill>
        <p:spPr>
          <a:xfrm>
            <a:off x="771525" y="4328070"/>
            <a:ext cx="5038725" cy="1066800"/>
          </a:xfrm>
          <a:prstGeom prst="rect">
            <a:avLst/>
          </a:prstGeom>
          <a:noFill/>
          <a:ln>
            <a:noFill/>
          </a:ln>
        </p:spPr>
      </p:pic>
      <p:sp>
        <p:nvSpPr>
          <p:cNvPr id="129" name="Google Shape;129;p15"/>
          <p:cNvSpPr txBox="1"/>
          <p:nvPr/>
        </p:nvSpPr>
        <p:spPr>
          <a:xfrm>
            <a:off x="771525" y="2175420"/>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Khoảng trống lớn về hiệu năng (Memory Wall)</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130" name="Google Shape;130;p15"/>
          <p:cNvSpPr txBox="1"/>
          <p:nvPr/>
        </p:nvSpPr>
        <p:spPr>
          <a:xfrm>
            <a:off x="771525" y="2508795"/>
            <a:ext cx="50387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Mô hình phân cấp hiện tại tạo ra điểm nghẽn nghiêm trọng giữa hai tầng chính:</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31" name="Google Shape;131;p15"/>
          <p:cNvSpPr txBox="1"/>
          <p:nvPr/>
        </p:nvSpPr>
        <p:spPr>
          <a:xfrm>
            <a:off x="1000125" y="3108870"/>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SRAM/DRAM:</a:t>
            </a:r>
            <a:r>
              <a:rPr lang="en-US" sz="1125" b="0" i="0" u="none" strike="noStrike" cap="none">
                <a:solidFill>
                  <a:srgbClr val="475569"/>
                </a:solidFill>
                <a:latin typeface="Plus Jakarta Sans"/>
                <a:ea typeface="Plus Jakarta Sans"/>
                <a:cs typeface="Plus Jakarta Sans"/>
                <a:sym typeface="Plus Jakarta Sans"/>
              </a:rPr>
              <a:t> Tốc độ cực nhanh nhưng có tính chất </a:t>
            </a:r>
            <a:r>
              <a:rPr lang="en-US" sz="1125" b="0" i="1" u="none" strike="noStrike" cap="none">
                <a:solidFill>
                  <a:srgbClr val="475569"/>
                </a:solidFill>
                <a:latin typeface="Plus Jakarta Sans"/>
                <a:ea typeface="Plus Jakarta Sans"/>
                <a:cs typeface="Plus Jakarta Sans"/>
                <a:sym typeface="Plus Jakarta Sans"/>
              </a:rPr>
              <a:t>volatile</a:t>
            </a:r>
            <a:r>
              <a:rPr lang="en-US" sz="1125" b="0" i="0" u="none" strike="noStrike" cap="none">
                <a:solidFill>
                  <a:srgbClr val="475569"/>
                </a:solidFill>
                <a:latin typeface="Plus Jakarta Sans"/>
                <a:ea typeface="Plus Jakarta Sans"/>
                <a:cs typeface="Plus Jakarta Sans"/>
                <a:sym typeface="Plus Jakarta Sans"/>
              </a:rPr>
              <a:t> (mất điện dữ liệu biến mất) và chi phí sản xuất cực kỳ đắt đỏ.</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32" name="Google Shape;132;p15"/>
          <p:cNvSpPr txBox="1"/>
          <p:nvPr/>
        </p:nvSpPr>
        <p:spPr>
          <a:xfrm>
            <a:off x="1000125" y="3680370"/>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dirty="0">
                <a:solidFill>
                  <a:srgbClr val="475569"/>
                </a:solidFill>
                <a:latin typeface="Plus Jakarta Sans"/>
                <a:ea typeface="Plus Jakarta Sans"/>
                <a:cs typeface="Plus Jakarta Sans"/>
                <a:sym typeface="Plus Jakarta Sans"/>
              </a:rPr>
              <a:t>Flash/SSD:</a:t>
            </a:r>
            <a:r>
              <a:rPr lang="en-US" sz="1125" b="0" i="0" u="none" strike="noStrike" cap="none" dirty="0">
                <a:solidFill>
                  <a:srgbClr val="475569"/>
                </a:solidFill>
                <a:latin typeface="Plus Jakarta Sans"/>
                <a:ea typeface="Plus Jakarta Sans"/>
                <a:cs typeface="Plus Jakarta Sans"/>
                <a:sym typeface="Plus Jakarta Sans"/>
              </a:rPr>
              <a:t> Dung </a:t>
            </a:r>
            <a:r>
              <a:rPr lang="en-US" sz="1125" b="0" i="0" u="none" strike="noStrike" cap="none" dirty="0" err="1">
                <a:solidFill>
                  <a:srgbClr val="475569"/>
                </a:solidFill>
                <a:latin typeface="Plus Jakarta Sans"/>
                <a:ea typeface="Plus Jakarta Sans"/>
                <a:cs typeface="Plus Jakarta Sans"/>
                <a:sym typeface="Plus Jakarta Sans"/>
              </a:rPr>
              <a:t>lượng</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lớn</a:t>
            </a:r>
            <a:r>
              <a:rPr lang="en-US" sz="1125" b="0" i="0" u="none" strike="noStrike" cap="none" dirty="0">
                <a:solidFill>
                  <a:srgbClr val="475569"/>
                </a:solidFill>
                <a:latin typeface="Plus Jakarta Sans"/>
                <a:ea typeface="Plus Jakarta Sans"/>
                <a:cs typeface="Plus Jakarta Sans"/>
                <a:sym typeface="Plus Jakarta Sans"/>
              </a:rPr>
              <a:t>, phi </a:t>
            </a:r>
            <a:r>
              <a:rPr lang="en-US" sz="1125" b="0" i="0" u="none" strike="noStrike" cap="none" dirty="0" err="1">
                <a:solidFill>
                  <a:srgbClr val="475569"/>
                </a:solidFill>
                <a:latin typeface="Plus Jakarta Sans"/>
                <a:ea typeface="Plus Jakarta Sans"/>
                <a:cs typeface="Plus Jakarta Sans"/>
                <a:sym typeface="Plus Jakarta Sans"/>
              </a:rPr>
              <a:t>khả</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biến</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giá</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thành</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rẻ</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nhưng</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tốc</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độ</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truy</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cập</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chậm</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hơn</a:t>
            </a:r>
            <a:r>
              <a:rPr lang="en-US" sz="1125" b="0" i="0" u="none" strike="noStrike" cap="none" dirty="0">
                <a:solidFill>
                  <a:srgbClr val="475569"/>
                </a:solidFill>
                <a:latin typeface="Plus Jakarta Sans"/>
                <a:ea typeface="Plus Jakarta Sans"/>
                <a:cs typeface="Plus Jakarta Sans"/>
                <a:sym typeface="Plus Jakarta Sans"/>
              </a:rPr>
              <a:t> DRAM </a:t>
            </a:r>
            <a:r>
              <a:rPr lang="en-US" sz="1125" b="0" i="0" u="none" strike="noStrike" cap="none" dirty="0" err="1">
                <a:solidFill>
                  <a:srgbClr val="475569"/>
                </a:solidFill>
                <a:latin typeface="Plus Jakarta Sans"/>
                <a:ea typeface="Plus Jakarta Sans"/>
                <a:cs typeface="Plus Jakarta Sans"/>
                <a:sym typeface="Plus Jakarta Sans"/>
              </a:rPr>
              <a:t>tới</a:t>
            </a:r>
            <a:r>
              <a:rPr lang="en-US" sz="1125" b="0" i="0" u="none" strike="noStrike" cap="none" dirty="0">
                <a:solidFill>
                  <a:srgbClr val="475569"/>
                </a:solidFill>
                <a:latin typeface="Plus Jakarta Sans"/>
                <a:ea typeface="Plus Jakarta Sans"/>
                <a:cs typeface="Plus Jakarta Sans"/>
                <a:sym typeface="Plus Jakarta Sans"/>
              </a:rPr>
              <a:t> 1.000 </a:t>
            </a:r>
            <a:r>
              <a:rPr lang="en-US" sz="1125" b="0" i="0" u="none" strike="noStrike" cap="none" dirty="0" err="1">
                <a:solidFill>
                  <a:srgbClr val="475569"/>
                </a:solidFill>
                <a:latin typeface="Plus Jakarta Sans"/>
                <a:ea typeface="Plus Jakarta Sans"/>
                <a:cs typeface="Plus Jakarta Sans"/>
                <a:sym typeface="Plus Jakarta Sans"/>
              </a:rPr>
              <a:t>lần</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và</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truy</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cập</a:t>
            </a:r>
            <a:r>
              <a:rPr lang="en-US" sz="1125" b="0" i="0" u="none" strike="noStrike" cap="none" dirty="0">
                <a:solidFill>
                  <a:srgbClr val="475569"/>
                </a:solidFill>
                <a:latin typeface="Plus Jakarta Sans"/>
                <a:ea typeface="Plus Jakarta Sans"/>
                <a:cs typeface="Plus Jakarta Sans"/>
                <a:sym typeface="Plus Jakarta Sans"/>
              </a:rPr>
              <a:t> </a:t>
            </a:r>
            <a:r>
              <a:rPr lang="en-US" sz="1125" b="0" i="0" u="none" strike="noStrike" cap="none" dirty="0" err="1">
                <a:solidFill>
                  <a:srgbClr val="475569"/>
                </a:solidFill>
                <a:latin typeface="Plus Jakarta Sans"/>
                <a:ea typeface="Plus Jakarta Sans"/>
                <a:cs typeface="Plus Jakarta Sans"/>
                <a:sym typeface="Plus Jakarta Sans"/>
              </a:rPr>
              <a:t>theo</a:t>
            </a:r>
            <a:r>
              <a:rPr lang="en-US" sz="1125" b="0" i="0" u="none" strike="noStrike" cap="none" dirty="0">
                <a:solidFill>
                  <a:srgbClr val="475569"/>
                </a:solidFill>
                <a:latin typeface="Plus Jakarta Sans"/>
                <a:ea typeface="Plus Jakarta Sans"/>
                <a:cs typeface="Plus Jakarta Sans"/>
                <a:sym typeface="Plus Jakarta Sans"/>
              </a:rPr>
              <a:t> block.</a:t>
            </a:r>
            <a:endParaRPr dirty="0"/>
          </a:p>
        </p:txBody>
      </p:sp>
      <p:sp>
        <p:nvSpPr>
          <p:cNvPr id="133" name="Google Shape;133;p15"/>
          <p:cNvSpPr txBox="1"/>
          <p:nvPr/>
        </p:nvSpPr>
        <p:spPr>
          <a:xfrm>
            <a:off x="914400" y="4413795"/>
            <a:ext cx="4619625" cy="8309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1" u="none" strike="noStrike" cap="none" dirty="0">
                <a:solidFill>
                  <a:srgbClr val="4338CA"/>
                </a:solidFill>
                <a:latin typeface="Plus Jakarta Sans Medium"/>
                <a:ea typeface="Plus Jakarta Sans Medium"/>
                <a:cs typeface="Plus Jakarta Sans Medium"/>
                <a:sym typeface="Plus Jakarta Sans Medium"/>
              </a:rPr>
              <a:t>"</a:t>
            </a:r>
            <a:r>
              <a:rPr lang="en-US" sz="1125" b="0" i="1" u="none" strike="noStrike" cap="none" dirty="0" err="1">
                <a:solidFill>
                  <a:srgbClr val="4338CA"/>
                </a:solidFill>
                <a:latin typeface="Plus Jakarta Sans Medium"/>
                <a:ea typeface="Plus Jakarta Sans Medium"/>
                <a:cs typeface="Plus Jakarta Sans Medium"/>
                <a:sym typeface="Plus Jakarta Sans Medium"/>
              </a:rPr>
              <a:t>Ứng</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dụng</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hiện</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đại</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cần</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bộ</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nhớ</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vừa</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có</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tốc</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độ</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tiệm</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cận</a:t>
            </a:r>
            <a:r>
              <a:rPr lang="en-US" sz="1125" b="0" i="1" u="none" strike="noStrike" cap="none" dirty="0">
                <a:solidFill>
                  <a:srgbClr val="4338CA"/>
                </a:solidFill>
                <a:latin typeface="Plus Jakarta Sans Medium"/>
                <a:ea typeface="Plus Jakarta Sans Medium"/>
                <a:cs typeface="Plus Jakarta Sans Medium"/>
                <a:sym typeface="Plus Jakarta Sans Medium"/>
              </a:rPr>
              <a:t> DRAM, </a:t>
            </a:r>
            <a:r>
              <a:rPr lang="en-US" sz="1125" b="0" i="1" u="none" strike="noStrike" cap="none" dirty="0" err="1">
                <a:solidFill>
                  <a:srgbClr val="4338CA"/>
                </a:solidFill>
                <a:latin typeface="Plus Jakarta Sans Medium"/>
                <a:ea typeface="Plus Jakarta Sans Medium"/>
                <a:cs typeface="Plus Jakarta Sans Medium"/>
                <a:sym typeface="Plus Jakarta Sans Medium"/>
              </a:rPr>
              <a:t>vừa</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bền</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bỉ</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lưu</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trữ</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i="1" dirty="0" err="1">
                <a:solidFill>
                  <a:srgbClr val="4338CA"/>
                </a:solidFill>
                <a:latin typeface="Plus Jakarta Sans Medium"/>
                <a:ea typeface="Plus Jakarta Sans Medium"/>
                <a:cs typeface="Plus Jakarta Sans Medium"/>
                <a:sym typeface="Plus Jakarta Sans Medium"/>
              </a:rPr>
              <a:t>bền</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như</a:t>
            </a:r>
            <a:r>
              <a:rPr lang="en-US" sz="1125" b="0" i="1" u="none" strike="noStrike" cap="none" dirty="0">
                <a:solidFill>
                  <a:srgbClr val="4338CA"/>
                </a:solidFill>
                <a:latin typeface="Plus Jakarta Sans Medium"/>
                <a:ea typeface="Plus Jakarta Sans Medium"/>
                <a:cs typeface="Plus Jakarta Sans Medium"/>
                <a:sym typeface="Plus Jakarta Sans Medium"/>
              </a:rPr>
              <a:t> Flash — </a:t>
            </a:r>
            <a:r>
              <a:rPr lang="en-US" sz="1125" b="0" i="1" u="none" strike="noStrike" cap="none" dirty="0" err="1">
                <a:solidFill>
                  <a:srgbClr val="4338CA"/>
                </a:solidFill>
                <a:latin typeface="Plus Jakarta Sans Medium"/>
                <a:ea typeface="Plus Jakarta Sans Medium"/>
                <a:cs typeface="Plus Jakarta Sans Medium"/>
                <a:sym typeface="Plus Jakarta Sans Medium"/>
              </a:rPr>
              <a:t>không</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một</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công</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nghệ</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truyền</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thống</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nào</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đáp</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ứng</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đồng</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thời</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cả</a:t>
            </a:r>
            <a:r>
              <a:rPr lang="en-US" sz="1125" b="0" i="1" u="none" strike="noStrike" cap="none" dirty="0">
                <a:solidFill>
                  <a:srgbClr val="4338CA"/>
                </a:solidFill>
                <a:latin typeface="Plus Jakarta Sans Medium"/>
                <a:ea typeface="Plus Jakarta Sans Medium"/>
                <a:cs typeface="Plus Jakarta Sans Medium"/>
                <a:sym typeface="Plus Jakarta Sans Medium"/>
              </a:rPr>
              <a:t> </a:t>
            </a:r>
            <a:r>
              <a:rPr lang="en-US" sz="1125" b="0" i="1" u="none" strike="noStrike" cap="none" dirty="0" err="1">
                <a:solidFill>
                  <a:srgbClr val="4338CA"/>
                </a:solidFill>
                <a:latin typeface="Plus Jakarta Sans Medium"/>
                <a:ea typeface="Plus Jakarta Sans Medium"/>
                <a:cs typeface="Plus Jakarta Sans Medium"/>
                <a:sym typeface="Plus Jakarta Sans Medium"/>
              </a:rPr>
              <a:t>hai</a:t>
            </a:r>
            <a:r>
              <a:rPr lang="en-US" sz="1125" b="0" i="1" u="none" strike="noStrike" cap="none" dirty="0">
                <a:solidFill>
                  <a:srgbClr val="4338CA"/>
                </a:solidFill>
                <a:latin typeface="Plus Jakarta Sans Medium"/>
                <a:ea typeface="Plus Jakarta Sans Medium"/>
                <a:cs typeface="Plus Jakarta Sans Medium"/>
                <a:sym typeface="Plus Jakarta Sans Medium"/>
              </a:rPr>
              <a:t>."</a:t>
            </a:r>
            <a:endParaRPr dirty="0"/>
          </a:p>
        </p:txBody>
      </p:sp>
      <p:sp>
        <p:nvSpPr>
          <p:cNvPr id="135" name="Google Shape;135;p15"/>
          <p:cNvSpPr txBox="1"/>
          <p:nvPr/>
        </p:nvSpPr>
        <p:spPr>
          <a:xfrm>
            <a:off x="771525" y="3108870"/>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36" name="Google Shape;136;p15"/>
          <p:cNvSpPr txBox="1"/>
          <p:nvPr/>
        </p:nvSpPr>
        <p:spPr>
          <a:xfrm>
            <a:off x="771525" y="3680370"/>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37" name="Google Shape;137;p15"/>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dirty="0" err="1">
                <a:solidFill>
                  <a:srgbClr val="0F172A"/>
                </a:solidFill>
                <a:latin typeface="Playfair Display SemiBold"/>
                <a:ea typeface="Playfair Display SemiBold"/>
                <a:cs typeface="Playfair Display SemiBold"/>
                <a:sym typeface="Playfair Display SemiBold"/>
              </a:rPr>
              <a:t>Vấn</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đề</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của</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phân</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cấp</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bộ</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nhớ</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truyền</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thống</a:t>
            </a:r>
            <a:endParaRPr dirty="0"/>
          </a:p>
        </p:txBody>
      </p:sp>
      <p:sp>
        <p:nvSpPr>
          <p:cNvPr id="138" name="Google Shape;138;p15"/>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Picture 2" descr="PPT - Chapter 1 Computer System Overview PowerPoint Presentation, free ..."/>
          <p:cNvPicPr>
            <a:picLocks noChangeAspect="1"/>
          </p:cNvPicPr>
          <p:nvPr/>
        </p:nvPicPr>
        <p:blipFill>
          <a:blip r:embed="rId2"/>
          <a:stretch>
            <a:fillRect/>
          </a:stretch>
        </p:blipFill>
        <p:spPr>
          <a:xfrm>
            <a:off x="6348473" y="1348605"/>
            <a:ext cx="5458717" cy="397773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
        <p:cNvGrpSpPr/>
        <p:nvPr/>
      </p:nvGrpSpPr>
      <p:grpSpPr>
        <a:xfrm>
          <a:off x="0" y="0"/>
          <a:ext cx="0" cy="0"/>
          <a:chOff x="0" y="0"/>
          <a:chExt cx="0" cy="0"/>
        </a:xfrm>
      </p:grpSpPr>
      <p:pic>
        <p:nvPicPr>
          <p:cNvPr id="143" name="Google Shape;143;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4" name="Google Shape;144;p16" descr="image.png"/>
          <p:cNvPicPr preferRelativeResize="0"/>
          <p:nvPr/>
        </p:nvPicPr>
        <p:blipFill rotWithShape="1">
          <a:blip r:embed="rId2"/>
          <a:srcRect/>
          <a:stretch>
            <a:fillRect/>
          </a:stretch>
        </p:blipFill>
        <p:spPr>
          <a:xfrm>
            <a:off x="771525" y="4736008"/>
            <a:ext cx="10648950" cy="838200"/>
          </a:xfrm>
          <a:prstGeom prst="rect">
            <a:avLst/>
          </a:prstGeom>
          <a:noFill/>
          <a:ln>
            <a:noFill/>
          </a:ln>
        </p:spPr>
      </p:pic>
      <p:sp>
        <p:nvSpPr>
          <p:cNvPr id="145" name="Google Shape;145;p16"/>
          <p:cNvSpPr txBox="1"/>
          <p:nvPr/>
        </p:nvSpPr>
        <p:spPr>
          <a:xfrm>
            <a:off x="771525" y="1996082"/>
            <a:ext cx="10648950"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Mặc dù bộ nhớ Flash NAND liên tục giảm giá thành và tăng mật độ nhờ công nghệ 3D Stacked, các giới hạn vật lý cốt lõi ngăn cản nó tiến gần tới CPU.</a:t>
            </a:r>
            <a:endParaRPr lang="en-US" sz="1125" b="0" i="0" u="none" strike="noStrike" cap="none">
              <a:solidFill>
                <a:srgbClr val="475569"/>
              </a:solidFill>
              <a:latin typeface="Plus Jakarta Sans"/>
              <a:ea typeface="Plus Jakarta Sans"/>
              <a:cs typeface="Plus Jakarta Sans"/>
              <a:sym typeface="Plus Jakarta Sans"/>
            </a:endParaRPr>
          </a:p>
        </p:txBody>
      </p:sp>
      <p:graphicFrame>
        <p:nvGraphicFramePr>
          <p:cNvPr id="146" name="Google Shape;146;p16"/>
          <p:cNvGraphicFramePr/>
          <p:nvPr/>
        </p:nvGraphicFramePr>
        <p:xfrm>
          <a:off x="771525" y="2415182"/>
          <a:ext cx="10648950" cy="2082750"/>
        </p:xfrm>
        <a:graphic>
          <a:graphicData uri="http://schemas.openxmlformats.org/drawingml/2006/table">
            <a:tbl>
              <a:tblPr firstRow="1" bandRow="1">
                <a:noFill/>
                <a:tableStyleId>{DF3C2146-B867-4D5D-ABA1-988120CD81A7}</a:tableStyleId>
              </a:tblPr>
              <a:tblGrid>
                <a:gridCol w="2219325"/>
                <a:gridCol w="2057400"/>
                <a:gridCol w="2343150"/>
                <a:gridCol w="4029075"/>
              </a:tblGrid>
              <a:tr h="416550">
                <a:tc>
                  <a:txBody>
                    <a:bodyPr/>
                    <a:lstStyle/>
                    <a:p>
                      <a:pPr marL="0" marR="0" lvl="0" indent="0" algn="l" rtl="0">
                        <a:spcBef>
                          <a:spcPts val="0"/>
                        </a:spcBef>
                        <a:spcAft>
                          <a:spcPts val="0"/>
                        </a:spcAft>
                        <a:buNone/>
                      </a:pPr>
                      <a:r>
                        <a:rPr lang="en-US" sz="1050" b="0" i="0" u="none" strike="noStrike" cap="none">
                          <a:solidFill>
                            <a:srgbClr val="0F172A"/>
                          </a:solidFill>
                          <a:latin typeface="Plus Jakarta Sans SemiBold"/>
                          <a:ea typeface="Plus Jakarta Sans SemiBold"/>
                          <a:cs typeface="Plus Jakarta Sans SemiBold"/>
                          <a:sym typeface="Plus Jakarta Sans SemiBold"/>
                        </a:rPr>
                        <a:t>Đặc tính so sánh</a:t>
                      </a:r>
                      <a:endParaRPr lang="en-US" sz="1050" b="0" i="0" u="none" strike="noStrike" cap="none">
                        <a:solidFill>
                          <a:srgbClr val="0F172A"/>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2563EB"/>
                          </a:solidFill>
                          <a:latin typeface="Plus Jakarta Sans SemiBold"/>
                          <a:ea typeface="Plus Jakarta Sans SemiBold"/>
                          <a:cs typeface="Plus Jakarta Sans SemiBold"/>
                          <a:sym typeface="Plus Jakarta Sans SemiBold"/>
                        </a:rPr>
                        <a:t>DRAM (Chuẩn bộ nhớ chính)</a:t>
                      </a:r>
                      <a:endParaRPr lang="en-US" sz="1050" b="0" i="0" u="none" strike="noStrike" cap="none">
                        <a:solidFill>
                          <a:srgbClr val="2563EB"/>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DC2626"/>
                          </a:solidFill>
                          <a:latin typeface="Plus Jakarta Sans SemiBold"/>
                          <a:ea typeface="Plus Jakarta Sans SemiBold"/>
                          <a:cs typeface="Plus Jakarta Sans SemiBold"/>
                          <a:sym typeface="Plus Jakarta Sans SemiBold"/>
                        </a:rPr>
                        <a:t>Flash NAND (Chuẩn lưu trữ)</a:t>
                      </a:r>
                      <a:endParaRPr lang="en-US" sz="1050" b="0" i="0" u="none" strike="noStrike" cap="none">
                        <a:solidFill>
                          <a:srgbClr val="DC2626"/>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0F172A"/>
                          </a:solidFill>
                          <a:latin typeface="Plus Jakarta Sans SemiBold"/>
                          <a:ea typeface="Plus Jakarta Sans SemiBold"/>
                          <a:cs typeface="Plus Jakarta Sans SemiBold"/>
                          <a:sym typeface="Plus Jakarta Sans SemiBold"/>
                        </a:rPr>
                        <a:t>Ý nghĩa kỹ thuật</a:t>
                      </a:r>
                      <a:endParaRPr lang="en-US" sz="1050" b="0" i="0" u="none" strike="noStrike" cap="none">
                        <a:solidFill>
                          <a:srgbClr val="0F172A"/>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r>
              <a:tr h="416550">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Giao diện truy cập</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Load / Store (Theo byte)</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I/O Controller (Theo block/page)</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Flash không hỗ trợ truy cập trực tiếp ngẫu nhiên địa chỉ byte.</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416550">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Độ trễ trung bình (Latency)</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~81 ns</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~100 µs</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Flash chậm hơn DRAM khoảng 1.000 lần.</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416550">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Độ bền ghi dữ liệu (Endurance)</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Thực tế vô hạn</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1.000 – 100.000 chu kỳ</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Tế bào điện tích bị suy hao vật lý nhanh chóng theo chu kỳ ghi.</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416550">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Bảo toàn năng lượng</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Volatile (Cần refresh liên tục)</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Non-volatile</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DRAM hao phí năng lượng tĩnh rất lớn cho chu kỳ làm tươi.</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47" name="Google Shape;147;p16"/>
          <p:cNvSpPr/>
          <p:nvPr/>
        </p:nvSpPr>
        <p:spPr>
          <a:xfrm>
            <a:off x="771525" y="2805707"/>
            <a:ext cx="221932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8" name="Google Shape;148;p16"/>
          <p:cNvSpPr/>
          <p:nvPr/>
        </p:nvSpPr>
        <p:spPr>
          <a:xfrm>
            <a:off x="2990850" y="2805707"/>
            <a:ext cx="20574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9" name="Google Shape;149;p16"/>
          <p:cNvSpPr/>
          <p:nvPr/>
        </p:nvSpPr>
        <p:spPr>
          <a:xfrm>
            <a:off x="5048250" y="2805707"/>
            <a:ext cx="234315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0" name="Google Shape;150;p16"/>
          <p:cNvSpPr/>
          <p:nvPr/>
        </p:nvSpPr>
        <p:spPr>
          <a:xfrm>
            <a:off x="7391400" y="2805707"/>
            <a:ext cx="402907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1" name="Google Shape;151;p16"/>
          <p:cNvSpPr txBox="1"/>
          <p:nvPr/>
        </p:nvSpPr>
        <p:spPr>
          <a:xfrm>
            <a:off x="1000125" y="4926508"/>
            <a:ext cx="10229850"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Kết luận:</a:t>
            </a:r>
            <a:r>
              <a:rPr lang="en-US" sz="1125" b="0" i="0" u="none" strike="noStrike" cap="none">
                <a:solidFill>
                  <a:srgbClr val="475569"/>
                </a:solidFill>
                <a:latin typeface="Plus Jakarta Sans"/>
                <a:ea typeface="Plus Jakarta Sans"/>
                <a:cs typeface="Plus Jakarta Sans"/>
                <a:sym typeface="Plus Jakarta Sans"/>
              </a:rPr>
              <a:t> Flash NAND hoàn toàn bất khả thi cho việc đóng vai trò bộ nhớ trực tiếp của CPU. Chúng ta bắt buộc phải tìm kiếm các hạt vật lý mới hoạt động dựa trên điện trở để giải bài toán này.</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52" name="Google Shape;152;p16"/>
          <p:cNvSpPr/>
          <p:nvPr/>
        </p:nvSpPr>
        <p:spPr>
          <a:xfrm>
            <a:off x="771525" y="3229570"/>
            <a:ext cx="221932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3" name="Google Shape;153;p16"/>
          <p:cNvSpPr/>
          <p:nvPr/>
        </p:nvSpPr>
        <p:spPr>
          <a:xfrm>
            <a:off x="2990850" y="3229570"/>
            <a:ext cx="205740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4" name="Google Shape;154;p16"/>
          <p:cNvSpPr/>
          <p:nvPr/>
        </p:nvSpPr>
        <p:spPr>
          <a:xfrm>
            <a:off x="5048250" y="3229570"/>
            <a:ext cx="234315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5" name="Google Shape;155;p16"/>
          <p:cNvSpPr/>
          <p:nvPr/>
        </p:nvSpPr>
        <p:spPr>
          <a:xfrm>
            <a:off x="7391400" y="3229570"/>
            <a:ext cx="402907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6" name="Google Shape;156;p16"/>
          <p:cNvSpPr/>
          <p:nvPr/>
        </p:nvSpPr>
        <p:spPr>
          <a:xfrm>
            <a:off x="771525" y="3639145"/>
            <a:ext cx="221932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7" name="Google Shape;157;p16"/>
          <p:cNvSpPr/>
          <p:nvPr/>
        </p:nvSpPr>
        <p:spPr>
          <a:xfrm>
            <a:off x="2990850" y="3639145"/>
            <a:ext cx="205740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8" name="Google Shape;158;p16"/>
          <p:cNvSpPr/>
          <p:nvPr/>
        </p:nvSpPr>
        <p:spPr>
          <a:xfrm>
            <a:off x="5048250" y="3639145"/>
            <a:ext cx="234315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9" name="Google Shape;159;p16"/>
          <p:cNvSpPr/>
          <p:nvPr/>
        </p:nvSpPr>
        <p:spPr>
          <a:xfrm>
            <a:off x="7391400" y="3639145"/>
            <a:ext cx="402907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0" name="Google Shape;160;p16"/>
          <p:cNvSpPr/>
          <p:nvPr/>
        </p:nvSpPr>
        <p:spPr>
          <a:xfrm>
            <a:off x="771525" y="4074021"/>
            <a:ext cx="221932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1" name="Google Shape;161;p16"/>
          <p:cNvSpPr/>
          <p:nvPr/>
        </p:nvSpPr>
        <p:spPr>
          <a:xfrm>
            <a:off x="2990850" y="4074021"/>
            <a:ext cx="205740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2" name="Google Shape;162;p16"/>
          <p:cNvSpPr/>
          <p:nvPr/>
        </p:nvSpPr>
        <p:spPr>
          <a:xfrm>
            <a:off x="5048250" y="4074021"/>
            <a:ext cx="234315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3" name="Google Shape;163;p16"/>
          <p:cNvSpPr/>
          <p:nvPr/>
        </p:nvSpPr>
        <p:spPr>
          <a:xfrm>
            <a:off x="7391400" y="4074021"/>
            <a:ext cx="402907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4" name="Google Shape;164;p16"/>
          <p:cNvSpPr/>
          <p:nvPr/>
        </p:nvSpPr>
        <p:spPr>
          <a:xfrm>
            <a:off x="771525" y="4483596"/>
            <a:ext cx="221932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5" name="Google Shape;165;p16"/>
          <p:cNvSpPr/>
          <p:nvPr/>
        </p:nvSpPr>
        <p:spPr>
          <a:xfrm>
            <a:off x="2990850" y="4483596"/>
            <a:ext cx="205740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6" name="Google Shape;166;p16"/>
          <p:cNvSpPr/>
          <p:nvPr/>
        </p:nvSpPr>
        <p:spPr>
          <a:xfrm>
            <a:off x="5048250" y="4483596"/>
            <a:ext cx="234315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7" name="Google Shape;167;p16"/>
          <p:cNvSpPr/>
          <p:nvPr/>
        </p:nvSpPr>
        <p:spPr>
          <a:xfrm>
            <a:off x="7391400" y="4483596"/>
            <a:ext cx="402907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8" name="Google Shape;168;p16"/>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Tại sao Flash không thể thay thế DRAM?</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169" name="Google Shape;169;p16"/>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3"/>
        <p:cNvGrpSpPr/>
        <p:nvPr/>
      </p:nvGrpSpPr>
      <p:grpSpPr>
        <a:xfrm>
          <a:off x="0" y="0"/>
          <a:ext cx="0" cy="0"/>
          <a:chOff x="0" y="0"/>
          <a:chExt cx="0" cy="0"/>
        </a:xfrm>
      </p:grpSpPr>
      <p:sp>
        <p:nvSpPr>
          <p:cNvPr id="180" name="Google Shape;180;p17"/>
          <p:cNvSpPr txBox="1"/>
          <p:nvPr/>
        </p:nvSpPr>
        <p:spPr>
          <a:xfrm>
            <a:off x="771525" y="2246858"/>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Lưu dữ liệu bằng trạng thái pha vật liệu</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181" name="Google Shape;181;p17"/>
          <p:cNvSpPr txBox="1"/>
          <p:nvPr/>
        </p:nvSpPr>
        <p:spPr>
          <a:xfrm>
            <a:off x="771525" y="2580233"/>
            <a:ext cx="50387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PCM sử dụng lớp vật liệu chalcogenide hợp kim </a:t>
            </a:r>
            <a:r>
              <a:rPr lang="en-US" sz="1125" b="1" i="0" u="none" strike="noStrike" cap="none">
                <a:solidFill>
                  <a:srgbClr val="475569"/>
                </a:solidFill>
                <a:latin typeface="Plus Jakarta Sans"/>
                <a:ea typeface="Plus Jakarta Sans"/>
                <a:cs typeface="Plus Jakarta Sans"/>
                <a:sym typeface="Plus Jakarta Sans"/>
              </a:rPr>
              <a:t>Ge₂Sb₂Te₅ (GST)</a:t>
            </a:r>
            <a:r>
              <a:rPr lang="en-US" sz="1125" b="0" i="0" u="none" strike="noStrike" cap="none">
                <a:solidFill>
                  <a:srgbClr val="475569"/>
                </a:solidFill>
                <a:latin typeface="Plus Jakarta Sans"/>
                <a:ea typeface="Plus Jakarta Sans"/>
                <a:cs typeface="Plus Jakarta Sans"/>
                <a:sym typeface="Plus Jakarta Sans"/>
              </a:rPr>
              <a:t> biến đổi cấu trúc tinh thể khi chịu tác động nhiệt lượng.</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82" name="Google Shape;182;p17"/>
          <p:cNvSpPr txBox="1"/>
          <p:nvPr/>
        </p:nvSpPr>
        <p:spPr>
          <a:xfrm>
            <a:off x="1000125" y="3151733"/>
            <a:ext cx="4810125" cy="83248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Trạng thái RESET (Ghi 1):</a:t>
            </a:r>
            <a:r>
              <a:rPr lang="en-US" sz="1125" b="0" i="0" u="none" strike="noStrike" cap="none">
                <a:solidFill>
                  <a:srgbClr val="475569"/>
                </a:solidFill>
                <a:latin typeface="Plus Jakarta Sans"/>
                <a:ea typeface="Plus Jakarta Sans"/>
                <a:cs typeface="Plus Jakarta Sans"/>
                <a:sym typeface="Plus Jakarta Sans"/>
              </a:rPr>
              <a:t> Áp xung dòng điện cường độ cao trong thời gian cực ngắn → Nung chảy GST vượt nhiệt độ nóng chảy → Làm nguội nhanh tạo cấu trúc </a:t>
            </a:r>
            <a:r>
              <a:rPr lang="en-US" sz="1125" b="1" i="0" u="none" strike="noStrike" cap="none">
                <a:solidFill>
                  <a:srgbClr val="475569"/>
                </a:solidFill>
                <a:latin typeface="Plus Jakarta Sans"/>
                <a:ea typeface="Plus Jakarta Sans"/>
                <a:cs typeface="Plus Jakarta Sans"/>
                <a:sym typeface="Plus Jakarta Sans"/>
              </a:rPr>
              <a:t>Amorphous</a:t>
            </a:r>
            <a:r>
              <a:rPr lang="en-US" sz="1125" b="0" i="0" u="none" strike="noStrike" cap="none">
                <a:solidFill>
                  <a:srgbClr val="475569"/>
                </a:solidFill>
                <a:latin typeface="Plus Jakarta Sans"/>
                <a:ea typeface="Plus Jakarta Sans"/>
                <a:cs typeface="Plus Jakarta Sans"/>
                <a:sym typeface="Plus Jakarta Sans"/>
              </a:rPr>
              <a:t> vô định hình (Điện trở rất cao).</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83" name="Google Shape;183;p17"/>
          <p:cNvSpPr txBox="1"/>
          <p:nvPr/>
        </p:nvSpPr>
        <p:spPr>
          <a:xfrm>
            <a:off x="1000125" y="3951833"/>
            <a:ext cx="4810125" cy="83248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Trạng thái SET (Ghi 0):</a:t>
            </a:r>
            <a:r>
              <a:rPr lang="en-US" sz="1125" b="0" i="0" u="none" strike="noStrike" cap="none">
                <a:solidFill>
                  <a:srgbClr val="475569"/>
                </a:solidFill>
                <a:latin typeface="Plus Jakarta Sans"/>
                <a:ea typeface="Plus Jakarta Sans"/>
                <a:cs typeface="Plus Jakarta Sans"/>
                <a:sym typeface="Plus Jakarta Sans"/>
              </a:rPr>
              <a:t> Áp xung dòng điện vừa phải, thời gian lâu hơn → Ủ nhiệt giữa nhiệt độ kết tinh  và nóng chảy → Cấu trúc </a:t>
            </a:r>
            <a:r>
              <a:rPr lang="en-US" sz="1125" b="1" i="0" u="none" strike="noStrike" cap="none">
                <a:solidFill>
                  <a:srgbClr val="475569"/>
                </a:solidFill>
                <a:latin typeface="Plus Jakarta Sans"/>
                <a:ea typeface="Plus Jakarta Sans"/>
                <a:cs typeface="Plus Jakarta Sans"/>
                <a:sym typeface="Plus Jakarta Sans"/>
              </a:rPr>
              <a:t>Crystalline</a:t>
            </a:r>
            <a:r>
              <a:rPr lang="en-US" sz="1125" b="0" i="0" u="none" strike="noStrike" cap="none">
                <a:solidFill>
                  <a:srgbClr val="475569"/>
                </a:solidFill>
                <a:latin typeface="Plus Jakarta Sans"/>
                <a:ea typeface="Plus Jakarta Sans"/>
                <a:cs typeface="Plus Jakarta Sans"/>
                <a:sym typeface="Plus Jakarta Sans"/>
              </a:rPr>
              <a:t> tinh thể hóa tự nhiên (Điện trở rất thấp).</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84" name="Google Shape;184;p17"/>
          <p:cNvSpPr txBox="1"/>
          <p:nvPr/>
        </p:nvSpPr>
        <p:spPr>
          <a:xfrm>
            <a:off x="1000125" y="4751933"/>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Thao tác Đọc:</a:t>
            </a:r>
            <a:r>
              <a:rPr lang="en-US" sz="1125" b="0" i="0" u="none" strike="noStrike" cap="none">
                <a:solidFill>
                  <a:srgbClr val="475569"/>
                </a:solidFill>
                <a:latin typeface="Plus Jakarta Sans"/>
                <a:ea typeface="Plus Jakarta Sans"/>
                <a:cs typeface="Plus Jakarta Sans"/>
                <a:sym typeface="Plus Jakarta Sans"/>
              </a:rPr>
              <a:t> Áp dòng điện siêu nhỏ đo giá trị điện trở (R), không gây nhiễu trạng thái pha.</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185" name="Google Shape;185;p17"/>
          <p:cNvSpPr txBox="1"/>
          <p:nvPr/>
        </p:nvSpPr>
        <p:spPr>
          <a:xfrm>
            <a:off x="771525" y="3151733"/>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86" name="Google Shape;186;p17"/>
          <p:cNvSpPr txBox="1"/>
          <p:nvPr/>
        </p:nvSpPr>
        <p:spPr>
          <a:xfrm>
            <a:off x="771525" y="3951833"/>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87" name="Google Shape;187;p17"/>
          <p:cNvSpPr txBox="1"/>
          <p:nvPr/>
        </p:nvSpPr>
        <p:spPr>
          <a:xfrm>
            <a:off x="771525" y="4751933"/>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192" name="Google Shape;192;p17"/>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Phase Change Memory (PCM): Nguyên lý hoạt động</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193" name="Google Shape;193;p17"/>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5" name="Picture 4" descr="Working-principle-of-phase-change-materials-for-memory-applications-a-Ge-2-Sb-2-Te-5"/>
          <p:cNvPicPr>
            <a:picLocks noChangeAspect="1"/>
          </p:cNvPicPr>
          <p:nvPr/>
        </p:nvPicPr>
        <p:blipFill>
          <a:blip r:embed="rId1"/>
          <a:stretch>
            <a:fillRect/>
          </a:stretch>
        </p:blipFill>
        <p:spPr>
          <a:xfrm>
            <a:off x="5992495" y="2290445"/>
            <a:ext cx="5427980" cy="29184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7"/>
        <p:cNvGrpSpPr/>
        <p:nvPr/>
      </p:nvGrpSpPr>
      <p:grpSpPr>
        <a:xfrm>
          <a:off x="0" y="0"/>
          <a:ext cx="0" cy="0"/>
          <a:chOff x="0" y="0"/>
          <a:chExt cx="0" cy="0"/>
        </a:xfrm>
      </p:grpSpPr>
      <p:pic>
        <p:nvPicPr>
          <p:cNvPr id="198" name="Google Shape;198;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99" name="Google Shape;199;p18" descr="image.png"/>
          <p:cNvPicPr preferRelativeResize="0"/>
          <p:nvPr/>
        </p:nvPicPr>
        <p:blipFill rotWithShape="1">
          <a:blip r:embed="rId2"/>
          <a:srcRect/>
          <a:stretch>
            <a:fillRect/>
          </a:stretch>
        </p:blipFill>
        <p:spPr>
          <a:xfrm>
            <a:off x="771525" y="1779905"/>
            <a:ext cx="3397250" cy="4298950"/>
          </a:xfrm>
          <a:prstGeom prst="rect">
            <a:avLst/>
          </a:prstGeom>
          <a:noFill/>
          <a:ln>
            <a:noFill/>
          </a:ln>
        </p:spPr>
      </p:pic>
      <p:pic>
        <p:nvPicPr>
          <p:cNvPr id="200" name="Google Shape;200;p18" descr="image.png"/>
          <p:cNvPicPr preferRelativeResize="0"/>
          <p:nvPr/>
        </p:nvPicPr>
        <p:blipFill rotWithShape="1">
          <a:blip r:embed="rId3"/>
          <a:srcRect/>
          <a:stretch>
            <a:fillRect/>
          </a:stretch>
        </p:blipFill>
        <p:spPr>
          <a:xfrm>
            <a:off x="4397375" y="1779905"/>
            <a:ext cx="3397250" cy="4298950"/>
          </a:xfrm>
          <a:prstGeom prst="rect">
            <a:avLst/>
          </a:prstGeom>
          <a:noFill/>
          <a:ln>
            <a:noFill/>
          </a:ln>
        </p:spPr>
      </p:pic>
      <p:pic>
        <p:nvPicPr>
          <p:cNvPr id="201" name="Google Shape;201;p18" descr="image.png"/>
          <p:cNvPicPr preferRelativeResize="0"/>
          <p:nvPr/>
        </p:nvPicPr>
        <p:blipFill rotWithShape="1">
          <a:blip r:embed="rId4"/>
          <a:srcRect/>
          <a:stretch>
            <a:fillRect/>
          </a:stretch>
        </p:blipFill>
        <p:spPr>
          <a:xfrm>
            <a:off x="8023225" y="1779905"/>
            <a:ext cx="3397250" cy="4298950"/>
          </a:xfrm>
          <a:prstGeom prst="rect">
            <a:avLst/>
          </a:prstGeom>
          <a:noFill/>
          <a:ln>
            <a:noFill/>
          </a:ln>
        </p:spPr>
      </p:pic>
      <p:sp>
        <p:nvSpPr>
          <p:cNvPr id="203" name="Google Shape;203;p18"/>
          <p:cNvSpPr txBox="1"/>
          <p:nvPr/>
        </p:nvSpPr>
        <p:spPr>
          <a:xfrm>
            <a:off x="1066800" y="2551658"/>
            <a:ext cx="29470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Resistance Drift</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04" name="Google Shape;204;p18"/>
          <p:cNvSpPr txBox="1"/>
          <p:nvPr/>
        </p:nvSpPr>
        <p:spPr>
          <a:xfrm>
            <a:off x="1066800" y="2885033"/>
            <a:ext cx="2806749"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Điện trở của vùng vô định hình (Amorphous) không ổn định tuyệt đối mà tự tăng dần theo thời gian theo mô hình số mũ:</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05" name="Google Shape;205;p18"/>
          <p:cNvSpPr txBox="1"/>
          <p:nvPr/>
        </p:nvSpPr>
        <p:spPr>
          <a:xfrm>
            <a:off x="1066800" y="4537025"/>
            <a:ext cx="2806749" cy="5942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0" i="0" u="none" strike="noStrike" cap="none">
                <a:solidFill>
                  <a:srgbClr val="475569"/>
                </a:solidFill>
                <a:latin typeface="Plus Jakarta Sans"/>
                <a:ea typeface="Plus Jakarta Sans"/>
                <a:cs typeface="Plus Jakarta Sans"/>
                <a:sym typeface="Plus Jakarta Sans"/>
              </a:rPr>
              <a:t>Đây là trở ngại chết người của công nghệ ô nhớ đa cấp (MLC) vì các trạng thái trung gian bị trôi lệch, dẫn tới lỗi đọc dữ liệu.</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206" name="Google Shape;206;p18"/>
          <p:cNvSpPr txBox="1"/>
          <p:nvPr/>
        </p:nvSpPr>
        <p:spPr>
          <a:xfrm>
            <a:off x="4692699" y="2551658"/>
            <a:ext cx="29470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Mâu thuẫn nhiệt độ</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07" name="Google Shape;207;p18"/>
          <p:cNvSpPr txBox="1"/>
          <p:nvPr/>
        </p:nvSpPr>
        <p:spPr>
          <a:xfrm>
            <a:off x="4692699" y="2885033"/>
            <a:ext cx="2806749"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Nghiên cứu vật liệu GST đối mặt với bài toán tối ưu trung tâm cực khó giải quyết đồng thời hai yếu tố:</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08" name="Google Shape;208;p18"/>
          <p:cNvSpPr txBox="1"/>
          <p:nvPr/>
        </p:nvSpPr>
        <p:spPr>
          <a:xfrm>
            <a:off x="8318599" y="2551658"/>
            <a:ext cx="29470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Dòng RESET quá cao</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09" name="Google Shape;209;p18"/>
          <p:cNvSpPr txBox="1"/>
          <p:nvPr/>
        </p:nvSpPr>
        <p:spPr>
          <a:xfrm>
            <a:off x="8318599" y="2885033"/>
            <a:ext cx="2806749"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Quá trình nung chảy GST yêu cầu dòng điện mật độ cực lớn từ </a:t>
            </a:r>
            <a:r>
              <a:rPr lang="en-US" sz="1125" b="1" i="0" u="none" strike="noStrike" cap="none">
                <a:solidFill>
                  <a:srgbClr val="475569"/>
                </a:solidFill>
                <a:latin typeface="Plus Jakarta Sans"/>
                <a:ea typeface="Plus Jakarta Sans"/>
                <a:cs typeface="Plus Jakarta Sans"/>
                <a:sym typeface="Plus Jakarta Sans"/>
              </a:rPr>
              <a:t>10 đến 40 MA/cm²</a:t>
            </a:r>
            <a:r>
              <a:rPr lang="en-US" sz="1125" b="0" i="0" u="none" strike="noStrike" cap="none">
                <a:solidFill>
                  <a:srgbClr val="475569"/>
                </a:solidFill>
                <a:latin typeface="Plus Jakarta Sans"/>
                <a:ea typeface="Plus Jakarta Sans"/>
                <a:cs typeface="Plus Jakarta Sans"/>
                <a:sym typeface="Plus Jakarta Sans"/>
              </a:rPr>
              <a:t>.</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10" name="Google Shape;210;p18"/>
          <p:cNvSpPr txBox="1"/>
          <p:nvPr/>
        </p:nvSpPr>
        <p:spPr>
          <a:xfrm>
            <a:off x="8318599" y="3647033"/>
            <a:ext cx="2806749" cy="7923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1" i="0" u="none" strike="noStrike" cap="none">
                <a:solidFill>
                  <a:srgbClr val="475569"/>
                </a:solidFill>
                <a:latin typeface="Plus Jakarta Sans"/>
                <a:ea typeface="Plus Jakarta Sans"/>
                <a:cs typeface="Plus Jakarta Sans"/>
                <a:sym typeface="Plus Jakarta Sans"/>
              </a:rPr>
              <a:t>Cải tiến cấu trúc:</a:t>
            </a:r>
            <a:r>
              <a:rPr lang="en-US" sz="975" b="0" i="0" u="none" strike="noStrike" cap="none">
                <a:solidFill>
                  <a:srgbClr val="475569"/>
                </a:solidFill>
                <a:latin typeface="Plus Jakarta Sans"/>
                <a:ea typeface="Plus Jakarta Sans"/>
                <a:cs typeface="Plus Jakarta Sans"/>
                <a:sym typeface="Plus Jakarta Sans"/>
              </a:rPr>
              <a:t> Sự chuyển dịch thiết kế từ Mushroom → Edge-contact → μTrench → Confined Cell giúp thu nhỏ tiết diện tiếp xúc, giảm dòng điện RESET tới hơn 65%.</a:t>
            </a:r>
            <a:endParaRPr lang="en-US" sz="975" b="0" i="0" u="none" strike="noStrike" cap="none">
              <a:solidFill>
                <a:srgbClr val="475569"/>
              </a:solidFill>
              <a:latin typeface="Plus Jakarta Sans"/>
              <a:ea typeface="Plus Jakarta Sans"/>
              <a:cs typeface="Plus Jakarta Sans"/>
              <a:sym typeface="Plus Jakarta Sans"/>
            </a:endParaRPr>
          </a:p>
        </p:txBody>
      </p:sp>
      <p:pic>
        <p:nvPicPr>
          <p:cNvPr id="211" name="Google Shape;211;p18" descr="image.png"/>
          <p:cNvPicPr preferRelativeResize="0"/>
          <p:nvPr/>
        </p:nvPicPr>
        <p:blipFill rotWithShape="1">
          <a:blip r:embed="rId5"/>
          <a:srcRect/>
          <a:stretch>
            <a:fillRect/>
          </a:stretch>
        </p:blipFill>
        <p:spPr>
          <a:xfrm>
            <a:off x="1066800" y="2123033"/>
            <a:ext cx="266700" cy="266700"/>
          </a:xfrm>
          <a:prstGeom prst="rect">
            <a:avLst/>
          </a:prstGeom>
          <a:noFill/>
          <a:ln>
            <a:noFill/>
          </a:ln>
        </p:spPr>
      </p:pic>
      <p:pic>
        <p:nvPicPr>
          <p:cNvPr id="213" name="Google Shape;213;p18" descr="image.png"/>
          <p:cNvPicPr preferRelativeResize="0"/>
          <p:nvPr/>
        </p:nvPicPr>
        <p:blipFill rotWithShape="1">
          <a:blip r:embed="rId6"/>
          <a:srcRect/>
          <a:stretch>
            <a:fillRect/>
          </a:stretch>
        </p:blipFill>
        <p:spPr>
          <a:xfrm>
            <a:off x="4692699" y="2123033"/>
            <a:ext cx="266700" cy="266700"/>
          </a:xfrm>
          <a:prstGeom prst="rect">
            <a:avLst/>
          </a:prstGeom>
          <a:noFill/>
          <a:ln>
            <a:noFill/>
          </a:ln>
        </p:spPr>
      </p:pic>
      <p:sp>
        <p:nvSpPr>
          <p:cNvPr id="214" name="Google Shape;214;p18"/>
          <p:cNvSpPr txBox="1"/>
          <p:nvPr/>
        </p:nvSpPr>
        <p:spPr>
          <a:xfrm>
            <a:off x="4684444" y="3799433"/>
            <a:ext cx="2578149"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Yêu cầu lưu trữ lâu dài:</a:t>
            </a:r>
            <a:r>
              <a:rPr lang="en-US" sz="1125" b="0" i="0" u="none" strike="noStrike" cap="none">
                <a:solidFill>
                  <a:srgbClr val="475569"/>
                </a:solidFill>
                <a:latin typeface="Plus Jakarta Sans"/>
                <a:ea typeface="Plus Jakarta Sans"/>
                <a:cs typeface="Plus Jakarta Sans"/>
                <a:sym typeface="Plus Jakarta Sans"/>
              </a:rPr>
              <a:t> Trạng thái amorphous phải cực kỳ ổn định ở nhiệt độ vận hành công nghiệp (85°C - 150°C), không tự biến đổi.</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15" name="Google Shape;215;p18"/>
          <p:cNvSpPr txBox="1"/>
          <p:nvPr/>
        </p:nvSpPr>
        <p:spPr>
          <a:xfrm>
            <a:off x="4679364" y="4942433"/>
            <a:ext cx="2578149"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Yêu cầu tốc độ:</a:t>
            </a:r>
            <a:r>
              <a:rPr lang="en-US" sz="1125" b="0" i="0" u="none" strike="noStrike" cap="none">
                <a:solidFill>
                  <a:srgbClr val="475569"/>
                </a:solidFill>
                <a:latin typeface="Plus Jakarta Sans"/>
                <a:ea typeface="Plus Jakarta Sans"/>
                <a:cs typeface="Plus Jakarta Sans"/>
                <a:sym typeface="Plus Jakarta Sans"/>
              </a:rPr>
              <a:t> Khi ghi dữ liệu, vật liệu phải chuyển pha tinh thể cực nhanh ở mức nano giây.</a:t>
            </a:r>
            <a:endParaRPr lang="en-US" sz="1125" b="0" i="0" u="none" strike="noStrike" cap="none">
              <a:solidFill>
                <a:srgbClr val="475569"/>
              </a:solidFill>
              <a:latin typeface="Plus Jakarta Sans"/>
              <a:ea typeface="Plus Jakarta Sans"/>
              <a:cs typeface="Plus Jakarta Sans"/>
              <a:sym typeface="Plus Jakarta Sans"/>
            </a:endParaRPr>
          </a:p>
        </p:txBody>
      </p:sp>
      <p:pic>
        <p:nvPicPr>
          <p:cNvPr id="216" name="Google Shape;216;p18" descr="image.png"/>
          <p:cNvPicPr preferRelativeResize="0"/>
          <p:nvPr/>
        </p:nvPicPr>
        <p:blipFill rotWithShape="1">
          <a:blip r:embed="rId7"/>
          <a:srcRect/>
          <a:stretch>
            <a:fillRect/>
          </a:stretch>
        </p:blipFill>
        <p:spPr>
          <a:xfrm>
            <a:off x="8318599" y="2123033"/>
            <a:ext cx="238125" cy="266700"/>
          </a:xfrm>
          <a:prstGeom prst="rect">
            <a:avLst/>
          </a:prstGeom>
          <a:noFill/>
          <a:ln>
            <a:noFill/>
          </a:ln>
        </p:spPr>
      </p:pic>
      <p:sp>
        <p:nvSpPr>
          <p:cNvPr id="219" name="Google Shape;219;p18"/>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PCM: Thách thức vật lý lớn nhất</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220" name="Google Shape;220;p18"/>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mc:Choice xmlns:a14="http://schemas.microsoft.com/office/drawing/2010/main" Requires="a14">
          <p:sp>
            <p:nvSpPr>
              <p:cNvPr id="2" name="Text Box 1"/>
              <p:cNvSpPr txBox="1"/>
              <p:nvPr/>
            </p:nvSpPr>
            <p:spPr>
              <a:xfrm>
                <a:off x="1356932" y="4007104"/>
                <a:ext cx="2367280" cy="530225"/>
              </a:xfrm>
              <a:prstGeom prst="rect">
                <a:avLst/>
              </a:prstGeom>
              <a:noFill/>
            </p:spPr>
            <p:txBody>
              <a:bodyPr wrap="none" rtlCol="0" anchor="t">
                <a:spAutoFit/>
              </a:bodyPr>
              <a:p>
                <a:pPr algn="l"/>
                <a14:m>
                  <m:oMathPara xmlns:m="http://schemas.openxmlformats.org/officeDocument/2006/math">
                    <m:oMathParaPr>
                      <m:jc m:val="centerGroup"/>
                    </m:oMathParaPr>
                    <m:oMath xmlns:m="http://schemas.openxmlformats.org/officeDocument/2006/math">
                      <m:sSub>
                        <m:sSubPr>
                          <m:ctrlPr>
                            <a:rPr lang="en-US" i="1">
                              <a:latin typeface="DejaVu Math TeX Gyre" panose="02000503000000000000" charset="0"/>
                              <a:cs typeface="DejaVu Math TeX Gyre" panose="02000503000000000000" charset="0"/>
                            </a:rPr>
                          </m:ctrlPr>
                        </m:sSubPr>
                        <m:e>
                          <m:r>
                            <a:rPr lang="en-US" i="1">
                              <a:latin typeface="DejaVu Math TeX Gyre" panose="02000503000000000000" charset="0"/>
                              <a:cs typeface="DejaVu Math TeX Gyre" panose="02000503000000000000" charset="0"/>
                            </a:rPr>
                            <m:t>𝑅</m:t>
                          </m:r>
                        </m:e>
                        <m:sub>
                          <m:r>
                            <a:rPr lang="en-US" i="1">
                              <a:latin typeface="DejaVu Math TeX Gyre" panose="02000503000000000000" charset="0"/>
                              <a:cs typeface="DejaVu Math TeX Gyre" panose="02000503000000000000" charset="0"/>
                            </a:rPr>
                            <m:t>𝑇</m:t>
                          </m:r>
                        </m:sub>
                      </m:sSub>
                      <m:r>
                        <a:rPr lang="en-US" i="1">
                          <a:latin typeface="DejaVu Math TeX Gyre" panose="02000503000000000000" charset="0"/>
                          <a:cs typeface="DejaVu Math TeX Gyre" panose="02000503000000000000" charset="0"/>
                        </a:rPr>
                        <m:t>=</m:t>
                      </m:r>
                      <m:sSub>
                        <m:sSubPr>
                          <m:ctrlPr>
                            <a:rPr lang="en-US" i="1">
                              <a:latin typeface="DejaVu Math TeX Gyre" panose="02000503000000000000" charset="0"/>
                              <a:cs typeface="DejaVu Math TeX Gyre" panose="02000503000000000000" charset="0"/>
                            </a:rPr>
                          </m:ctrlPr>
                        </m:sSubPr>
                        <m:e>
                          <m:r>
                            <a:rPr lang="en-US" i="1">
                              <a:latin typeface="DejaVu Math TeX Gyre" panose="02000503000000000000" charset="0"/>
                              <a:cs typeface="DejaVu Math TeX Gyre" panose="02000503000000000000" charset="0"/>
                            </a:rPr>
                            <m:t>𝑅</m:t>
                          </m:r>
                        </m:e>
                        <m:sub>
                          <m:r>
                            <a:rPr lang="en-US" i="1">
                              <a:latin typeface="DejaVu Math TeX Gyre" panose="02000503000000000000" charset="0"/>
                              <a:cs typeface="DejaVu Math TeX Gyre" panose="02000503000000000000" charset="0"/>
                            </a:rPr>
                            <m:t>0</m:t>
                          </m:r>
                        </m:sub>
                      </m:sSub>
                      <m:r>
                        <a:rPr lang="en-US" i="1">
                          <a:latin typeface="DejaVu Math TeX Gyre" panose="02000503000000000000" charset="0"/>
                          <a:cs typeface="DejaVu Math TeX Gyre" panose="02000503000000000000" charset="0"/>
                        </a:rPr>
                        <m:t>.</m:t>
                      </m:r>
                      <m:sSup>
                        <m:sSupPr>
                          <m:ctrlPr>
                            <a:rPr lang="en-US" i="1">
                              <a:latin typeface="DejaVu Math TeX Gyre" panose="02000503000000000000" charset="0"/>
                              <a:cs typeface="DejaVu Math TeX Gyre" panose="02000503000000000000" charset="0"/>
                            </a:rPr>
                          </m:ctrlPr>
                        </m:sSupPr>
                        <m:e>
                          <m:r>
                            <a:rPr lang="en-US" i="1">
                              <a:latin typeface="DejaVu Math TeX Gyre" panose="02000503000000000000" charset="0"/>
                              <a:cs typeface="DejaVu Math TeX Gyre" panose="02000503000000000000" charset="0"/>
                            </a:rPr>
                            <m:t>(</m:t>
                          </m:r>
                          <m:f>
                            <m:fPr>
                              <m:ctrlPr>
                                <a:rPr lang="en-US" i="1">
                                  <a:latin typeface="DejaVu Math TeX Gyre" panose="02000503000000000000" charset="0"/>
                                  <a:cs typeface="DejaVu Math TeX Gyre" panose="02000503000000000000" charset="0"/>
                                </a:rPr>
                              </m:ctrlPr>
                            </m:fPr>
                            <m:num>
                              <m:r>
                                <a:rPr lang="en-US" i="1">
                                  <a:latin typeface="DejaVu Math TeX Gyre" panose="02000503000000000000" charset="0"/>
                                  <a:cs typeface="DejaVu Math TeX Gyre" panose="02000503000000000000" charset="0"/>
                                </a:rPr>
                                <m:t>𝑡</m:t>
                              </m:r>
                            </m:num>
                            <m:den>
                              <m:sSub>
                                <m:sSubPr>
                                  <m:ctrlPr>
                                    <a:rPr lang="en-US" i="1">
                                      <a:latin typeface="DejaVu Math TeX Gyre" panose="02000503000000000000" charset="0"/>
                                      <a:cs typeface="DejaVu Math TeX Gyre" panose="02000503000000000000" charset="0"/>
                                    </a:rPr>
                                  </m:ctrlPr>
                                </m:sSubPr>
                                <m:e>
                                  <m:r>
                                    <a:rPr lang="en-US" i="1">
                                      <a:latin typeface="DejaVu Math TeX Gyre" panose="02000503000000000000" charset="0"/>
                                      <a:cs typeface="DejaVu Math TeX Gyre" panose="02000503000000000000" charset="0"/>
                                    </a:rPr>
                                    <m:t>𝑡</m:t>
                                  </m:r>
                                </m:e>
                                <m:sub>
                                  <m:r>
                                    <a:rPr lang="en-US" i="1">
                                      <a:latin typeface="DejaVu Math TeX Gyre" panose="02000503000000000000" charset="0"/>
                                      <a:cs typeface="DejaVu Math TeX Gyre" panose="02000503000000000000" charset="0"/>
                                    </a:rPr>
                                    <m:t>0</m:t>
                                  </m:r>
                                </m:sub>
                              </m:sSub>
                            </m:den>
                          </m:f>
                          <m:r>
                            <a:rPr lang="en-US" i="1">
                              <a:latin typeface="DejaVu Math TeX Gyre" panose="02000503000000000000" charset="0"/>
                              <a:cs typeface="DejaVu Math TeX Gyre" panose="02000503000000000000" charset="0"/>
                            </a:rPr>
                            <m:t>)</m:t>
                          </m:r>
                        </m:e>
                        <m:sup>
                          <m:r>
                            <a:rPr lang="en-US" i="1">
                              <a:latin typeface="DejaVu Math TeX Gyre" panose="02000503000000000000" charset="0"/>
                              <a:cs typeface="DejaVu Math TeX Gyre" panose="02000503000000000000" charset="0"/>
                            </a:rPr>
                            <m:t>𝑣</m:t>
                          </m:r>
                        </m:sup>
                      </m:sSup>
                      <m:r>
                        <a:rPr lang="en-US" i="1">
                          <a:latin typeface="DejaVu Math TeX Gyre" panose="02000503000000000000" charset="0"/>
                          <a:cs typeface="DejaVu Math TeX Gyre" panose="02000503000000000000" charset="0"/>
                        </a:rPr>
                        <m:t>, </m:t>
                      </m:r>
                      <m:r>
                        <a:rPr lang="en-US" i="1">
                          <a:latin typeface="DejaVu Math TeX Gyre" panose="02000503000000000000" charset="0"/>
                          <a:cs typeface="DejaVu Math TeX Gyre" panose="02000503000000000000" charset="0"/>
                        </a:rPr>
                        <m:t>𝑣</m:t>
                      </m:r>
                      <m:r>
                        <a:rPr lang="en-US" i="1">
                          <a:latin typeface="DejaVu Math TeX Gyre" panose="02000503000000000000" charset="0"/>
                          <a:cs typeface="DejaVu Math TeX Gyre" panose="02000503000000000000" charset="0"/>
                        </a:rPr>
                        <m:t>≈</m:t>
                      </m:r>
                      <m:r>
                        <a:rPr lang="en-US" i="1">
                          <a:latin typeface="DejaVu Math TeX Gyre" panose="02000503000000000000" charset="0"/>
                          <a:cs typeface="DejaVu Math TeX Gyre" panose="02000503000000000000" charset="0"/>
                        </a:rPr>
                        <m:t>0</m:t>
                      </m:r>
                      <m:r>
                        <a:rPr lang="en-US" i="1">
                          <a:latin typeface="DejaVu Math TeX Gyre" panose="02000503000000000000" charset="0"/>
                          <a:cs typeface="DejaVu Math TeX Gyre" panose="02000503000000000000" charset="0"/>
                        </a:rPr>
                        <m:t>.</m:t>
                      </m:r>
                      <m:r>
                        <a:rPr lang="en-US" i="1">
                          <a:latin typeface="DejaVu Math TeX Gyre" panose="02000503000000000000" charset="0"/>
                          <a:cs typeface="DejaVu Math TeX Gyre" panose="02000503000000000000" charset="0"/>
                        </a:rPr>
                        <m:t>1</m:t>
                      </m:r>
                      <m:r>
                        <a:rPr lang="en-US" i="1">
                          <a:latin typeface="DejaVu Math TeX Gyre" panose="02000503000000000000" charset="0"/>
                          <a:cs typeface="DejaVu Math TeX Gyre" panose="02000503000000000000" charset="0"/>
                        </a:rPr>
                        <m:t> </m:t>
                      </m:r>
                    </m:oMath>
                  </m:oMathPara>
                </a14:m>
                <a:endParaRPr lang="en-US"/>
              </a:p>
            </p:txBody>
          </p:sp>
        </mc:Choice>
        <mc:Fallback>
          <p:sp>
            <p:nvSpPr>
              <p:cNvPr id="2" name="Text Box 1"/>
              <p:cNvSpPr txBox="1">
                <a:spLocks noRot="1" noChangeAspect="1" noMove="1" noResize="1" noEditPoints="1" noAdjustHandles="1" noChangeArrowheads="1" noChangeShapeType="1" noTextEdit="1"/>
              </p:cNvSpPr>
              <p:nvPr/>
            </p:nvSpPr>
            <p:spPr>
              <a:xfrm>
                <a:off x="1356932" y="4007104"/>
                <a:ext cx="2367280" cy="530225"/>
              </a:xfrm>
              <a:prstGeom prst="rect">
                <a:avLst/>
              </a:prstGeom>
              <a:blipFill rotWithShape="1">
                <a:blip r:embed="rId8"/>
                <a:stretch>
                  <a:fillRect l="-24" t="-48" r="24" b="48"/>
                </a:stretch>
              </a:blipFill>
            </p:spPr>
            <p:txBody>
              <a:bodyPr/>
              <a:lstStyle/>
              <a:p>
                <a:r>
                  <a:rPr lang="en-US" altLang="en-US">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4"/>
        <p:cNvGrpSpPr/>
        <p:nvPr/>
      </p:nvGrpSpPr>
      <p:grpSpPr>
        <a:xfrm>
          <a:off x="0" y="0"/>
          <a:ext cx="0" cy="0"/>
          <a:chOff x="0" y="0"/>
          <a:chExt cx="0" cy="0"/>
        </a:xfrm>
      </p:grpSpPr>
      <p:pic>
        <p:nvPicPr>
          <p:cNvPr id="226" name="Google Shape;226;p19" descr="image.png"/>
          <p:cNvPicPr preferRelativeResize="0"/>
          <p:nvPr/>
        </p:nvPicPr>
        <p:blipFill rotWithShape="1">
          <a:blip r:embed="rId1"/>
          <a:srcRect/>
          <a:stretch>
            <a:fillRect/>
          </a:stretch>
        </p:blipFill>
        <p:spPr>
          <a:xfrm>
            <a:off x="771525" y="4541490"/>
            <a:ext cx="5038725" cy="1020812"/>
          </a:xfrm>
          <a:prstGeom prst="rect">
            <a:avLst/>
          </a:prstGeom>
          <a:noFill/>
          <a:ln>
            <a:noFill/>
          </a:ln>
        </p:spPr>
      </p:pic>
      <p:sp>
        <p:nvSpPr>
          <p:cNvPr id="231" name="Google Shape;231;p19"/>
          <p:cNvSpPr txBox="1"/>
          <p:nvPr/>
        </p:nvSpPr>
        <p:spPr>
          <a:xfrm>
            <a:off x="771525" y="2007840"/>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Selector quyết định kích thước vật lý thực</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32" name="Google Shape;232;p19"/>
          <p:cNvSpPr txBox="1"/>
          <p:nvPr/>
        </p:nvSpPr>
        <p:spPr>
          <a:xfrm>
            <a:off x="771525" y="2341215"/>
            <a:ext cx="5038725"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Bản thân ô nhớ PCM rất nhỏ, nhưng để tích hợp vào mạng lưới mật độ cao không bị dòng điện đi lạc nhiễu sóng, mỗi ô nhớ bắt buộc phải đi kèm một </a:t>
            </a:r>
            <a:r>
              <a:rPr lang="en-US" sz="1125" b="1" i="0" u="none" strike="noStrike" cap="none">
                <a:solidFill>
                  <a:srgbClr val="475569"/>
                </a:solidFill>
                <a:latin typeface="Plus Jakarta Sans"/>
                <a:ea typeface="Plus Jakarta Sans"/>
                <a:cs typeface="Plus Jakarta Sans"/>
                <a:sym typeface="Plus Jakarta Sans"/>
              </a:rPr>
              <a:t>Selector</a:t>
            </a:r>
            <a:r>
              <a:rPr lang="en-US" sz="1125" b="0" i="0" u="none" strike="noStrike" cap="none">
                <a:solidFill>
                  <a:srgbClr val="475569"/>
                </a:solidFill>
                <a:latin typeface="Plus Jakarta Sans"/>
                <a:ea typeface="Plus Jakarta Sans"/>
                <a:cs typeface="Plus Jakarta Sans"/>
                <a:sym typeface="Plus Jakarta Sans"/>
              </a:rPr>
              <a:t> đóng ngắt.</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33" name="Google Shape;233;p19"/>
          <p:cNvSpPr txBox="1"/>
          <p:nvPr/>
        </p:nvSpPr>
        <p:spPr>
          <a:xfrm>
            <a:off x="1000125" y="3141315"/>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Các phương án Selector:</a:t>
            </a:r>
            <a:r>
              <a:rPr lang="en-US" sz="1125" b="0" i="0" u="none" strike="noStrike" cap="none">
                <a:solidFill>
                  <a:srgbClr val="475569"/>
                </a:solidFill>
                <a:latin typeface="Plus Jakarta Sans"/>
                <a:ea typeface="Plus Jakarta Sans"/>
                <a:cs typeface="Plus Jakarta Sans"/>
                <a:sym typeface="Plus Jakarta Sans"/>
              </a:rPr>
              <a:t> MOSFET, BJT, Diode, Metal-Insulator Transition (MIT), Ovonic Threshold Switch (OTS).</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34" name="Google Shape;234;p19"/>
          <p:cNvSpPr txBox="1"/>
          <p:nvPr/>
        </p:nvSpPr>
        <p:spPr>
          <a:xfrm>
            <a:off x="1000125" y="3712845"/>
            <a:ext cx="4810125" cy="920115"/>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Mục tiêu kỹ thuật:</a:t>
            </a:r>
            <a:r>
              <a:rPr lang="en-US" sz="1125" b="0" i="0" u="none" strike="noStrike" cap="none">
                <a:solidFill>
                  <a:srgbClr val="475569"/>
                </a:solidFill>
                <a:latin typeface="Plus Jakarta Sans"/>
                <a:ea typeface="Plus Jakarta Sans"/>
                <a:cs typeface="Plus Jakarta Sans"/>
                <a:sym typeface="Plus Jakarta Sans"/>
              </a:rPr>
              <a:t> Đạt tỉ lệ ON/OFF &gt; 10⁶, dòng mở cực cao để đủ cung cấp dòng RESET, tương thích nhiệt độ chế tạo CMOS dưới 450°C.</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35" name="Google Shape;235;p19"/>
          <p:cNvSpPr txBox="1"/>
          <p:nvPr/>
        </p:nvSpPr>
        <p:spPr>
          <a:xfrm>
            <a:off x="1000125" y="4731990"/>
            <a:ext cx="4619625" cy="63981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Giải pháp MLC:</a:t>
            </a:r>
            <a:r>
              <a:rPr lang="en-US" sz="1050" b="0" i="0" u="none" strike="noStrike" cap="none">
                <a:solidFill>
                  <a:srgbClr val="475569"/>
                </a:solidFill>
                <a:latin typeface="Plus Jakarta Sans"/>
                <a:ea typeface="Plus Jakarta Sans"/>
                <a:cs typeface="Plus Jakarta Sans"/>
                <a:sym typeface="Plus Jakarta Sans"/>
              </a:rPr>
              <a:t> Lưu trữ từ 2 đến 4 bit trên một ô đơn nhờ phân đoạn các dải điện trở khác nhau, tuy nhiên quá trình ghi sẽ yêu cầu thuật toán kiểm duyệt (Read-Verify-Write) kéo dài độ trễ.</a:t>
            </a:r>
            <a:endParaRPr lang="en-US" sz="1050" b="0" i="0" u="none" strike="noStrike" cap="none">
              <a:solidFill>
                <a:srgbClr val="475569"/>
              </a:solidFill>
              <a:latin typeface="Plus Jakarta Sans"/>
              <a:ea typeface="Plus Jakarta Sans"/>
              <a:cs typeface="Plus Jakarta Sans"/>
              <a:sym typeface="Plus Jakarta Sans"/>
            </a:endParaRPr>
          </a:p>
        </p:txBody>
      </p:sp>
      <p:sp>
        <p:nvSpPr>
          <p:cNvPr id="236" name="Google Shape;236;p19"/>
          <p:cNvSpPr txBox="1"/>
          <p:nvPr/>
        </p:nvSpPr>
        <p:spPr>
          <a:xfrm>
            <a:off x="771525" y="314131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237" name="Google Shape;237;p19"/>
          <p:cNvSpPr txBox="1"/>
          <p:nvPr/>
        </p:nvSpPr>
        <p:spPr>
          <a:xfrm>
            <a:off x="771525" y="371281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243" name="Google Shape;243;p19"/>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Nút thắt mật độ: Bộ chọn ô nhớ (Selector)</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244" name="Google Shape;244;p19"/>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 name="Picture 3" descr="Figure20420-20Material20stack20of201S1R20vs20OTS-only_HR"/>
          <p:cNvPicPr>
            <a:picLocks noChangeAspect="1"/>
          </p:cNvPicPr>
          <p:nvPr/>
        </p:nvPicPr>
        <p:blipFill>
          <a:blip r:embed="rId2"/>
          <a:stretch>
            <a:fillRect/>
          </a:stretch>
        </p:blipFill>
        <p:spPr>
          <a:xfrm>
            <a:off x="6948170" y="1755140"/>
            <a:ext cx="4083050" cy="388175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8"/>
        <p:cNvGrpSpPr/>
        <p:nvPr/>
      </p:nvGrpSpPr>
      <p:grpSpPr>
        <a:xfrm>
          <a:off x="0" y="0"/>
          <a:ext cx="0" cy="0"/>
          <a:chOff x="0" y="0"/>
          <a:chExt cx="0" cy="0"/>
        </a:xfrm>
      </p:grpSpPr>
      <p:pic>
        <p:nvPicPr>
          <p:cNvPr id="249" name="Google Shape;249;p20"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50" name="Google Shape;250;p20" descr="image.png"/>
          <p:cNvPicPr preferRelativeResize="0"/>
          <p:nvPr/>
        </p:nvPicPr>
        <p:blipFill rotWithShape="1">
          <a:blip r:embed="rId2"/>
          <a:srcRect/>
          <a:stretch>
            <a:fillRect/>
          </a:stretch>
        </p:blipFill>
        <p:spPr>
          <a:xfrm>
            <a:off x="771525" y="4772769"/>
            <a:ext cx="10648950" cy="777180"/>
          </a:xfrm>
          <a:prstGeom prst="rect">
            <a:avLst/>
          </a:prstGeom>
          <a:noFill/>
          <a:ln>
            <a:noFill/>
          </a:ln>
        </p:spPr>
      </p:pic>
      <p:pic>
        <p:nvPicPr>
          <p:cNvPr id="251" name="Google Shape;251;p20" descr="image.png"/>
          <p:cNvPicPr preferRelativeResize="0"/>
          <p:nvPr/>
        </p:nvPicPr>
        <p:blipFill rotWithShape="1">
          <a:blip r:embed="rId3"/>
          <a:srcRect/>
          <a:stretch>
            <a:fillRect/>
          </a:stretch>
        </p:blipFill>
        <p:spPr>
          <a:xfrm>
            <a:off x="771525" y="2020490"/>
            <a:ext cx="3397299" cy="2561778"/>
          </a:xfrm>
          <a:prstGeom prst="rect">
            <a:avLst/>
          </a:prstGeom>
          <a:noFill/>
          <a:ln>
            <a:noFill/>
          </a:ln>
        </p:spPr>
      </p:pic>
      <p:pic>
        <p:nvPicPr>
          <p:cNvPr id="252" name="Google Shape;252;p20" descr="image.png"/>
          <p:cNvPicPr preferRelativeResize="0"/>
          <p:nvPr/>
        </p:nvPicPr>
        <p:blipFill rotWithShape="1">
          <a:blip r:embed="rId4"/>
          <a:srcRect/>
          <a:stretch>
            <a:fillRect/>
          </a:stretch>
        </p:blipFill>
        <p:spPr>
          <a:xfrm>
            <a:off x="4397424" y="2020490"/>
            <a:ext cx="3397299" cy="2561778"/>
          </a:xfrm>
          <a:prstGeom prst="rect">
            <a:avLst/>
          </a:prstGeom>
          <a:noFill/>
          <a:ln>
            <a:noFill/>
          </a:ln>
        </p:spPr>
      </p:pic>
      <p:pic>
        <p:nvPicPr>
          <p:cNvPr id="253" name="Google Shape;253;p20" descr="image.png"/>
          <p:cNvPicPr preferRelativeResize="0"/>
          <p:nvPr/>
        </p:nvPicPr>
        <p:blipFill rotWithShape="1">
          <a:blip r:embed="rId5"/>
          <a:srcRect/>
          <a:stretch>
            <a:fillRect/>
          </a:stretch>
        </p:blipFill>
        <p:spPr>
          <a:xfrm>
            <a:off x="8023324" y="2020490"/>
            <a:ext cx="3397299" cy="2561778"/>
          </a:xfrm>
          <a:prstGeom prst="rect">
            <a:avLst/>
          </a:prstGeom>
          <a:noFill/>
          <a:ln>
            <a:noFill/>
          </a:ln>
        </p:spPr>
      </p:pic>
      <p:sp>
        <p:nvSpPr>
          <p:cNvPr id="254" name="Google Shape;254;p20"/>
          <p:cNvSpPr txBox="1"/>
          <p:nvPr/>
        </p:nvSpPr>
        <p:spPr>
          <a:xfrm>
            <a:off x="1000125" y="4963269"/>
            <a:ext cx="10229850" cy="3961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1" i="0" u="none" strike="noStrike" cap="none">
                <a:solidFill>
                  <a:srgbClr val="475569"/>
                </a:solidFill>
                <a:latin typeface="Plus Jakarta Sans"/>
                <a:ea typeface="Plus Jakarta Sans"/>
                <a:cs typeface="Plus Jakarta Sans"/>
                <a:sym typeface="Plus Jakarta Sans"/>
              </a:rPr>
              <a:t>Tiềm năng thu nhỏ:</a:t>
            </a:r>
            <a:r>
              <a:rPr lang="en-US" sz="975" b="0" i="0" u="none" strike="noStrike" cap="none">
                <a:solidFill>
                  <a:srgbClr val="475569"/>
                </a:solidFill>
                <a:latin typeface="Plus Jakarta Sans"/>
                <a:ea typeface="Plus Jakarta Sans"/>
                <a:cs typeface="Plus Jakarta Sans"/>
                <a:sym typeface="Plus Jakarta Sans"/>
              </a:rPr>
              <a:t> Vật liệu GST vẫn giữ đầy đủ các đặc tính hóa học chuyển pha ở quy mô hiển vi đến ~1.8 nm. Rào cản thu nhỏ cấu trúc PCM thương mại (đang ở mức 90nm - 45nm) hiện tại hoàn toàn nằm ở công nghệ sản xuất linh kiện Selector.</a:t>
            </a:r>
            <a:endParaRPr lang="en-US" sz="975" b="0" i="0" u="none" strike="noStrike" cap="none">
              <a:solidFill>
                <a:srgbClr val="475569"/>
              </a:solidFill>
              <a:latin typeface="Plus Jakarta Sans"/>
              <a:ea typeface="Plus Jakarta Sans"/>
              <a:cs typeface="Plus Jakarta Sans"/>
              <a:sym typeface="Plus Jakarta Sans"/>
            </a:endParaRPr>
          </a:p>
        </p:txBody>
      </p:sp>
      <p:pic>
        <p:nvPicPr>
          <p:cNvPr id="255" name="Google Shape;255;p20" descr="image.png"/>
          <p:cNvPicPr preferRelativeResize="0"/>
          <p:nvPr/>
        </p:nvPicPr>
        <p:blipFill rotWithShape="1">
          <a:blip r:embed="rId6"/>
          <a:srcRect/>
          <a:stretch>
            <a:fillRect/>
          </a:stretch>
        </p:blipFill>
        <p:spPr>
          <a:xfrm>
            <a:off x="1066800" y="2315765"/>
            <a:ext cx="428625" cy="428625"/>
          </a:xfrm>
          <a:prstGeom prst="rect">
            <a:avLst/>
          </a:prstGeom>
          <a:noFill/>
          <a:ln>
            <a:noFill/>
          </a:ln>
        </p:spPr>
      </p:pic>
      <p:sp>
        <p:nvSpPr>
          <p:cNvPr id="256" name="Google Shape;256;p20"/>
          <p:cNvSpPr txBox="1"/>
          <p:nvPr/>
        </p:nvSpPr>
        <p:spPr>
          <a:xfrm>
            <a:off x="1066800" y="2887265"/>
            <a:ext cx="29470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01. Stuck-open Void</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57" name="Google Shape;257;p20"/>
          <p:cNvSpPr txBox="1"/>
          <p:nvPr/>
        </p:nvSpPr>
        <p:spPr>
          <a:xfrm>
            <a:off x="1066800" y="3220640"/>
            <a:ext cx="2806749" cy="12915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Qua nhiều chu kỳ giãn nở nhiệt cực hạn, các khoảng trống (void) cơ học hình thành tại điểm giao cắt giữa điện cực và vật liệu GST, khiến ô nhớ bị kẹt vĩnh viễn ở trạng thái cách điện không thể ghi lại.</a:t>
            </a:r>
            <a:endParaRPr lang="en-US" sz="1050" b="0" i="0" u="none" strike="noStrike" cap="none">
              <a:solidFill>
                <a:srgbClr val="475569"/>
              </a:solidFill>
              <a:latin typeface="Plus Jakarta Sans"/>
              <a:ea typeface="Plus Jakarta Sans"/>
              <a:cs typeface="Plus Jakarta Sans"/>
              <a:sym typeface="Plus Jakarta Sans"/>
            </a:endParaRPr>
          </a:p>
        </p:txBody>
      </p:sp>
      <p:pic>
        <p:nvPicPr>
          <p:cNvPr id="258" name="Google Shape;258;p20" descr="image.png"/>
          <p:cNvPicPr preferRelativeResize="0"/>
          <p:nvPr/>
        </p:nvPicPr>
        <p:blipFill rotWithShape="1">
          <a:blip r:embed="rId7"/>
          <a:srcRect/>
          <a:stretch>
            <a:fillRect/>
          </a:stretch>
        </p:blipFill>
        <p:spPr>
          <a:xfrm>
            <a:off x="4692699" y="2315765"/>
            <a:ext cx="428625" cy="428625"/>
          </a:xfrm>
          <a:prstGeom prst="rect">
            <a:avLst/>
          </a:prstGeom>
          <a:noFill/>
          <a:ln>
            <a:noFill/>
          </a:ln>
        </p:spPr>
      </p:pic>
      <p:sp>
        <p:nvSpPr>
          <p:cNvPr id="259" name="Google Shape;259;p20"/>
          <p:cNvSpPr txBox="1"/>
          <p:nvPr/>
        </p:nvSpPr>
        <p:spPr>
          <a:xfrm>
            <a:off x="4692699" y="2887265"/>
            <a:ext cx="29470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02. Stuck-close Phase</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60" name="Google Shape;260;p20"/>
          <p:cNvSpPr txBox="1"/>
          <p:nvPr/>
        </p:nvSpPr>
        <p:spPr>
          <a:xfrm>
            <a:off x="4692699" y="3220640"/>
            <a:ext cx="2806749" cy="106635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Sự khuếch tán không đồng đều của nguyên tử khiến nguyên tố Antimon (Sb) tụ tập nhiều bất thường sát điện cực. Hiện tượng này làm nhiệt độ kết tinh cục bộ sụt giảm mạnh, khóa chặt ô nhớ vào trạng thái dẫn điện.</a:t>
            </a:r>
            <a:endParaRPr lang="en-US" sz="1050" b="0" i="0" u="none" strike="noStrike" cap="none">
              <a:solidFill>
                <a:srgbClr val="475569"/>
              </a:solidFill>
              <a:latin typeface="Plus Jakarta Sans"/>
              <a:ea typeface="Plus Jakarta Sans"/>
              <a:cs typeface="Plus Jakarta Sans"/>
              <a:sym typeface="Plus Jakarta Sans"/>
            </a:endParaRPr>
          </a:p>
        </p:txBody>
      </p:sp>
      <p:pic>
        <p:nvPicPr>
          <p:cNvPr id="261" name="Google Shape;261;p20" descr="image.png"/>
          <p:cNvPicPr preferRelativeResize="0"/>
          <p:nvPr/>
        </p:nvPicPr>
        <p:blipFill rotWithShape="1">
          <a:blip r:embed="rId8"/>
          <a:srcRect/>
          <a:stretch>
            <a:fillRect/>
          </a:stretch>
        </p:blipFill>
        <p:spPr>
          <a:xfrm>
            <a:off x="8318599" y="2315765"/>
            <a:ext cx="428625" cy="428625"/>
          </a:xfrm>
          <a:prstGeom prst="rect">
            <a:avLst/>
          </a:prstGeom>
          <a:noFill/>
          <a:ln>
            <a:noFill/>
          </a:ln>
        </p:spPr>
      </p:pic>
      <p:sp>
        <p:nvSpPr>
          <p:cNvPr id="262" name="Google Shape;262;p20"/>
          <p:cNvSpPr txBox="1"/>
          <p:nvPr/>
        </p:nvSpPr>
        <p:spPr>
          <a:xfrm>
            <a:off x="8318599" y="2887265"/>
            <a:ext cx="29470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03. Thermal Crosstalk</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63" name="Google Shape;263;p20"/>
          <p:cNvSpPr txBox="1"/>
          <p:nvPr/>
        </p:nvSpPr>
        <p:spPr>
          <a:xfrm>
            <a:off x="8318599" y="3220640"/>
            <a:ext cx="2806749" cy="106635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Nhiệt độ sinh ra trong quá trình RESET (ghi 1) của một ô nhớ có xu hướng khuếch tán ngang qua silicon làm tăng nhiệt độ ô lân cận, vô tình kết tinh lại các ô kề bên ngoài ý muốn khi mật độ đạt ngưỡng siêu nhỏ.</a:t>
            </a:r>
            <a:endParaRPr lang="en-US" sz="1050" b="0" i="0" u="none" strike="noStrike" cap="none">
              <a:solidFill>
                <a:srgbClr val="475569"/>
              </a:solidFill>
              <a:latin typeface="Plus Jakarta Sans"/>
              <a:ea typeface="Plus Jakarta Sans"/>
              <a:cs typeface="Plus Jakarta Sans"/>
              <a:sym typeface="Plus Jakarta Sans"/>
            </a:endParaRPr>
          </a:p>
        </p:txBody>
      </p:sp>
      <p:pic>
        <p:nvPicPr>
          <p:cNvPr id="264" name="Google Shape;264;p20" descr="image.png"/>
          <p:cNvPicPr preferRelativeResize="0"/>
          <p:nvPr/>
        </p:nvPicPr>
        <p:blipFill rotWithShape="1">
          <a:blip r:embed="rId9"/>
          <a:srcRect/>
          <a:stretch>
            <a:fillRect/>
          </a:stretch>
        </p:blipFill>
        <p:spPr>
          <a:xfrm>
            <a:off x="1195387" y="2444353"/>
            <a:ext cx="171450" cy="171450"/>
          </a:xfrm>
          <a:prstGeom prst="rect">
            <a:avLst/>
          </a:prstGeom>
          <a:noFill/>
          <a:ln>
            <a:noFill/>
          </a:ln>
        </p:spPr>
      </p:pic>
      <p:pic>
        <p:nvPicPr>
          <p:cNvPr id="265" name="Google Shape;265;p20" descr="image.png"/>
          <p:cNvPicPr preferRelativeResize="0"/>
          <p:nvPr/>
        </p:nvPicPr>
        <p:blipFill rotWithShape="1">
          <a:blip r:embed="rId10"/>
          <a:srcRect/>
          <a:stretch>
            <a:fillRect/>
          </a:stretch>
        </p:blipFill>
        <p:spPr>
          <a:xfrm>
            <a:off x="4821287" y="2444353"/>
            <a:ext cx="171450" cy="171450"/>
          </a:xfrm>
          <a:prstGeom prst="rect">
            <a:avLst/>
          </a:prstGeom>
          <a:noFill/>
          <a:ln>
            <a:noFill/>
          </a:ln>
        </p:spPr>
      </p:pic>
      <p:pic>
        <p:nvPicPr>
          <p:cNvPr id="266" name="Google Shape;266;p20" descr="image.png"/>
          <p:cNvPicPr preferRelativeResize="0"/>
          <p:nvPr/>
        </p:nvPicPr>
        <p:blipFill rotWithShape="1">
          <a:blip r:embed="rId11"/>
          <a:srcRect/>
          <a:stretch>
            <a:fillRect/>
          </a:stretch>
        </p:blipFill>
        <p:spPr>
          <a:xfrm>
            <a:off x="8456711" y="2444353"/>
            <a:ext cx="152400" cy="171450"/>
          </a:xfrm>
          <a:prstGeom prst="rect">
            <a:avLst/>
          </a:prstGeom>
          <a:noFill/>
          <a:ln>
            <a:noFill/>
          </a:ln>
        </p:spPr>
      </p:pic>
      <p:sp>
        <p:nvSpPr>
          <p:cNvPr id="267" name="Google Shape;267;p20"/>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Cơ chế suy giảm vật lý và lỗi trên ô nhớ PCM</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268" name="Google Shape;268;p20"/>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2"/>
        <p:cNvGrpSpPr/>
        <p:nvPr/>
      </p:nvGrpSpPr>
      <p:grpSpPr>
        <a:xfrm>
          <a:off x="0" y="0"/>
          <a:ext cx="0" cy="0"/>
          <a:chOff x="0" y="0"/>
          <a:chExt cx="0" cy="0"/>
        </a:xfrm>
      </p:grpSpPr>
      <p:sp>
        <p:nvSpPr>
          <p:cNvPr id="279" name="Google Shape;279;p21"/>
          <p:cNvSpPr txBox="1"/>
          <p:nvPr/>
        </p:nvSpPr>
        <p:spPr>
          <a:xfrm>
            <a:off x="771525" y="2255341"/>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Cấu trúc Metal-Insulator-Metal (MIM)</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280" name="Google Shape;280;p21"/>
          <p:cNvSpPr txBox="1"/>
          <p:nvPr/>
        </p:nvSpPr>
        <p:spPr>
          <a:xfrm>
            <a:off x="771525" y="2588716"/>
            <a:ext cx="5038725"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Đơn giản hơn đáng kể so với cấu trúc phức tạp của PCM, ReRAM hoạt động bằng cách tạo lập hoặc phá hủy các sợi dẫn điện siêu nhỏ (Filament) thông qua lớp oxide điện môi trung gian.</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81" name="Google Shape;281;p21"/>
          <p:cNvSpPr txBox="1"/>
          <p:nvPr/>
        </p:nvSpPr>
        <p:spPr>
          <a:xfrm>
            <a:off x="1000125" y="3388816"/>
            <a:ext cx="4810125"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Quá trình tạo sợi dẫn (SET - HRS sang LRS):</a:t>
            </a:r>
            <a:r>
              <a:rPr lang="en-US" sz="1125" b="0" i="0" u="none" strike="noStrike" cap="none">
                <a:solidFill>
                  <a:srgbClr val="475569"/>
                </a:solidFill>
                <a:latin typeface="Plus Jakarta Sans"/>
                <a:ea typeface="Plus Jakarta Sans"/>
                <a:cs typeface="Plus Jakarta Sans"/>
                <a:sym typeface="Plus Jakarta Sans"/>
              </a:rPr>
              <a:t> Áp điện tích phân cực thuận kích hoạt các vacancy oxy di chuyển tụ tập thành một cầu nối kim loại nối liền hai cực của ô nhớ (Trạng thái điện trở thấp LRS).</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82" name="Google Shape;282;p21"/>
          <p:cNvSpPr txBox="1"/>
          <p:nvPr/>
        </p:nvSpPr>
        <p:spPr>
          <a:xfrm>
            <a:off x="1000125" y="4188916"/>
            <a:ext cx="4810125"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Quá trình phá hủy (RESET - LRS sang HRS):</a:t>
            </a:r>
            <a:r>
              <a:rPr lang="en-US" sz="1125" b="0" i="0" u="none" strike="noStrike" cap="none">
                <a:solidFill>
                  <a:srgbClr val="475569"/>
                </a:solidFill>
                <a:latin typeface="Plus Jakarta Sans"/>
                <a:ea typeface="Plus Jakarta Sans"/>
                <a:cs typeface="Plus Jakarta Sans"/>
                <a:sym typeface="Plus Jakarta Sans"/>
              </a:rPr>
              <a:t> Áp điện áp ngược kéo các vacancy oxy tản ra làm đứt gãy mạch liên kết (Trạng thái điện trở cao HRS).</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83" name="Google Shape;283;p21"/>
          <p:cNvSpPr txBox="1"/>
          <p:nvPr/>
        </p:nvSpPr>
        <p:spPr>
          <a:xfrm>
            <a:off x="1000125" y="4989016"/>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Vật liệu Oxide điển hình:</a:t>
            </a:r>
            <a:r>
              <a:rPr lang="en-US" sz="1125" b="0" i="0" u="none" strike="noStrike" cap="none">
                <a:solidFill>
                  <a:srgbClr val="475569"/>
                </a:solidFill>
                <a:latin typeface="Plus Jakarta Sans"/>
                <a:ea typeface="Plus Jakarta Sans"/>
                <a:cs typeface="Plus Jakarta Sans"/>
                <a:sym typeface="Plus Jakarta Sans"/>
              </a:rPr>
              <a:t> NiO, HfO₂, ZrO₂, TiO₂ tích hợp cực tốt trên nền CMOS tiêu chuẩn.</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284" name="Google Shape;284;p21"/>
          <p:cNvSpPr txBox="1"/>
          <p:nvPr/>
        </p:nvSpPr>
        <p:spPr>
          <a:xfrm>
            <a:off x="771525" y="338881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285" name="Google Shape;285;p21"/>
          <p:cNvSpPr txBox="1"/>
          <p:nvPr/>
        </p:nvSpPr>
        <p:spPr>
          <a:xfrm>
            <a:off x="771525" y="418891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286" name="Google Shape;286;p21"/>
          <p:cNvSpPr txBox="1"/>
          <p:nvPr/>
        </p:nvSpPr>
        <p:spPr>
          <a:xfrm>
            <a:off x="771525" y="498901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293" name="Google Shape;293;p21"/>
          <p:cNvSpPr txBox="1"/>
          <p:nvPr/>
        </p:nvSpPr>
        <p:spPr>
          <a:xfrm>
            <a:off x="771525" y="485775"/>
            <a:ext cx="11181397" cy="47053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dirty="0">
                <a:solidFill>
                  <a:srgbClr val="0F172A"/>
                </a:solidFill>
                <a:latin typeface="Playfair Display SemiBold"/>
                <a:ea typeface="Playfair Display SemiBold"/>
                <a:cs typeface="Playfair Display SemiBold"/>
                <a:sym typeface="Playfair Display SemiBold"/>
              </a:rPr>
              <a:t>Resistive RAM (ReRAM):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Cấu</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trúc</a:t>
            </a:r>
            <a:r>
              <a:rPr lang="en-US" sz="2550" b="0" i="0" u="none" strike="noStrike" cap="none" dirty="0">
                <a:solidFill>
                  <a:srgbClr val="0F172A"/>
                </a:solidFill>
                <a:latin typeface="Playfair Display SemiBold"/>
                <a:ea typeface="Playfair Display SemiBold"/>
                <a:cs typeface="Playfair Display SemiBold"/>
                <a:sym typeface="Playfair Display SemiBold"/>
              </a:rPr>
              <a:t> &amp;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Cơ</a:t>
            </a:r>
            <a:r>
              <a:rPr lang="en-US" sz="2550" b="0" i="0" u="none" strike="noStrike" cap="none" dirty="0">
                <a:solidFill>
                  <a:srgbClr val="0F172A"/>
                </a:solidFill>
                <a:latin typeface="Playfair Display SemiBold"/>
                <a:ea typeface="Playfair Display SemiBold"/>
                <a:cs typeface="Playfair Display SemiBold"/>
                <a:sym typeface="Playfair Display SemiBold"/>
              </a:rPr>
              <a:t> </a:t>
            </a:r>
            <a:r>
              <a:rPr lang="en-US" sz="2550" b="0" i="0" u="none" strike="noStrike" cap="none" dirty="0" err="1">
                <a:solidFill>
                  <a:srgbClr val="0F172A"/>
                </a:solidFill>
                <a:latin typeface="Playfair Display SemiBold"/>
                <a:ea typeface="Playfair Display SemiBold"/>
                <a:cs typeface="Playfair Display SemiBold"/>
                <a:sym typeface="Playfair Display SemiBold"/>
              </a:rPr>
              <a:t>chế</a:t>
            </a:r>
            <a:r>
              <a:rPr lang="en-US" sz="2550" b="0" i="0" u="none" strike="noStrike" cap="none" dirty="0">
                <a:solidFill>
                  <a:srgbClr val="0F172A"/>
                </a:solidFill>
                <a:latin typeface="Playfair Display SemiBold"/>
                <a:ea typeface="Playfair Display SemiBold"/>
                <a:cs typeface="Playfair Display SemiBold"/>
                <a:sym typeface="Playfair Display SemiBold"/>
              </a:rPr>
              <a:t> Filament</a:t>
            </a:r>
            <a:endParaRPr dirty="0"/>
          </a:p>
        </p:txBody>
      </p:sp>
      <p:sp>
        <p:nvSpPr>
          <p:cNvPr id="294" name="Google Shape;294;p21"/>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descr="a-Schematic-of-metal-insulator-metal-structure-for-RRAM-b-Cross-sectional-view-of-RRAM"/>
          <p:cNvPicPr>
            <a:picLocks noChangeAspect="1"/>
          </p:cNvPicPr>
          <p:nvPr/>
        </p:nvPicPr>
        <p:blipFill>
          <a:blip r:embed="rId1"/>
          <a:stretch>
            <a:fillRect/>
          </a:stretch>
        </p:blipFill>
        <p:spPr>
          <a:xfrm>
            <a:off x="6062345" y="2564765"/>
            <a:ext cx="5345430" cy="21697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8"/>
        <p:cNvGrpSpPr/>
        <p:nvPr/>
      </p:nvGrpSpPr>
      <p:grpSpPr>
        <a:xfrm>
          <a:off x="0" y="0"/>
          <a:ext cx="0" cy="0"/>
          <a:chOff x="0" y="0"/>
          <a:chExt cx="0" cy="0"/>
        </a:xfrm>
      </p:grpSpPr>
      <p:sp>
        <p:nvSpPr>
          <p:cNvPr id="304" name="Google Shape;304;p22"/>
          <p:cNvSpPr txBox="1"/>
          <p:nvPr/>
        </p:nvSpPr>
        <p:spPr>
          <a:xfrm>
            <a:off x="771525" y="2346870"/>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Cấu trúc Crossbar thuần (Mật độ tối đa 4F²)</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305" name="Google Shape;305;p22"/>
          <p:cNvSpPr txBox="1"/>
          <p:nvPr/>
        </p:nvSpPr>
        <p:spPr>
          <a:xfrm>
            <a:off x="771525" y="2680245"/>
            <a:ext cx="50387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Bố trí các ô ReRAM tại giao điểm của các hàng và cột vuông góc tạo nên mật độ nén dữ liệu vật lý hoàn hảo nhất.</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306" name="Google Shape;306;p22"/>
          <p:cNvSpPr txBox="1"/>
          <p:nvPr/>
        </p:nvSpPr>
        <p:spPr>
          <a:xfrm>
            <a:off x="1000125" y="3251745"/>
            <a:ext cx="4810125" cy="83248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Vấn đề  Sneak-path:</a:t>
            </a:r>
            <a:r>
              <a:rPr lang="en-US" sz="1125" b="0" i="0" u="none" strike="noStrike" cap="none">
                <a:solidFill>
                  <a:srgbClr val="475569"/>
                </a:solidFill>
                <a:latin typeface="Plus Jakarta Sans"/>
                <a:ea typeface="Plus Jakarta Sans"/>
                <a:cs typeface="Plus Jakarta Sans"/>
                <a:sym typeface="Plus Jakarta Sans"/>
              </a:rPr>
              <a:t> Khi thực hiện đọc một ô nhớ mục tiêu, dòng điện có xu hướng chạy rò rỉ qua các ô kề cận có điện trở thấp kế bên, làm sai lệch kết quả đo lường.</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307" name="Google Shape;307;p22"/>
          <p:cNvSpPr txBox="1"/>
          <p:nvPr/>
        </p:nvSpPr>
        <p:spPr>
          <a:xfrm>
            <a:off x="1000125" y="4051845"/>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Giải pháp 1T1R (Một Transistor - Một Điện Trở):</a:t>
            </a:r>
            <a:r>
              <a:rPr lang="en-US" sz="1125" b="0" i="0" u="none" strike="noStrike" cap="none">
                <a:solidFill>
                  <a:srgbClr val="475569"/>
                </a:solidFill>
                <a:latin typeface="Plus Jakarta Sans"/>
                <a:ea typeface="Plus Jakarta Sans"/>
                <a:cs typeface="Plus Jakarta Sans"/>
                <a:sym typeface="Plus Jakarta Sans"/>
              </a:rPr>
              <a:t> Tích hợp thêm một transistor nhỏ chặn đứng các lối đi vòng của dòng điện phụ.</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308" name="Google Shape;308;p22"/>
          <p:cNvSpPr txBox="1"/>
          <p:nvPr/>
        </p:nvSpPr>
        <p:spPr>
          <a:xfrm>
            <a:off x="1000125" y="4623345"/>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Đánh đổi kỹ thuật:</a:t>
            </a:r>
            <a:r>
              <a:rPr lang="en-US" sz="1125" b="0" i="0" u="none" strike="noStrike" cap="none">
                <a:solidFill>
                  <a:srgbClr val="475569"/>
                </a:solidFill>
                <a:latin typeface="Plus Jakarta Sans"/>
                <a:ea typeface="Plus Jakarta Sans"/>
                <a:cs typeface="Plus Jakarta Sans"/>
                <a:sym typeface="Plus Jakarta Sans"/>
              </a:rPr>
              <a:t> Ngăn chặn hoàn hảo sneak-path nhưng diện tích mỗi ô tăng lên, làm giảm mật độ lưu trữ tổng thể của tấm silicon.</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310" name="Google Shape;310;p22"/>
          <p:cNvSpPr txBox="1"/>
          <p:nvPr/>
        </p:nvSpPr>
        <p:spPr>
          <a:xfrm>
            <a:off x="771525" y="32517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311" name="Google Shape;311;p22"/>
          <p:cNvSpPr txBox="1"/>
          <p:nvPr/>
        </p:nvSpPr>
        <p:spPr>
          <a:xfrm>
            <a:off x="771525" y="40518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312" name="Google Shape;312;p22"/>
          <p:cNvSpPr txBox="1"/>
          <p:nvPr/>
        </p:nvSpPr>
        <p:spPr>
          <a:xfrm>
            <a:off x="771525" y="46233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318" name="Google Shape;318;p22"/>
          <p:cNvSpPr txBox="1"/>
          <p:nvPr/>
        </p:nvSpPr>
        <p:spPr>
          <a:xfrm>
            <a:off x="771525" y="485775"/>
            <a:ext cx="11181397" cy="47053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Mảng Crossbar ReRAM và hiện tượng Sneak-path</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319" name="Google Shape;319;p22"/>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p:cNvPicPr>
            <a:picLocks noChangeAspect="1"/>
          </p:cNvPicPr>
          <p:nvPr/>
        </p:nvPicPr>
        <p:blipFill>
          <a:blip r:embed="rId1"/>
          <a:stretch>
            <a:fillRect/>
          </a:stretch>
        </p:blipFill>
        <p:spPr>
          <a:xfrm>
            <a:off x="6405880" y="2005330"/>
            <a:ext cx="5014595" cy="343027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3"/>
        <p:cNvGrpSpPr/>
        <p:nvPr/>
      </p:nvGrpSpPr>
      <p:grpSpPr>
        <a:xfrm>
          <a:off x="0" y="0"/>
          <a:ext cx="0" cy="0"/>
          <a:chOff x="0" y="0"/>
          <a:chExt cx="0" cy="0"/>
        </a:xfrm>
      </p:grpSpPr>
      <p:sp>
        <p:nvSpPr>
          <p:cNvPr id="328" name="Google Shape;328;p23"/>
          <p:cNvSpPr txBox="1"/>
          <p:nvPr/>
        </p:nvSpPr>
        <p:spPr>
          <a:xfrm>
            <a:off x="771525" y="2060525"/>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Xóa bỏ ranh giới giữa Lưu Trữ và Tính Toán</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329" name="Google Shape;329;p23"/>
          <p:cNvSpPr txBox="1"/>
          <p:nvPr/>
        </p:nvSpPr>
        <p:spPr>
          <a:xfrm>
            <a:off x="771525" y="2393900"/>
            <a:ext cx="5038725" cy="83248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Bằng cách sử dụng mảng Crossbar như một ma trận dẫn nạp tĩnh </a:t>
            </a:r>
            <a:r>
              <a:rPr lang="en-US" sz="1125" b="1" i="0" u="none" strike="noStrike" cap="none">
                <a:solidFill>
                  <a:srgbClr val="475569"/>
                </a:solidFill>
                <a:latin typeface="Plus Jakarta Sans"/>
                <a:ea typeface="Plus Jakarta Sans"/>
                <a:cs typeface="Plus Jakarta Sans"/>
                <a:sym typeface="Plus Jakarta Sans"/>
              </a:rPr>
              <a:t>G (Conductance)</a:t>
            </a:r>
            <a:r>
              <a:rPr lang="en-US" sz="1125" b="0" i="0" u="none" strike="noStrike" cap="none">
                <a:solidFill>
                  <a:srgbClr val="475569"/>
                </a:solidFill>
                <a:latin typeface="Plus Jakarta Sans"/>
                <a:ea typeface="Plus Jakarta Sans"/>
                <a:cs typeface="Plus Jakarta Sans"/>
                <a:sym typeface="Plus Jakarta Sans"/>
              </a:rPr>
              <a:t>, các phép toán nhân-tích-lũy phức tạp trong AI được giải quyết tức thời trong môi trường phần cứng vật lý.</a:t>
            </a:r>
            <a:endParaRPr lang="en-US" sz="1125" b="0" i="1" u="none" strike="noStrike" cap="none">
              <a:solidFill>
                <a:srgbClr val="475569"/>
              </a:solidFill>
              <a:latin typeface="DejaVu Math TeX Gyre" panose="02000503000000000000" charset="0"/>
              <a:ea typeface="Plus Jakarta Sans"/>
              <a:cs typeface="DejaVu Math TeX Gyre" panose="02000503000000000000" charset="0"/>
              <a:sym typeface="Plus Jakarta Sans"/>
            </a:endParaRPr>
          </a:p>
        </p:txBody>
      </p:sp>
      <mc:AlternateContent xmlns:mc="http://schemas.openxmlformats.org/markup-compatibility/2006">
        <mc:Choice xmlns:a14="http://schemas.microsoft.com/office/drawing/2010/main" Requires="a14">
          <p:sp>
            <p:nvSpPr>
              <p:cNvPr id="331" name="Google Shape;331;p23"/>
              <p:cNvSpPr txBox="1"/>
              <p:nvPr/>
            </p:nvSpPr>
            <p:spPr>
              <a:xfrm>
                <a:off x="1000125" y="3909566"/>
                <a:ext cx="4810125" cy="85661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Định luật Ohm &amp; Kirchhoff:</a:t>
                </a:r>
                <a:r>
                  <a:rPr lang="en-US" sz="1125" b="0" i="0" u="none" strike="noStrike" cap="none">
                    <a:solidFill>
                      <a:srgbClr val="475569"/>
                    </a:solidFill>
                    <a:latin typeface="Plus Jakarta Sans"/>
                    <a:ea typeface="Plus Jakarta Sans"/>
                    <a:cs typeface="Plus Jakarta Sans"/>
                    <a:sym typeface="Plus Jakarta Sans"/>
                  </a:rPr>
                  <a:t> Điện áp đầu vào </a:t>
                </a:r>
                <a14:m>
                  <m:oMath xmlns:m="http://schemas.openxmlformats.org/officeDocument/2006/math">
                    <m:sSub>
                      <m:sSubPr>
                        <m:ctrlPr>
                          <a:rPr lang="en-US" sz="1125" i="1">
                            <a:latin typeface="DejaVu Math TeX Gyre" panose="02000503000000000000" charset="0"/>
                            <a:cs typeface="DejaVu Math TeX Gyre" panose="02000503000000000000" charset="0"/>
                          </a:rPr>
                        </m:ctrlPr>
                      </m:sSubPr>
                      <m:e>
                        <m:r>
                          <a:rPr lang="en-US" sz="1125" i="1">
                            <a:latin typeface="DejaVu Math TeX Gyre" panose="02000503000000000000" charset="0"/>
                            <a:cs typeface="DejaVu Math TeX Gyre" panose="02000503000000000000" charset="0"/>
                          </a:rPr>
                          <m:t>𝑉</m:t>
                        </m:r>
                      </m:e>
                      <m:sub>
                        <m:r>
                          <a:rPr lang="en-US" sz="1125" i="1">
                            <a:latin typeface="DejaVu Math TeX Gyre" panose="02000503000000000000" charset="0"/>
                            <a:cs typeface="DejaVu Math TeX Gyre" panose="02000503000000000000" charset="0"/>
                          </a:rPr>
                          <m:t>𝑖</m:t>
                        </m:r>
                      </m:sub>
                    </m:sSub>
                  </m:oMath>
                </a14:m>
                <a:r>
                  <a:rPr lang="en-US" sz="1125" b="0" i="0" u="none" strike="noStrike" cap="none">
                    <a:solidFill>
                      <a:srgbClr val="475569"/>
                    </a:solidFill>
                    <a:latin typeface="Plus Jakarta Sans"/>
                    <a:ea typeface="Plus Jakarta Sans"/>
                    <a:cs typeface="Plus Jakarta Sans"/>
                    <a:sym typeface="Plus Jakarta Sans"/>
                  </a:rPr>
                  <a:t> áp vào hàng dọc, dòng điện đầu ra </a:t>
                </a:r>
                <a14:m>
                  <m:oMath xmlns:m="http://schemas.openxmlformats.org/officeDocument/2006/math">
                    <m:sSub>
                      <m:sSubPr>
                        <m:ctrlPr>
                          <a:rPr lang="en-US" sz="1125" i="1">
                            <a:latin typeface="DejaVu Math TeX Gyre" panose="02000503000000000000" charset="0"/>
                            <a:cs typeface="DejaVu Math TeX Gyre" panose="02000503000000000000" charset="0"/>
                          </a:rPr>
                        </m:ctrlPr>
                      </m:sSubPr>
                      <m:e>
                        <m:r>
                          <a:rPr lang="en-US" sz="1125" i="1">
                            <a:latin typeface="DejaVu Math TeX Gyre" panose="02000503000000000000" charset="0"/>
                            <a:cs typeface="DejaVu Math TeX Gyre" panose="02000503000000000000" charset="0"/>
                          </a:rPr>
                          <m:t>𝐼</m:t>
                        </m:r>
                      </m:e>
                      <m:sub>
                        <m:r>
                          <a:rPr lang="en-US" sz="1125" i="1">
                            <a:latin typeface="DejaVu Math TeX Gyre" panose="02000503000000000000" charset="0"/>
                            <a:cs typeface="DejaVu Math TeX Gyre" panose="02000503000000000000" charset="0"/>
                          </a:rPr>
                          <m:t>𝑗</m:t>
                        </m:r>
                      </m:sub>
                    </m:sSub>
                  </m:oMath>
                </a14:m>
                <a:r>
                  <a:rPr lang="en-US" sz="1125" b="0" i="0" u="none" strike="noStrike" cap="none">
                    <a:solidFill>
                      <a:srgbClr val="475569"/>
                    </a:solidFill>
                    <a:latin typeface="Plus Jakarta Sans"/>
                    <a:ea typeface="Plus Jakarta Sans"/>
                    <a:cs typeface="Plus Jakarta Sans"/>
                    <a:sym typeface="Plus Jakarta Sans"/>
                  </a:rPr>
                  <a:t> thu được tại chân các cột chính là kết quả phép tính ma trận trực tiếp.</a:t>
                </a:r>
                <a:endParaRPr lang="en-US" sz="1125" b="0" i="0" u="none" strike="noStrike" cap="none">
                  <a:solidFill>
                    <a:srgbClr val="475569"/>
                  </a:solidFill>
                  <a:latin typeface="Plus Jakarta Sans"/>
                  <a:ea typeface="Plus Jakarta Sans"/>
                  <a:cs typeface="Plus Jakarta Sans"/>
                  <a:sym typeface="Plus Jakarta Sans"/>
                </a:endParaRPr>
              </a:p>
            </p:txBody>
          </p:sp>
        </mc:Choice>
        <mc:Fallback>
          <p:sp>
            <p:nvSpPr>
              <p:cNvPr id="331" name="Google Shape;331;p23"/>
              <p:cNvSpPr txBox="1">
                <a:spLocks noRot="1" noChangeAspect="1" noMove="1" noResize="1" noEditPoints="1" noAdjustHandles="1" noChangeArrowheads="1" noChangeShapeType="1" noTextEdit="1"/>
              </p:cNvSpPr>
              <p:nvPr/>
            </p:nvSpPr>
            <p:spPr>
              <a:xfrm>
                <a:off x="1000125" y="3909566"/>
                <a:ext cx="4810125" cy="856615"/>
              </a:xfrm>
              <a:prstGeom prst="rect">
                <a:avLst/>
              </a:prstGeom>
              <a:blipFill rotWithShape="1">
                <a:blip r:embed="rId1"/>
                <a:stretch>
                  <a:fillRect t="-59" b="59"/>
                </a:stretch>
              </a:blipFill>
              <a:ln>
                <a:noFill/>
              </a:ln>
            </p:spPr>
            <p:txBody>
              <a:bodyPr/>
              <a:lstStyle/>
              <a:p>
                <a:r>
                  <a:rPr lang="en-US" altLang="en-US">
                    <a:noFill/>
                  </a:rPr>
                  <a:t> </a:t>
                </a:r>
              </a:p>
            </p:txBody>
          </p:sp>
        </mc:Fallback>
      </mc:AlternateContent>
      <p:sp>
        <p:nvSpPr>
          <p:cNvPr id="332" name="Google Shape;332;p23"/>
          <p:cNvSpPr txBox="1"/>
          <p:nvPr/>
        </p:nvSpPr>
        <p:spPr>
          <a:xfrm>
            <a:off x="1000125" y="4709666"/>
            <a:ext cx="4810125"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Bẻ gãy rào cản "Memory Wall":</a:t>
            </a:r>
            <a:r>
              <a:rPr lang="en-US" sz="1125" b="0" i="0" u="none" strike="noStrike" cap="none">
                <a:solidFill>
                  <a:srgbClr val="475569"/>
                </a:solidFill>
                <a:latin typeface="Plus Jakarta Sans"/>
                <a:ea typeface="Plus Jakarta Sans"/>
                <a:cs typeface="Plus Jakarta Sans"/>
                <a:sym typeface="Plus Jakarta Sans"/>
              </a:rPr>
              <a:t> Phép toán diễn ra đồng thời trong 1 bước duy nhất, không cần di chuyển dữ liệu liên tục từ Memory sang CPU/GPU.</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335" name="Google Shape;335;p23"/>
          <p:cNvSpPr txBox="1"/>
          <p:nvPr/>
        </p:nvSpPr>
        <p:spPr>
          <a:xfrm>
            <a:off x="771525" y="390956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336" name="Google Shape;336;p23"/>
          <p:cNvSpPr txBox="1"/>
          <p:nvPr/>
        </p:nvSpPr>
        <p:spPr>
          <a:xfrm>
            <a:off x="771525" y="470966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348" name="Google Shape;348;p23"/>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ReRAM Trong Tính Toán: Analog Dot-Product Engine</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349" name="Google Shape;349;p23"/>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p:cNvPicPr/>
          <p:nvPr/>
        </p:nvPicPr>
        <p:blipFill>
          <a:blip r:embed="rId2"/>
          <a:stretch>
            <a:fillRect/>
          </a:stretch>
        </p:blipFill>
        <p:spPr>
          <a:xfrm>
            <a:off x="6456045" y="1665605"/>
            <a:ext cx="4762500" cy="3657600"/>
          </a:xfrm>
          <a:prstGeom prst="rect">
            <a:avLst/>
          </a:prstGeom>
        </p:spPr>
      </p:pic>
      <mc:AlternateContent xmlns:mc="http://schemas.openxmlformats.org/markup-compatibility/2006">
        <mc:Choice xmlns:a14="http://schemas.microsoft.com/office/drawing/2010/main" Requires="a14">
          <p:sp>
            <p:nvSpPr>
              <p:cNvPr id="3" name="Text Box 2"/>
              <p:cNvSpPr txBox="1"/>
              <p:nvPr/>
            </p:nvSpPr>
            <p:spPr>
              <a:xfrm>
                <a:off x="1689100" y="3397250"/>
                <a:ext cx="3204210" cy="505460"/>
              </a:xfrm>
              <a:prstGeom prst="rect">
                <a:avLst/>
              </a:prstGeom>
              <a:noFill/>
            </p:spPr>
            <p:txBody>
              <a:bodyPr wrap="square" rtlCol="0">
                <a:spAutoFit/>
              </a:bodyPr>
              <a:p>
                <a14:m>
                  <m:oMathPara xmlns:m="http://schemas.openxmlformats.org/officeDocument/2006/math">
                    <m:oMathParaPr>
                      <m:jc m:val="centerGroup"/>
                    </m:oMathParaPr>
                    <m:oMath xmlns:m="http://schemas.openxmlformats.org/officeDocument/2006/math">
                      <m:sSub>
                        <m:sSubPr>
                          <m:ctrlPr>
                            <a:rPr lang="en-US" i="1">
                              <a:latin typeface="DejaVu Math TeX Gyre" panose="02000503000000000000" charset="0"/>
                              <a:cs typeface="DejaVu Math TeX Gyre" panose="02000503000000000000" charset="0"/>
                            </a:rPr>
                          </m:ctrlPr>
                        </m:sSubPr>
                        <m:e>
                          <m:r>
                            <a:rPr lang="en-US" i="1">
                              <a:latin typeface="DejaVu Math TeX Gyre" panose="02000503000000000000" charset="0"/>
                              <a:cs typeface="DejaVu Math TeX Gyre" panose="02000503000000000000" charset="0"/>
                            </a:rPr>
                            <m:t>𝐼</m:t>
                          </m:r>
                        </m:e>
                        <m:sub>
                          <m:r>
                            <a:rPr lang="en-US" i="1">
                              <a:latin typeface="DejaVu Math TeX Gyre" panose="02000503000000000000" charset="0"/>
                              <a:cs typeface="DejaVu Math TeX Gyre" panose="02000503000000000000" charset="0"/>
                            </a:rPr>
                            <m:t>𝑗</m:t>
                          </m:r>
                        </m:sub>
                      </m:sSub>
                      <m:r>
                        <a:rPr lang="en-US" i="1">
                          <a:latin typeface="DejaVu Math TeX Gyre" panose="02000503000000000000" charset="0"/>
                          <a:cs typeface="DejaVu Math TeX Gyre" panose="02000503000000000000" charset="0"/>
                        </a:rPr>
                        <m:t>= </m:t>
                      </m:r>
                      <m:nary>
                        <m:naryPr>
                          <m:chr m:val="∑"/>
                          <m:limLoc m:val="undOvr"/>
                          <m:supHide m:val="on"/>
                          <m:ctrlPr>
                            <a:rPr lang="en-US" i="1">
                              <a:latin typeface="DejaVu Math TeX Gyre" panose="02000503000000000000" charset="0"/>
                              <a:cs typeface="DejaVu Math TeX Gyre" panose="02000503000000000000" charset="0"/>
                            </a:rPr>
                          </m:ctrlPr>
                        </m:naryPr>
                        <m:sub>
                          <m:r>
                            <a:rPr lang="en-US" i="1">
                              <a:latin typeface="DejaVu Math TeX Gyre" panose="02000503000000000000" charset="0"/>
                              <a:cs typeface="DejaVu Math TeX Gyre" panose="02000503000000000000" charset="0"/>
                            </a:rPr>
                            <m:t>𝑖</m:t>
                          </m:r>
                        </m:sub>
                        <m:sup/>
                        <m:e>
                          <m:sSub>
                            <m:sSubPr>
                              <m:ctrlPr>
                                <a:rPr lang="en-US" i="1">
                                  <a:latin typeface="DejaVu Math TeX Gyre" panose="02000503000000000000" charset="0"/>
                                  <a:cs typeface="DejaVu Math TeX Gyre" panose="02000503000000000000" charset="0"/>
                                </a:rPr>
                              </m:ctrlPr>
                            </m:sSubPr>
                            <m:e>
                              <m:r>
                                <a:rPr lang="en-US" i="1">
                                  <a:latin typeface="DejaVu Math TeX Gyre" panose="02000503000000000000" charset="0"/>
                                  <a:cs typeface="DejaVu Math TeX Gyre" panose="02000503000000000000" charset="0"/>
                                </a:rPr>
                                <m:t>𝑉</m:t>
                              </m:r>
                            </m:e>
                            <m:sub>
                              <m:r>
                                <a:rPr lang="en-US" i="1">
                                  <a:latin typeface="DejaVu Math TeX Gyre" panose="02000503000000000000" charset="0"/>
                                  <a:cs typeface="DejaVu Math TeX Gyre" panose="02000503000000000000" charset="0"/>
                                </a:rPr>
                                <m:t>𝑖</m:t>
                              </m:r>
                            </m:sub>
                          </m:sSub>
                          <m:r>
                            <a:rPr lang="en-US" i="1">
                              <a:latin typeface="DejaVu Math TeX Gyre" panose="02000503000000000000" charset="0"/>
                              <a:cs typeface="DejaVu Math TeX Gyre" panose="02000503000000000000" charset="0"/>
                            </a:rPr>
                            <m:t> . </m:t>
                          </m:r>
                          <m:sSub>
                            <m:sSubPr>
                              <m:ctrlPr>
                                <a:rPr lang="en-US" i="1">
                                  <a:latin typeface="DejaVu Math TeX Gyre" panose="02000503000000000000" charset="0"/>
                                  <a:cs typeface="DejaVu Math TeX Gyre" panose="02000503000000000000" charset="0"/>
                                </a:rPr>
                              </m:ctrlPr>
                            </m:sSubPr>
                            <m:e>
                              <m:r>
                                <a:rPr lang="en-US" i="1">
                                  <a:latin typeface="DejaVu Math TeX Gyre" panose="02000503000000000000" charset="0"/>
                                  <a:cs typeface="DejaVu Math TeX Gyre" panose="02000503000000000000" charset="0"/>
                                </a:rPr>
                                <m:t>𝐺</m:t>
                              </m:r>
                            </m:e>
                            <m:sub>
                              <m:r>
                                <a:rPr lang="en-US" i="1">
                                  <a:latin typeface="DejaVu Math TeX Gyre" panose="02000503000000000000" charset="0"/>
                                  <a:cs typeface="DejaVu Math TeX Gyre" panose="02000503000000000000" charset="0"/>
                                </a:rPr>
                                <m:t>𝑖𝑗</m:t>
                              </m:r>
                            </m:sub>
                          </m:sSub>
                        </m:e>
                      </m:nary>
                    </m:oMath>
                  </m:oMathPara>
                </a14:m>
                <a:endParaRPr lang="en-US"/>
              </a:p>
            </p:txBody>
          </p:sp>
        </mc:Choice>
        <mc:Fallback>
          <p:sp>
            <p:nvSpPr>
              <p:cNvPr id="3" name="Text Box 2"/>
              <p:cNvSpPr txBox="1">
                <a:spLocks noRot="1" noChangeAspect="1" noMove="1" noResize="1" noEditPoints="1" noAdjustHandles="1" noChangeArrowheads="1" noChangeShapeType="1" noTextEdit="1"/>
              </p:cNvSpPr>
              <p:nvPr/>
            </p:nvSpPr>
            <p:spPr>
              <a:xfrm>
                <a:off x="1689100" y="3397250"/>
                <a:ext cx="3204210" cy="505460"/>
              </a:xfrm>
              <a:prstGeom prst="rect">
                <a:avLst/>
              </a:prstGeom>
              <a:blipFill rotWithShape="1">
                <a:blip r:embed="rId3"/>
                <a:stretch>
                  <a:fillRect/>
                </a:stretch>
              </a:blipFill>
            </p:spPr>
            <p:txBody>
              <a:bodyPr/>
              <a:lstStyle/>
              <a:p>
                <a:r>
                  <a:rPr lang="en-US" alt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3"/>
        <p:cNvGrpSpPr/>
        <p:nvPr/>
      </p:nvGrpSpPr>
      <p:grpSpPr>
        <a:xfrm>
          <a:off x="0" y="0"/>
          <a:ext cx="0" cy="0"/>
          <a:chOff x="0" y="0"/>
          <a:chExt cx="0" cy="0"/>
        </a:xfrm>
      </p:grpSpPr>
      <p:sp>
        <p:nvSpPr>
          <p:cNvPr id="361" name="Google Shape;361;p24"/>
          <p:cNvSpPr txBox="1"/>
          <p:nvPr/>
        </p:nvSpPr>
        <p:spPr>
          <a:xfrm>
            <a:off x="771525" y="1500505"/>
            <a:ext cx="10648950" cy="40767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Sử dụng mảng Crossbar ReRAM để liên kết thành một chuỗi pipeline tính toán xử lý dữ liệu song song cực kỳ hiệu quả.</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363" name="Google Shape;363;p24"/>
          <p:cNvSpPr txBox="1"/>
          <p:nvPr/>
        </p:nvSpPr>
        <p:spPr>
          <a:xfrm>
            <a:off x="771525" y="2147371"/>
            <a:ext cx="5440680"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Kiến trúc ISAAC</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364" name="Google Shape;364;p24"/>
          <p:cNvSpPr txBox="1"/>
          <p:nvPr/>
        </p:nvSpPr>
        <p:spPr>
          <a:xfrm>
            <a:off x="771525" y="2480945"/>
            <a:ext cx="5181600" cy="859155"/>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Bố trí phân cấp hệ thống thành các Tile Crossbar độc lập, tính toán phân tán song song, cải thiện vượt bậc hiệu năng năng lượng và thông lượng so với kiến trúc von Neumann.</a:t>
            </a:r>
            <a:endParaRPr lang="en-US" sz="1050" b="0" i="0" u="none" strike="noStrike" cap="none">
              <a:solidFill>
                <a:srgbClr val="475569"/>
              </a:solidFill>
              <a:latin typeface="Plus Jakarta Sans"/>
              <a:ea typeface="Plus Jakarta Sans"/>
              <a:cs typeface="Plus Jakarta Sans"/>
              <a:sym typeface="Plus Jakarta Sans"/>
            </a:endParaRPr>
          </a:p>
        </p:txBody>
      </p:sp>
      <p:sp>
        <p:nvSpPr>
          <p:cNvPr id="365" name="Google Shape;365;p24"/>
          <p:cNvSpPr txBox="1"/>
          <p:nvPr/>
        </p:nvSpPr>
        <p:spPr>
          <a:xfrm>
            <a:off x="6238875" y="2147371"/>
            <a:ext cx="5440680"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Kiến trúc PipeLayer</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366" name="Google Shape;366;p24"/>
          <p:cNvSpPr txBox="1"/>
          <p:nvPr/>
        </p:nvSpPr>
        <p:spPr>
          <a:xfrm>
            <a:off x="6238875" y="2480945"/>
            <a:ext cx="5181600" cy="859155"/>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Xây dựng cơ chế pipeline xử lý dữ liệu đồng thời giữa các lớp mạng khác nhau, tăng cường khả năng xử lý song song khối lượng dữ liệu khổng lồ theo lô (Batch Processing).</a:t>
            </a:r>
            <a:endParaRPr lang="en-US" sz="1050" b="0" i="0" u="none" strike="noStrike" cap="none">
              <a:solidFill>
                <a:srgbClr val="475569"/>
              </a:solidFill>
              <a:latin typeface="Plus Jakarta Sans"/>
              <a:ea typeface="Plus Jakarta Sans"/>
              <a:cs typeface="Plus Jakarta Sans"/>
              <a:sym typeface="Plus Jakarta Sans"/>
            </a:endParaRPr>
          </a:p>
        </p:txBody>
      </p:sp>
      <p:sp>
        <p:nvSpPr>
          <p:cNvPr id="371" name="Google Shape;371;p24"/>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Kiến Trúc Chip AI Neuromorphic: ISAAC và PipeLayer</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372" name="Google Shape;372;p24"/>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6"/>
        <p:cNvGrpSpPr/>
        <p:nvPr/>
      </p:nvGrpSpPr>
      <p:grpSpPr>
        <a:xfrm>
          <a:off x="0" y="0"/>
          <a:ext cx="0" cy="0"/>
          <a:chOff x="0" y="0"/>
          <a:chExt cx="0" cy="0"/>
        </a:xfrm>
      </p:grpSpPr>
      <p:pic>
        <p:nvPicPr>
          <p:cNvPr id="378" name="Google Shape;378;p25" descr="image.png"/>
          <p:cNvPicPr preferRelativeResize="0"/>
          <p:nvPr/>
        </p:nvPicPr>
        <p:blipFill rotWithShape="1">
          <a:blip r:embed="rId1"/>
          <a:srcRect/>
          <a:stretch>
            <a:fillRect/>
          </a:stretch>
        </p:blipFill>
        <p:spPr>
          <a:xfrm>
            <a:off x="771525" y="2656433"/>
            <a:ext cx="5038725" cy="838200"/>
          </a:xfrm>
          <a:prstGeom prst="rect">
            <a:avLst/>
          </a:prstGeom>
          <a:noFill/>
          <a:ln>
            <a:noFill/>
          </a:ln>
        </p:spPr>
      </p:pic>
      <p:sp>
        <p:nvSpPr>
          <p:cNvPr id="380" name="Google Shape;380;p25"/>
          <p:cNvSpPr txBox="1"/>
          <p:nvPr/>
        </p:nvSpPr>
        <p:spPr>
          <a:xfrm>
            <a:off x="771525" y="1341983"/>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Điểm nghẽn diện tích &amp; điện năng: ADC/DAC</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381" name="Google Shape;381;p25"/>
          <p:cNvSpPr txBox="1"/>
          <p:nvPr/>
        </p:nvSpPr>
        <p:spPr>
          <a:xfrm>
            <a:off x="771525" y="1698625"/>
            <a:ext cx="5038725" cy="838835"/>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Dù mảng analog crossbar ReRAM có kích thước siêu nhỏ, quá trình tính toán bắt buộc phải sử dụng các bộ chuyển đổi Analog-to-Digital (ADC) và Digital-to-Analog (DAC).</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382" name="Google Shape;382;p25"/>
          <p:cNvSpPr txBox="1"/>
          <p:nvPr/>
        </p:nvSpPr>
        <p:spPr>
          <a:xfrm>
            <a:off x="1000125" y="2761615"/>
            <a:ext cx="4619625" cy="64008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125" b="1" i="0" u="none" strike="noStrike" cap="none">
                <a:solidFill>
                  <a:srgbClr val="B91C1C"/>
                </a:solidFill>
                <a:latin typeface="Plus Jakarta Sans"/>
                <a:ea typeface="Plus Jakarta Sans"/>
                <a:cs typeface="Plus Jakarta Sans"/>
                <a:sym typeface="Plus Jakarta Sans"/>
              </a:rPr>
              <a:t>ADC/DAC chiếm tới 85% - 98% diện tích thực và điện năng tiêu thụ toàn chip!</a:t>
            </a:r>
            <a:endParaRPr lang="en-US" sz="1125" b="1" i="0" u="none" strike="noStrike" cap="none">
              <a:solidFill>
                <a:srgbClr val="B91C1C"/>
              </a:solidFill>
              <a:latin typeface="Plus Jakarta Sans"/>
              <a:ea typeface="Plus Jakarta Sans"/>
              <a:cs typeface="Plus Jakarta Sans"/>
              <a:sym typeface="Plus Jakarta Sans"/>
            </a:endParaRPr>
          </a:p>
        </p:txBody>
      </p:sp>
      <p:sp>
        <p:nvSpPr>
          <p:cNvPr id="383" name="Google Shape;383;p25"/>
          <p:cNvSpPr txBox="1"/>
          <p:nvPr/>
        </p:nvSpPr>
        <p:spPr>
          <a:xfrm>
            <a:off x="771525" y="3637508"/>
            <a:ext cx="4810125" cy="10972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Lỗi cứng Stuck-At:</a:t>
            </a:r>
            <a:r>
              <a:rPr lang="en-US" sz="1125" b="0" i="0" u="none" strike="noStrike" cap="none">
                <a:solidFill>
                  <a:srgbClr val="475569"/>
                </a:solidFill>
                <a:latin typeface="Plus Jakarta Sans"/>
                <a:ea typeface="Plus Jakarta Sans"/>
                <a:cs typeface="Plus Jakarta Sans"/>
                <a:sym typeface="Plus Jakarta Sans"/>
              </a:rPr>
              <a:t> Một tỉ lệ ô nhớ bị kẹt cứng ở mức 0 hoặc 1 do suy hao chế tạo. Xử lý phần mềm bằng kỹ thuật huấn luyện bù lỗi (Fault-aware training).</a:t>
            </a:r>
            <a:endParaRPr lang="en-US" sz="1125" b="0" i="0" u="none" strike="noStrike" cap="none">
              <a:solidFill>
                <a:srgbClr val="475569"/>
              </a:solidFill>
              <a:latin typeface="Plus Jakarta Sans"/>
              <a:ea typeface="Plus Jakarta Sans"/>
              <a:cs typeface="Plus Jakarta Sans"/>
              <a:sym typeface="Plus Jakarta Sans"/>
            </a:endParaRPr>
          </a:p>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Resistance Drift: Điện trở vùng amorphous tự tăng theo R(t)=R₀(t/t₀)^ν, làm sai lệch conductance lưu trong ô nhớ theo thời gian.</a:t>
            </a:r>
            <a:endParaRPr lang="en-US" sz="1125" b="1" i="0" u="none" strike="noStrike" cap="none">
              <a:solidFill>
                <a:srgbClr val="475569"/>
              </a:solidFill>
              <a:latin typeface="Plus Jakarta Sans"/>
              <a:ea typeface="Plus Jakarta Sans"/>
              <a:cs typeface="Plus Jakarta Sans"/>
              <a:sym typeface="Plus Jakarta Sans"/>
            </a:endParaRPr>
          </a:p>
        </p:txBody>
      </p:sp>
      <p:sp>
        <p:nvSpPr>
          <p:cNvPr id="384" name="Google Shape;384;p25"/>
          <p:cNvSpPr txBox="1"/>
          <p:nvPr/>
        </p:nvSpPr>
        <p:spPr>
          <a:xfrm>
            <a:off x="771525" y="5142865"/>
            <a:ext cx="4810125" cy="1327785"/>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Process Variation:</a:t>
            </a:r>
            <a:r>
              <a:rPr lang="en-US" sz="1125" b="0" i="0" u="none" strike="noStrike" cap="none">
                <a:solidFill>
                  <a:srgbClr val="475569"/>
                </a:solidFill>
                <a:latin typeface="Plus Jakarta Sans"/>
                <a:ea typeface="Plus Jakarta Sans"/>
                <a:cs typeface="Plus Jakarta Sans"/>
                <a:sym typeface="Plus Jakarta Sans"/>
              </a:rPr>
              <a:t> Sai số lệch điện trở do độ dày lớp mỏng vật liệu không đồng đều trên wafer silicon.</a:t>
            </a:r>
            <a:endParaRPr lang="en-US" sz="1125" b="0" i="0" u="none" strike="noStrike" cap="none">
              <a:solidFill>
                <a:srgbClr val="475569"/>
              </a:solidFill>
              <a:latin typeface="Plus Jakarta Sans"/>
              <a:ea typeface="Plus Jakarta Sans"/>
              <a:cs typeface="Plus Jakarta Sans"/>
              <a:sym typeface="Plus Jakarta Sans"/>
            </a:endParaRPr>
          </a:p>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Thiếu công cụ mô phỏng mở: Chưa có prototype phần cứng quy mô lớn để kiểm chứng kết quả nghiên cứu ở mức chip thực tế.</a:t>
            </a:r>
            <a:endParaRPr lang="en-US" sz="1125" b="1" i="0" u="none" strike="noStrike" cap="none">
              <a:solidFill>
                <a:srgbClr val="475569"/>
              </a:solidFill>
              <a:latin typeface="Plus Jakarta Sans"/>
              <a:ea typeface="Plus Jakarta Sans"/>
              <a:cs typeface="Plus Jakarta Sans"/>
              <a:sym typeface="Plus Jakarta Sans"/>
            </a:endParaRPr>
          </a:p>
        </p:txBody>
      </p:sp>
      <p:sp>
        <p:nvSpPr>
          <p:cNvPr id="388" name="Google Shape;388;p25"/>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Nút Thắt Hệ Thống: Thách Thức của ReRAM Accelerator</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389" name="Google Shape;389;p25"/>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p:cNvPicPr>
            <a:picLocks noChangeAspect="1"/>
          </p:cNvPicPr>
          <p:nvPr/>
        </p:nvPicPr>
        <p:blipFill>
          <a:blip r:embed="rId2"/>
          <a:stretch>
            <a:fillRect/>
          </a:stretch>
        </p:blipFill>
        <p:spPr>
          <a:xfrm>
            <a:off x="6260465" y="1698625"/>
            <a:ext cx="5692140" cy="39338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3"/>
        <p:cNvGrpSpPr/>
        <p:nvPr/>
      </p:nvGrpSpPr>
      <p:grpSpPr>
        <a:xfrm>
          <a:off x="0" y="0"/>
          <a:ext cx="0" cy="0"/>
          <a:chOff x="0" y="0"/>
          <a:chExt cx="0" cy="0"/>
        </a:xfrm>
      </p:grpSpPr>
      <p:sp>
        <p:nvSpPr>
          <p:cNvPr id="399" name="Google Shape;399;p26"/>
          <p:cNvSpPr txBox="1"/>
          <p:nvPr/>
        </p:nvSpPr>
        <p:spPr>
          <a:xfrm>
            <a:off x="771525" y="1247169"/>
            <a:ext cx="10648950"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Storage-Class Memory là một lớp công nghệ lưu trữ hoàn toàn mới, hòa trộn tốc độ của DRAM và độ bền lưu trữ của ổ cứng Flash.</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12" name="Google Shape;412;p26"/>
          <p:cNvSpPr txBox="1"/>
          <p:nvPr/>
        </p:nvSpPr>
        <p:spPr>
          <a:xfrm>
            <a:off x="1000125" y="2057826"/>
            <a:ext cx="4953000"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Không cần Refresh:</a:t>
            </a:r>
            <a:r>
              <a:rPr lang="en-US" sz="1125" b="0" i="0" u="none" strike="noStrike" cap="none">
                <a:solidFill>
                  <a:srgbClr val="475569"/>
                </a:solidFill>
                <a:latin typeface="Plus Jakarta Sans"/>
                <a:ea typeface="Plus Jakarta Sans"/>
                <a:cs typeface="Plus Jakarta Sans"/>
                <a:sym typeface="Plus Jakarta Sans"/>
              </a:rPr>
              <a:t> Loại bỏ 100% dòng điện rò rỉ và năng lượng tĩnh hao hụt của bộ nhớ DRAM.</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13" name="Google Shape;413;p26"/>
          <p:cNvSpPr txBox="1"/>
          <p:nvPr/>
        </p:nvSpPr>
        <p:spPr>
          <a:xfrm>
            <a:off x="1000125" y="2629326"/>
            <a:ext cx="4953000"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Mật độ tối ưu cao:</a:t>
            </a:r>
            <a:r>
              <a:rPr lang="en-US" sz="1125" b="0" i="0" u="none" strike="noStrike" cap="none">
                <a:solidFill>
                  <a:srgbClr val="475569"/>
                </a:solidFill>
                <a:latin typeface="Plus Jakarta Sans"/>
                <a:ea typeface="Plus Jakarta Sans"/>
                <a:cs typeface="Plus Jakarta Sans"/>
                <a:sym typeface="Plus Jakarta Sans"/>
              </a:rPr>
              <a:t> PCM và ReRAM hỗ trợ cấu trúc xếp chồng nhiều lớp 3D thẳng đứng.</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14" name="Google Shape;414;p26"/>
          <p:cNvSpPr txBox="1"/>
          <p:nvPr/>
        </p:nvSpPr>
        <p:spPr>
          <a:xfrm>
            <a:off x="1000125" y="3336716"/>
            <a:ext cx="4953000"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Truy cập ngẫu nhiên Byte:</a:t>
            </a:r>
            <a:r>
              <a:rPr lang="en-US" sz="1125" b="0" i="0" u="none" strike="noStrike" cap="none">
                <a:solidFill>
                  <a:srgbClr val="475569"/>
                </a:solidFill>
                <a:latin typeface="Plus Jakarta Sans"/>
                <a:ea typeface="Plus Jakarta Sans"/>
                <a:cs typeface="Plus Jakarta Sans"/>
                <a:sym typeface="Plus Jakarta Sans"/>
              </a:rPr>
              <a:t> Hệ điều hành có thể thao tác ghi đọc từng địa chỉ 1-byte trực tiếp.</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15" name="Google Shape;415;p26"/>
          <p:cNvSpPr txBox="1"/>
          <p:nvPr/>
        </p:nvSpPr>
        <p:spPr>
          <a:xfrm>
            <a:off x="1000125" y="3908216"/>
            <a:ext cx="4953000"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Bảo vệ dữ liệu tức thì:</a:t>
            </a:r>
            <a:r>
              <a:rPr lang="en-US" sz="1125" b="0" i="0" u="none" strike="noStrike" cap="none">
                <a:solidFill>
                  <a:srgbClr val="475569"/>
                </a:solidFill>
                <a:latin typeface="Plus Jakarta Sans"/>
                <a:ea typeface="Plus Jakarta Sans"/>
                <a:cs typeface="Plus Jakarta Sans"/>
                <a:sym typeface="Plus Jakarta Sans"/>
              </a:rPr>
              <a:t> Giảm thiểu tối đa rủi ro mất mát dữ liệu khi gặp sự cố ngắt nguồn điện đột ngột.</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16" name="Google Shape;416;p26"/>
          <p:cNvSpPr txBox="1"/>
          <p:nvPr/>
        </p:nvSpPr>
        <p:spPr>
          <a:xfrm>
            <a:off x="771525" y="205782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17" name="Google Shape;417;p26"/>
          <p:cNvSpPr txBox="1"/>
          <p:nvPr/>
        </p:nvSpPr>
        <p:spPr>
          <a:xfrm>
            <a:off x="771525" y="262932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18" name="Google Shape;418;p26"/>
          <p:cNvSpPr txBox="1"/>
          <p:nvPr/>
        </p:nvSpPr>
        <p:spPr>
          <a:xfrm>
            <a:off x="771525" y="333671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19" name="Google Shape;419;p26"/>
          <p:cNvSpPr txBox="1"/>
          <p:nvPr/>
        </p:nvSpPr>
        <p:spPr>
          <a:xfrm>
            <a:off x="771525" y="3908216"/>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20" name="Google Shape;420;p26"/>
          <p:cNvSpPr txBox="1"/>
          <p:nvPr/>
        </p:nvSpPr>
        <p:spPr>
          <a:xfrm>
            <a:off x="771525" y="485775"/>
            <a:ext cx="11181397" cy="47053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Storage-Class Memory (SCM)</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421" name="Google Shape;421;p26"/>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Picture 2" descr="SCM-image-2-EE-Times-contributed-article"/>
          <p:cNvPicPr>
            <a:picLocks noChangeAspect="1"/>
          </p:cNvPicPr>
          <p:nvPr/>
        </p:nvPicPr>
        <p:blipFill>
          <a:blip r:embed="rId1"/>
          <a:stretch>
            <a:fillRect/>
          </a:stretch>
        </p:blipFill>
        <p:spPr>
          <a:xfrm>
            <a:off x="6466840" y="2172335"/>
            <a:ext cx="4762500" cy="242887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5"/>
        <p:cNvGrpSpPr/>
        <p:nvPr/>
      </p:nvGrpSpPr>
      <p:grpSpPr>
        <a:xfrm>
          <a:off x="0" y="0"/>
          <a:ext cx="0" cy="0"/>
          <a:chOff x="0" y="0"/>
          <a:chExt cx="0" cy="0"/>
        </a:xfrm>
      </p:grpSpPr>
      <p:pic>
        <p:nvPicPr>
          <p:cNvPr id="427" name="Google Shape;427;p27" descr="image.png"/>
          <p:cNvPicPr preferRelativeResize="0"/>
          <p:nvPr/>
        </p:nvPicPr>
        <p:blipFill rotWithShape="1">
          <a:blip r:embed="rId1"/>
          <a:srcRect/>
          <a:stretch>
            <a:fillRect/>
          </a:stretch>
        </p:blipFill>
        <p:spPr>
          <a:xfrm>
            <a:off x="771525" y="4629894"/>
            <a:ext cx="10648950" cy="777180"/>
          </a:xfrm>
          <a:prstGeom prst="rect">
            <a:avLst/>
          </a:prstGeom>
          <a:noFill/>
          <a:ln>
            <a:noFill/>
          </a:ln>
        </p:spPr>
      </p:pic>
      <p:sp>
        <p:nvSpPr>
          <p:cNvPr id="435" name="Google Shape;435;p27"/>
          <p:cNvSpPr txBox="1"/>
          <p:nvPr/>
        </p:nvSpPr>
        <p:spPr>
          <a:xfrm>
            <a:off x="1000125" y="4784199"/>
            <a:ext cx="10229850" cy="3961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1" i="0" u="none" strike="noStrike" cap="none">
                <a:solidFill>
                  <a:srgbClr val="475569"/>
                </a:solidFill>
                <a:latin typeface="Plus Jakarta Sans"/>
                <a:ea typeface="Plus Jakarta Sans"/>
                <a:cs typeface="Plus Jakarta Sans"/>
                <a:sym typeface="Plus Jakarta Sans"/>
              </a:rPr>
              <a:t>Lưu ý thực tế:</a:t>
            </a:r>
            <a:r>
              <a:rPr lang="en-US" sz="975" b="0" i="0" u="none" strike="noStrike" cap="none">
                <a:solidFill>
                  <a:srgbClr val="475569"/>
                </a:solidFill>
                <a:latin typeface="Plus Jakarta Sans"/>
                <a:ea typeface="Plus Jakarta Sans"/>
                <a:cs typeface="Plus Jakarta Sans"/>
                <a:sym typeface="Plus Jakarta Sans"/>
              </a:rPr>
              <a:t> Thử nghiệm đo đạc thực tế của bộ nhớ Intel Optane (dựa trên PCM) cho thấy độ trễ đọc ngẫu nhiên rơi vào khoảng </a:t>
            </a:r>
            <a:r>
              <a:rPr lang="en-US" sz="975" b="1" i="0" u="none" strike="noStrike" cap="none">
                <a:solidFill>
                  <a:srgbClr val="475569"/>
                </a:solidFill>
                <a:latin typeface="Plus Jakarta Sans"/>
                <a:ea typeface="Plus Jakarta Sans"/>
                <a:cs typeface="Plus Jakarta Sans"/>
                <a:sym typeface="Plus Jakarta Sans"/>
              </a:rPr>
              <a:t>~305 ns</a:t>
            </a:r>
            <a:r>
              <a:rPr lang="en-US" sz="975" b="0" i="0" u="none" strike="noStrike" cap="none">
                <a:solidFill>
                  <a:srgbClr val="475569"/>
                </a:solidFill>
                <a:latin typeface="Plus Jakarta Sans"/>
                <a:ea typeface="Plus Jakarta Sans"/>
                <a:cs typeface="Plus Jakarta Sans"/>
                <a:sym typeface="Plus Jakarta Sans"/>
              </a:rPr>
              <a:t>. Sự chênh lệch này là do các rào cản từ giao thức bus phần cứng hệ thống và thuật toán kiểm tra lỗi (ECC) hoạt động song song.</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460" name="Google Shape;460;p27"/>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So Sánh Định Lượng Giữa SCM Và Các Công Nghệ Truyền Thống</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461" name="Google Shape;461;p27"/>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p:cNvPicPr>
            <a:picLocks noChangeAspect="1"/>
          </p:cNvPicPr>
          <p:nvPr/>
        </p:nvPicPr>
        <p:blipFill>
          <a:blip r:embed="rId2"/>
          <a:stretch>
            <a:fillRect/>
          </a:stretch>
        </p:blipFill>
        <p:spPr>
          <a:xfrm>
            <a:off x="755015" y="2080260"/>
            <a:ext cx="10474960" cy="19837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5"/>
        <p:cNvGrpSpPr/>
        <p:nvPr/>
      </p:nvGrpSpPr>
      <p:grpSpPr>
        <a:xfrm>
          <a:off x="0" y="0"/>
          <a:ext cx="0" cy="0"/>
          <a:chOff x="0" y="0"/>
          <a:chExt cx="0" cy="0"/>
        </a:xfrm>
      </p:grpSpPr>
      <p:pic>
        <p:nvPicPr>
          <p:cNvPr id="466" name="Google Shape;466;p28"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467" name="Google Shape;467;p28" descr="image.png"/>
          <p:cNvPicPr preferRelativeResize="0"/>
          <p:nvPr/>
        </p:nvPicPr>
        <p:blipFill rotWithShape="1">
          <a:blip r:embed="rId2"/>
          <a:srcRect/>
          <a:stretch>
            <a:fillRect/>
          </a:stretch>
        </p:blipFill>
        <p:spPr>
          <a:xfrm>
            <a:off x="771525" y="2055465"/>
            <a:ext cx="2490787" cy="3459360"/>
          </a:xfrm>
          <a:prstGeom prst="rect">
            <a:avLst/>
          </a:prstGeom>
          <a:noFill/>
          <a:ln>
            <a:noFill/>
          </a:ln>
        </p:spPr>
      </p:pic>
      <p:pic>
        <p:nvPicPr>
          <p:cNvPr id="468" name="Google Shape;468;p28" descr="image.png"/>
          <p:cNvPicPr preferRelativeResize="0"/>
          <p:nvPr/>
        </p:nvPicPr>
        <p:blipFill rotWithShape="1">
          <a:blip r:embed="rId3"/>
          <a:srcRect/>
          <a:stretch>
            <a:fillRect/>
          </a:stretch>
        </p:blipFill>
        <p:spPr>
          <a:xfrm>
            <a:off x="3490912" y="2055465"/>
            <a:ext cx="2490787" cy="3459360"/>
          </a:xfrm>
          <a:prstGeom prst="rect">
            <a:avLst/>
          </a:prstGeom>
          <a:noFill/>
          <a:ln>
            <a:noFill/>
          </a:ln>
        </p:spPr>
      </p:pic>
      <p:pic>
        <p:nvPicPr>
          <p:cNvPr id="469" name="Google Shape;469;p28" descr="image.png"/>
          <p:cNvPicPr preferRelativeResize="0"/>
          <p:nvPr/>
        </p:nvPicPr>
        <p:blipFill rotWithShape="1">
          <a:blip r:embed="rId3"/>
          <a:srcRect/>
          <a:stretch>
            <a:fillRect/>
          </a:stretch>
        </p:blipFill>
        <p:spPr>
          <a:xfrm>
            <a:off x="6210300" y="2055465"/>
            <a:ext cx="2490787" cy="3459360"/>
          </a:xfrm>
          <a:prstGeom prst="rect">
            <a:avLst/>
          </a:prstGeom>
          <a:noFill/>
          <a:ln>
            <a:noFill/>
          </a:ln>
        </p:spPr>
      </p:pic>
      <p:pic>
        <p:nvPicPr>
          <p:cNvPr id="470" name="Google Shape;470;p28" descr="image.png"/>
          <p:cNvPicPr preferRelativeResize="0"/>
          <p:nvPr/>
        </p:nvPicPr>
        <p:blipFill rotWithShape="1">
          <a:blip r:embed="rId3"/>
          <a:srcRect/>
          <a:stretch>
            <a:fillRect/>
          </a:stretch>
        </p:blipFill>
        <p:spPr>
          <a:xfrm>
            <a:off x="8929687" y="2055465"/>
            <a:ext cx="2490787" cy="3459360"/>
          </a:xfrm>
          <a:prstGeom prst="rect">
            <a:avLst/>
          </a:prstGeom>
          <a:noFill/>
          <a:ln>
            <a:noFill/>
          </a:ln>
        </p:spPr>
      </p:pic>
      <p:sp>
        <p:nvSpPr>
          <p:cNvPr id="471" name="Google Shape;471;p28"/>
          <p:cNvSpPr txBox="1"/>
          <p:nvPr/>
        </p:nvSpPr>
        <p:spPr>
          <a:xfrm>
            <a:off x="1066800" y="2350740"/>
            <a:ext cx="1995249"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1. Wear-Leveling</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472" name="Google Shape;472;p28"/>
          <p:cNvSpPr txBox="1"/>
          <p:nvPr/>
        </p:nvSpPr>
        <p:spPr>
          <a:xfrm>
            <a:off x="1066800" y="2684115"/>
            <a:ext cx="1900237" cy="7923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0" i="0" u="none" strike="noStrike" cap="none">
                <a:solidFill>
                  <a:srgbClr val="475569"/>
                </a:solidFill>
                <a:latin typeface="Plus Jakarta Sans"/>
                <a:ea typeface="Plus Jakarta Sans"/>
                <a:cs typeface="Plus Jakarta Sans"/>
                <a:sym typeface="Plus Jakarta Sans"/>
              </a:rPr>
              <a:t>Phân phối đồng đều áp lực ghi dữ liệu lên toàn bộ mảng silicon để ngăn ngừa lỗi phá hủy tế bào cục bộ.</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473" name="Google Shape;473;p28"/>
          <p:cNvSpPr txBox="1"/>
          <p:nvPr/>
        </p:nvSpPr>
        <p:spPr>
          <a:xfrm>
            <a:off x="3786187" y="2350740"/>
            <a:ext cx="1995249"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2. Error Correction</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474" name="Google Shape;474;p28"/>
          <p:cNvSpPr txBox="1"/>
          <p:nvPr/>
        </p:nvSpPr>
        <p:spPr>
          <a:xfrm>
            <a:off x="3786187" y="2684115"/>
            <a:ext cx="1900237" cy="7923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0" i="0" u="none" strike="noStrike" cap="none">
                <a:solidFill>
                  <a:srgbClr val="475569"/>
                </a:solidFill>
                <a:latin typeface="Plus Jakarta Sans"/>
                <a:ea typeface="Plus Jakarta Sans"/>
                <a:cs typeface="Plus Jakarta Sans"/>
                <a:sym typeface="Plus Jakarta Sans"/>
              </a:rPr>
              <a:t>SCM yêu cầu thuật toán sửa lỗi phần cứng đa cấp cực kỳ phức tạp để quản lý các trạng thái đa bit.</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475" name="Google Shape;475;p28"/>
          <p:cNvSpPr txBox="1"/>
          <p:nvPr/>
        </p:nvSpPr>
        <p:spPr>
          <a:xfrm>
            <a:off x="6505575" y="2350740"/>
            <a:ext cx="1995249" cy="4762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3. Tối ưu hiệu năng ghi</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476" name="Google Shape;476;p28"/>
          <p:cNvSpPr txBox="1"/>
          <p:nvPr/>
        </p:nvSpPr>
        <p:spPr>
          <a:xfrm>
            <a:off x="6505575" y="2922240"/>
            <a:ext cx="1900237" cy="5942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0" i="0" u="none" strike="noStrike" cap="none">
                <a:solidFill>
                  <a:srgbClr val="475569"/>
                </a:solidFill>
                <a:latin typeface="Plus Jakarta Sans"/>
                <a:ea typeface="Plus Jakarta Sans"/>
                <a:cs typeface="Plus Jakarta Sans"/>
                <a:sym typeface="Plus Jakarta Sans"/>
              </a:rPr>
              <a:t>Giảm thiểu rào cản độ trễ lớn của quá trình chuyển trạng thái tinh thể vật liệu.</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477" name="Google Shape;477;p28"/>
          <p:cNvSpPr txBox="1"/>
          <p:nvPr/>
        </p:nvSpPr>
        <p:spPr>
          <a:xfrm>
            <a:off x="9224962" y="2350740"/>
            <a:ext cx="1995249"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4. Bảo vệ chống Drift</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478" name="Google Shape;478;p28"/>
          <p:cNvSpPr txBox="1"/>
          <p:nvPr/>
        </p:nvSpPr>
        <p:spPr>
          <a:xfrm>
            <a:off x="9224962" y="2684115"/>
            <a:ext cx="1900237" cy="5942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0" i="0" u="none" strike="noStrike" cap="none">
                <a:solidFill>
                  <a:srgbClr val="475569"/>
                </a:solidFill>
                <a:latin typeface="Plus Jakarta Sans"/>
                <a:ea typeface="Plus Jakarta Sans"/>
                <a:cs typeface="Plus Jakarta Sans"/>
                <a:sym typeface="Plus Jakarta Sans"/>
              </a:rPr>
              <a:t>Xây dựng cơ chế chống hiện tượng tự trôi điện trở theo thời gian của trạng thái vô định hình.</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479" name="Google Shape;479;p28"/>
          <p:cNvSpPr txBox="1"/>
          <p:nvPr/>
        </p:nvSpPr>
        <p:spPr>
          <a:xfrm>
            <a:off x="1295400" y="3619351"/>
            <a:ext cx="1671637"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ECP:</a:t>
            </a:r>
            <a:r>
              <a:rPr lang="en-US" sz="1125" b="0" i="0" u="none" strike="noStrike" cap="none">
                <a:solidFill>
                  <a:srgbClr val="475569"/>
                </a:solidFill>
                <a:latin typeface="Plus Jakarta Sans"/>
                <a:ea typeface="Plus Jakarta Sans"/>
                <a:cs typeface="Plus Jakarta Sans"/>
                <a:sym typeface="Plus Jakarta Sans"/>
              </a:rPr>
              <a:t> Thêm mảng con trỏ sửa lỗi ghi dự phòng.</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0" name="Google Shape;480;p28"/>
          <p:cNvSpPr txBox="1"/>
          <p:nvPr/>
        </p:nvSpPr>
        <p:spPr>
          <a:xfrm>
            <a:off x="1295400" y="4190851"/>
            <a:ext cx="1671637"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EPAC:</a:t>
            </a:r>
            <a:r>
              <a:rPr lang="en-US" sz="1125" b="0" i="0" u="none" strike="noStrike" cap="none">
                <a:solidFill>
                  <a:srgbClr val="475569"/>
                </a:solidFill>
                <a:latin typeface="Plus Jakarta Sans"/>
                <a:ea typeface="Plus Jakarta Sans"/>
                <a:cs typeface="Plus Jakarta Sans"/>
                <a:sym typeface="Plus Jakarta Sans"/>
              </a:rPr>
              <a:t> Thuật toán hoán đổi địa chỉ ngẫu nhiên.</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1" name="Google Shape;481;p28"/>
          <p:cNvSpPr txBox="1"/>
          <p:nvPr/>
        </p:nvSpPr>
        <p:spPr>
          <a:xfrm>
            <a:off x="4014787" y="3619351"/>
            <a:ext cx="1671637"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Thiết kế mã ECC đa cấp tối ưu riêng cho MLC PCM.</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2" name="Google Shape;482;p28"/>
          <p:cNvSpPr txBox="1"/>
          <p:nvPr/>
        </p:nvSpPr>
        <p:spPr>
          <a:xfrm>
            <a:off x="4014787" y="4419451"/>
            <a:ext cx="1671637"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Khả năng tự động cô lập điểm lỗi cứng trên mảng nhớ.</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3" name="Google Shape;483;p28"/>
          <p:cNvSpPr txBox="1"/>
          <p:nvPr/>
        </p:nvSpPr>
        <p:spPr>
          <a:xfrm>
            <a:off x="6734175" y="3659385"/>
            <a:ext cx="1671637"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PreSET:</a:t>
            </a:r>
            <a:r>
              <a:rPr lang="en-US" sz="1125" b="0" i="0" u="none" strike="noStrike" cap="none">
                <a:solidFill>
                  <a:srgbClr val="475569"/>
                </a:solidFill>
                <a:latin typeface="Plus Jakarta Sans"/>
                <a:ea typeface="Plus Jakarta Sans"/>
                <a:cs typeface="Plus Jakarta Sans"/>
                <a:sym typeface="Plus Jakarta Sans"/>
              </a:rPr>
              <a:t> Nạp sẵn năng lượng dòng điện hỗ trợ.</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4" name="Google Shape;484;p28"/>
          <p:cNvSpPr txBox="1"/>
          <p:nvPr/>
        </p:nvSpPr>
        <p:spPr>
          <a:xfrm>
            <a:off x="6734175" y="4230885"/>
            <a:ext cx="1671637"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MaxPB:</a:t>
            </a:r>
            <a:r>
              <a:rPr lang="en-US" sz="1125" b="0" i="0" u="none" strike="noStrike" cap="none">
                <a:solidFill>
                  <a:srgbClr val="475569"/>
                </a:solidFill>
                <a:latin typeface="Plus Jakarta Sans"/>
                <a:ea typeface="Plus Jakarta Sans"/>
                <a:cs typeface="Plus Jakarta Sans"/>
                <a:sym typeface="Plus Jakarta Sans"/>
              </a:rPr>
              <a:t> Phép song song hóa ghi cấp trang độc lập.</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5" name="Google Shape;485;p28"/>
          <p:cNvSpPr txBox="1"/>
          <p:nvPr/>
        </p:nvSpPr>
        <p:spPr>
          <a:xfrm>
            <a:off x="9453562" y="3421260"/>
            <a:ext cx="1671637"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Guardband:</a:t>
            </a:r>
            <a:r>
              <a:rPr lang="en-US" sz="1125" b="0" i="0" u="none" strike="noStrike" cap="none">
                <a:solidFill>
                  <a:srgbClr val="475569"/>
                </a:solidFill>
                <a:latin typeface="Plus Jakarta Sans"/>
                <a:ea typeface="Plus Jakarta Sans"/>
                <a:cs typeface="Plus Jakarta Sans"/>
                <a:sym typeface="Plus Jakarta Sans"/>
              </a:rPr>
              <a:t> Thiết lập vùng đệm điện trở biên an toàn.</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6" name="Google Shape;486;p28"/>
          <p:cNvSpPr txBox="1"/>
          <p:nvPr/>
        </p:nvSpPr>
        <p:spPr>
          <a:xfrm>
            <a:off x="9453562" y="4221360"/>
            <a:ext cx="1671637"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Thuật toán tự động hiệu chuẩn điện trở định kỳ.</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487" name="Google Shape;487;p28"/>
          <p:cNvSpPr txBox="1"/>
          <p:nvPr/>
        </p:nvSpPr>
        <p:spPr>
          <a:xfrm>
            <a:off x="1066800" y="3619351"/>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88" name="Google Shape;488;p28"/>
          <p:cNvSpPr txBox="1"/>
          <p:nvPr/>
        </p:nvSpPr>
        <p:spPr>
          <a:xfrm>
            <a:off x="1066800" y="4190851"/>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89" name="Google Shape;489;p28"/>
          <p:cNvSpPr txBox="1"/>
          <p:nvPr/>
        </p:nvSpPr>
        <p:spPr>
          <a:xfrm>
            <a:off x="3786187" y="3619351"/>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90" name="Google Shape;490;p28"/>
          <p:cNvSpPr txBox="1"/>
          <p:nvPr/>
        </p:nvSpPr>
        <p:spPr>
          <a:xfrm>
            <a:off x="3786187" y="4419451"/>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91" name="Google Shape;491;p28"/>
          <p:cNvSpPr txBox="1"/>
          <p:nvPr/>
        </p:nvSpPr>
        <p:spPr>
          <a:xfrm>
            <a:off x="6505575" y="365938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92" name="Google Shape;492;p28"/>
          <p:cNvSpPr txBox="1"/>
          <p:nvPr/>
        </p:nvSpPr>
        <p:spPr>
          <a:xfrm>
            <a:off x="6505575" y="423088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93" name="Google Shape;493;p28"/>
          <p:cNvSpPr txBox="1"/>
          <p:nvPr/>
        </p:nvSpPr>
        <p:spPr>
          <a:xfrm>
            <a:off x="9224962" y="3421260"/>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94" name="Google Shape;494;p28"/>
          <p:cNvSpPr txBox="1"/>
          <p:nvPr/>
        </p:nvSpPr>
        <p:spPr>
          <a:xfrm>
            <a:off x="9224962" y="4221360"/>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495" name="Google Shape;495;p28"/>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Các Hướng Nghiên Cứu Tối Ưu Hóa Storage-Class Memory</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496" name="Google Shape;496;p28"/>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0"/>
        <p:cNvGrpSpPr/>
        <p:nvPr/>
      </p:nvGrpSpPr>
      <p:grpSpPr>
        <a:xfrm>
          <a:off x="0" y="0"/>
          <a:ext cx="0" cy="0"/>
          <a:chOff x="0" y="0"/>
          <a:chExt cx="0" cy="0"/>
        </a:xfrm>
      </p:grpSpPr>
      <p:sp>
        <p:nvSpPr>
          <p:cNvPr id="503" name="Google Shape;503;p29"/>
          <p:cNvSpPr txBox="1"/>
          <p:nvPr/>
        </p:nvSpPr>
        <p:spPr>
          <a:xfrm>
            <a:off x="771525" y="1419770"/>
            <a:ext cx="5290661"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1E293B"/>
                </a:solidFill>
                <a:latin typeface="Plus Jakarta Sans SemiBold"/>
                <a:ea typeface="Plus Jakarta Sans SemiBold"/>
                <a:cs typeface="Plus Jakarta Sans SemiBold"/>
                <a:sym typeface="Plus Jakarta Sans SemiBold"/>
              </a:rPr>
              <a:t>Sản phẩm SCM thương mại thực tế đầu tiên</a:t>
            </a:r>
            <a:endParaRPr lang="en-US" sz="1500" b="0" i="0" u="none" strike="noStrike" cap="none">
              <a:solidFill>
                <a:srgbClr val="1E293B"/>
              </a:solidFill>
              <a:latin typeface="Plus Jakarta Sans SemiBold"/>
              <a:ea typeface="Plus Jakarta Sans SemiBold"/>
              <a:cs typeface="Plus Jakarta Sans SemiBold"/>
              <a:sym typeface="Plus Jakarta Sans SemiBold"/>
            </a:endParaRPr>
          </a:p>
        </p:txBody>
      </p:sp>
      <p:sp>
        <p:nvSpPr>
          <p:cNvPr id="504" name="Google Shape;504;p29"/>
          <p:cNvSpPr txBox="1"/>
          <p:nvPr/>
        </p:nvSpPr>
        <p:spPr>
          <a:xfrm>
            <a:off x="771525" y="1753145"/>
            <a:ext cx="50387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Được phát triển dựa trên cấu trúc liên kết </a:t>
            </a:r>
            <a:r>
              <a:rPr lang="en-US" sz="1125" b="1" i="0" u="none" strike="noStrike" cap="none">
                <a:solidFill>
                  <a:srgbClr val="475569"/>
                </a:solidFill>
                <a:latin typeface="Plus Jakarta Sans"/>
                <a:ea typeface="Plus Jakarta Sans"/>
                <a:cs typeface="Plus Jakarta Sans"/>
                <a:sym typeface="Plus Jakarta Sans"/>
              </a:rPr>
              <a:t>3D XPoint</a:t>
            </a:r>
            <a:r>
              <a:rPr lang="en-US" sz="1125" b="0" i="0" u="none" strike="noStrike" cap="none">
                <a:solidFill>
                  <a:srgbClr val="475569"/>
                </a:solidFill>
                <a:latin typeface="Plus Jakarta Sans"/>
                <a:ea typeface="Plus Jakarta Sans"/>
                <a:cs typeface="Plus Jakarta Sans"/>
                <a:sym typeface="Plus Jakarta Sans"/>
              </a:rPr>
              <a:t> bí mật (thực chất là một nhánh cải tiến của công nghệ Phase Change Memory).</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505" name="Google Shape;505;p29"/>
          <p:cNvSpPr txBox="1"/>
          <p:nvPr/>
        </p:nvSpPr>
        <p:spPr>
          <a:xfrm>
            <a:off x="1000125" y="2324645"/>
            <a:ext cx="4810125" cy="457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Giao diện phần cứng:</a:t>
            </a:r>
            <a:r>
              <a:rPr lang="en-US" sz="1125" b="0" i="0" u="none" strike="noStrike" cap="none">
                <a:solidFill>
                  <a:srgbClr val="475569"/>
                </a:solidFill>
                <a:latin typeface="Plus Jakarta Sans"/>
                <a:ea typeface="Plus Jakarta Sans"/>
                <a:cs typeface="Plus Jakarta Sans"/>
                <a:sym typeface="Plus Jakarta Sans"/>
              </a:rPr>
              <a:t> Kết nối trực tiếp qua khe DIMM vật lý của DRAM thông qua giao thức chuẩn hóa </a:t>
            </a:r>
            <a:r>
              <a:rPr lang="en-US" sz="1125" b="1" i="0" u="none" strike="noStrike" cap="none">
                <a:solidFill>
                  <a:srgbClr val="475569"/>
                </a:solidFill>
                <a:latin typeface="Plus Jakarta Sans"/>
                <a:ea typeface="Plus Jakarta Sans"/>
                <a:cs typeface="Plus Jakarta Sans"/>
                <a:sym typeface="Plus Jakarta Sans"/>
              </a:rPr>
              <a:t>DDR-T</a:t>
            </a:r>
            <a:r>
              <a:rPr lang="en-US" sz="1125" b="0" i="0" u="none" strike="noStrike" cap="none">
                <a:solidFill>
                  <a:srgbClr val="475569"/>
                </a:solidFill>
                <a:latin typeface="Plus Jakarta Sans"/>
                <a:ea typeface="Plus Jakarta Sans"/>
                <a:cs typeface="Plus Jakarta Sans"/>
                <a:sym typeface="Plus Jakarta Sans"/>
              </a:rPr>
              <a:t>.</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506" name="Google Shape;506;p29"/>
          <p:cNvSpPr txBox="1"/>
          <p:nvPr/>
        </p:nvSpPr>
        <p:spPr>
          <a:xfrm>
            <a:off x="1000125" y="2896145"/>
            <a:ext cx="4810125" cy="685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Phân đoạn đọc ghi tối thiểu:</a:t>
            </a:r>
            <a:r>
              <a:rPr lang="en-US" sz="1125" b="0" i="0" u="none" strike="noStrike" cap="none">
                <a:solidFill>
                  <a:srgbClr val="475569"/>
                </a:solidFill>
                <a:latin typeface="Plus Jakarta Sans"/>
                <a:ea typeface="Plus Jakarta Sans"/>
                <a:cs typeface="Plus Jakarta Sans"/>
                <a:sym typeface="Plus Jakarta Sans"/>
              </a:rPr>
              <a:t> Hoạt động nội bộ ở phân mảnh 256-Byte (khác hoàn toàn với cache line 64-Byte của CPU hiện đại), đòi hỏi các kỹ sư phần mềm phải thiết kế căn chỉnh dữ liệu cực kỳ chi tiết.</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508" name="Google Shape;508;p29"/>
          <p:cNvSpPr txBox="1"/>
          <p:nvPr/>
        </p:nvSpPr>
        <p:spPr>
          <a:xfrm>
            <a:off x="771525" y="23246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509" name="Google Shape;509;p29"/>
          <p:cNvSpPr txBox="1"/>
          <p:nvPr/>
        </p:nvSpPr>
        <p:spPr>
          <a:xfrm>
            <a:off x="771525" y="28961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510" name="Google Shape;510;p29"/>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Case Study: Intel Optane DC Persistent Memory</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511" name="Google Shape;511;p29"/>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512" name="Table 511"/>
          <p:cNvGraphicFramePr>
            <a:graphicFrameLocks noGrp="1"/>
          </p:cNvGraphicFramePr>
          <p:nvPr/>
        </p:nvGraphicFramePr>
        <p:xfrm>
          <a:off x="771271" y="4098925"/>
          <a:ext cx="5038344" cy="1554480"/>
        </p:xfrm>
        <a:graphic>
          <a:graphicData uri="http://schemas.openxmlformats.org/drawingml/2006/table">
            <a:tbl>
              <a:tblPr firstRow="1" bandRow="1">
                <a:tableStyleId>{5C22544A-7EE6-4342-B048-85BDC9FD1C3A}</a:tableStyleId>
              </a:tblPr>
              <a:tblGrid>
                <a:gridCol w="1463040"/>
                <a:gridCol w="1828800"/>
                <a:gridCol w="1746504"/>
              </a:tblGrid>
              <a:tr h="518160">
                <a:tc>
                  <a:txBody>
                    <a:bodyPr/>
                    <a:lstStyle/>
                    <a:p>
                      <a:r>
                        <a:rPr sz="900" b="1">
                          <a:solidFill>
                            <a:srgbClr val="FFFFFF"/>
                          </a:solidFill>
                        </a:rPr>
                        <a:t>Chế độ</a:t>
                      </a:r>
                      <a:endParaRPr sz="900" b="1">
                        <a:solidFill>
                          <a:srgbClr val="FFFFFF"/>
                        </a:solidFill>
                      </a:endParaRPr>
                    </a:p>
                  </a:txBody>
                  <a:tcPr>
                    <a:solidFill>
                      <a:srgbClr val="1E408F"/>
                    </a:solidFill>
                  </a:tcPr>
                </a:tc>
                <a:tc>
                  <a:txBody>
                    <a:bodyPr/>
                    <a:lstStyle/>
                    <a:p>
                      <a:r>
                        <a:rPr sz="900" b="1">
                          <a:solidFill>
                            <a:srgbClr val="FFFFFF"/>
                          </a:solidFill>
                        </a:rPr>
                        <a:t>Đặc điểm</a:t>
                      </a:r>
                      <a:endParaRPr sz="900" b="1">
                        <a:solidFill>
                          <a:srgbClr val="FFFFFF"/>
                        </a:solidFill>
                      </a:endParaRPr>
                    </a:p>
                  </a:txBody>
                  <a:tcPr>
                    <a:solidFill>
                      <a:srgbClr val="1E408F"/>
                    </a:solidFill>
                  </a:tcPr>
                </a:tc>
                <a:tc>
                  <a:txBody>
                    <a:bodyPr/>
                    <a:lstStyle/>
                    <a:p>
                      <a:r>
                        <a:rPr sz="900" b="1">
                          <a:solidFill>
                            <a:srgbClr val="FFFFFF"/>
                          </a:solidFill>
                        </a:rPr>
                        <a:t>Phù hợp cho</a:t>
                      </a:r>
                      <a:endParaRPr sz="900" b="1">
                        <a:solidFill>
                          <a:srgbClr val="FFFFFF"/>
                        </a:solidFill>
                      </a:endParaRPr>
                    </a:p>
                  </a:txBody>
                  <a:tcPr>
                    <a:solidFill>
                      <a:srgbClr val="1E408F"/>
                    </a:solidFill>
                  </a:tcPr>
                </a:tc>
              </a:tr>
              <a:tr h="518160">
                <a:tc>
                  <a:txBody>
                    <a:bodyPr/>
                    <a:lstStyle/>
                    <a:p>
                      <a:r>
                        <a:rPr sz="800" b="1"/>
                        <a:t>Memory Mode</a:t>
                      </a:r>
                      <a:endParaRPr sz="800" b="1"/>
                    </a:p>
                  </a:txBody>
                  <a:tcPr/>
                </a:tc>
                <a:tc>
                  <a:txBody>
                    <a:bodyPr/>
                    <a:lstStyle/>
                    <a:p>
                      <a:r>
                        <a:rPr sz="800" b="0"/>
                        <a:t>DRAM làm cache; Optane mở rộng RAM; dữ liệu bay khi mất điện</a:t>
                      </a:r>
                      <a:endParaRPr sz="800" b="0"/>
                    </a:p>
                  </a:txBody>
                  <a:tcPr/>
                </a:tc>
                <a:tc>
                  <a:txBody>
                    <a:bodyPr/>
                    <a:lstStyle/>
                    <a:p>
                      <a:r>
                        <a:rPr sz="800" b="0"/>
                        <a:t>Tăng dung lượng RAM không cần persistence</a:t>
                      </a:r>
                      <a:endParaRPr sz="800" b="0"/>
                    </a:p>
                  </a:txBody>
                  <a:tcPr/>
                </a:tc>
              </a:tr>
              <a:tr h="518160">
                <a:tc>
                  <a:txBody>
                    <a:bodyPr/>
                    <a:lstStyle/>
                    <a:p>
                      <a:r>
                        <a:rPr sz="800" b="1"/>
                        <a:t>App Direct Mode</a:t>
                      </a:r>
                      <a:endParaRPr sz="800" b="1"/>
                    </a:p>
                  </a:txBody>
                  <a:tcPr/>
                </a:tc>
                <a:tc>
                  <a:txBody>
                    <a:bodyPr/>
                    <a:lstStyle/>
                    <a:p>
                      <a:r>
                        <a:rPr sz="800" b="0"/>
                        <a:t>Truy cập trực tiếp; không DRAM cache; dùng sfence/clwb để đảm bảo nhất quán</a:t>
                      </a:r>
                      <a:endParaRPr sz="800" b="0"/>
                    </a:p>
                  </a:txBody>
                  <a:tcPr/>
                </a:tc>
                <a:tc>
                  <a:txBody>
                    <a:bodyPr/>
                    <a:lstStyle/>
                    <a:p>
                      <a:r>
                        <a:rPr sz="800" b="0"/>
                        <a:t>Persistent data structures, database</a:t>
                      </a:r>
                      <a:endParaRPr sz="800" b="0"/>
                    </a:p>
                  </a:txBody>
                  <a:tcPr/>
                </a:tc>
              </a:tr>
            </a:tbl>
          </a:graphicData>
        </a:graphic>
      </p:graphicFrame>
      <p:pic>
        <p:nvPicPr>
          <p:cNvPr id="2" name="Picture 1"/>
          <p:cNvPicPr/>
          <p:nvPr/>
        </p:nvPicPr>
        <p:blipFill>
          <a:blip r:embed="rId1"/>
          <a:stretch>
            <a:fillRect/>
          </a:stretch>
        </p:blipFill>
        <p:spPr>
          <a:xfrm>
            <a:off x="6610985" y="2021205"/>
            <a:ext cx="4809490" cy="29133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5"/>
        <p:cNvGrpSpPr/>
        <p:nvPr/>
      </p:nvGrpSpPr>
      <p:grpSpPr>
        <a:xfrm>
          <a:off x="0" y="0"/>
          <a:ext cx="0" cy="0"/>
          <a:chOff x="0" y="0"/>
          <a:chExt cx="0" cy="0"/>
        </a:xfrm>
      </p:grpSpPr>
      <p:pic>
        <p:nvPicPr>
          <p:cNvPr id="516" name="Google Shape;516;p30"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517" name="Google Shape;517;p30" descr="image.png"/>
          <p:cNvPicPr preferRelativeResize="0"/>
          <p:nvPr/>
        </p:nvPicPr>
        <p:blipFill rotWithShape="1">
          <a:blip r:embed="rId2"/>
          <a:srcRect/>
          <a:stretch>
            <a:fillRect/>
          </a:stretch>
        </p:blipFill>
        <p:spPr>
          <a:xfrm>
            <a:off x="771525" y="5233987"/>
            <a:ext cx="10648950" cy="579090"/>
          </a:xfrm>
          <a:prstGeom prst="rect">
            <a:avLst/>
          </a:prstGeom>
          <a:noFill/>
          <a:ln>
            <a:noFill/>
          </a:ln>
        </p:spPr>
      </p:pic>
      <p:sp>
        <p:nvSpPr>
          <p:cNvPr id="518" name="Google Shape;518;p30"/>
          <p:cNvSpPr txBox="1"/>
          <p:nvPr/>
        </p:nvSpPr>
        <p:spPr>
          <a:xfrm>
            <a:off x="771525" y="1757362"/>
            <a:ext cx="10648950"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Kết quả nghiên cứu thực nghiệm độc lập kéo dài hơn 330 giờ đo đạc chi tiết của giáo sư </a:t>
            </a:r>
            <a:r>
              <a:rPr lang="en-US" sz="1125" b="0" i="1" u="none" strike="noStrike" cap="none">
                <a:solidFill>
                  <a:srgbClr val="475569"/>
                </a:solidFill>
                <a:latin typeface="Plus Jakarta Sans"/>
                <a:ea typeface="Plus Jakarta Sans"/>
                <a:cs typeface="Plus Jakarta Sans"/>
                <a:sym typeface="Plus Jakarta Sans"/>
              </a:rPr>
              <a:t>Izraelevitz và các cộng sự (2019)</a:t>
            </a:r>
            <a:r>
              <a:rPr lang="en-US" sz="1125" b="0" i="0" u="none" strike="noStrike" cap="none">
                <a:solidFill>
                  <a:srgbClr val="475569"/>
                </a:solidFill>
                <a:latin typeface="Plus Jakarta Sans"/>
                <a:ea typeface="Plus Jakarta Sans"/>
                <a:cs typeface="Plus Jakarta Sans"/>
                <a:sym typeface="Plus Jakarta Sans"/>
              </a:rPr>
              <a:t> chỉ ra hành vi thực tế:</a:t>
            </a:r>
            <a:endParaRPr lang="en-US" sz="1125" b="0" i="0" u="none" strike="noStrike" cap="none">
              <a:solidFill>
                <a:srgbClr val="475569"/>
              </a:solidFill>
              <a:latin typeface="Plus Jakarta Sans"/>
              <a:ea typeface="Plus Jakarta Sans"/>
              <a:cs typeface="Plus Jakarta Sans"/>
              <a:sym typeface="Plus Jakarta Sans"/>
            </a:endParaRPr>
          </a:p>
        </p:txBody>
      </p:sp>
      <p:graphicFrame>
        <p:nvGraphicFramePr>
          <p:cNvPr id="519" name="Google Shape;519;p30"/>
          <p:cNvGraphicFramePr/>
          <p:nvPr/>
        </p:nvGraphicFramePr>
        <p:xfrm>
          <a:off x="771525" y="2128837"/>
          <a:ext cx="10648950" cy="3000000"/>
        </p:xfrm>
        <a:graphic>
          <a:graphicData uri="http://schemas.openxmlformats.org/drawingml/2006/table">
            <a:tbl>
              <a:tblPr firstRow="1" bandRow="1">
                <a:noFill/>
                <a:tableStyleId>{DF3C2146-B867-4D5D-ABA1-988120CD81A7}</a:tableStyleId>
              </a:tblPr>
              <a:tblGrid>
                <a:gridCol w="2406100"/>
                <a:gridCol w="1519100"/>
                <a:gridCol w="2181975"/>
                <a:gridCol w="4541775"/>
              </a:tblGrid>
              <a:tr h="582925">
                <a:tc>
                  <a:txBody>
                    <a:bodyPr/>
                    <a:lstStyle/>
                    <a:p>
                      <a:pPr marL="0" marR="0" lvl="0" indent="0" algn="l" rtl="0">
                        <a:spcBef>
                          <a:spcPts val="0"/>
                        </a:spcBef>
                        <a:spcAft>
                          <a:spcPts val="0"/>
                        </a:spcAft>
                        <a:buNone/>
                      </a:pPr>
                      <a:r>
                        <a:rPr lang="en-US" sz="1050" b="0" i="0" u="none" strike="noStrike" cap="none">
                          <a:solidFill>
                            <a:srgbClr val="0F172A"/>
                          </a:solidFill>
                          <a:latin typeface="Plus Jakarta Sans SemiBold"/>
                          <a:ea typeface="Plus Jakarta Sans SemiBold"/>
                          <a:cs typeface="Plus Jakarta Sans SemiBold"/>
                          <a:sym typeface="Plus Jakarta Sans SemiBold"/>
                        </a:rPr>
                        <a:t>Thông số kiểm thử hiệu năng</a:t>
                      </a:r>
                      <a:endParaRPr lang="en-US" sz="1050" b="0" i="0" u="none" strike="noStrike" cap="none">
                        <a:solidFill>
                          <a:srgbClr val="0F172A"/>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0F172A"/>
                          </a:solidFill>
                          <a:latin typeface="Plus Jakarta Sans SemiBold"/>
                          <a:ea typeface="Plus Jakarta Sans SemiBold"/>
                          <a:cs typeface="Plus Jakarta Sans SemiBold"/>
                          <a:sym typeface="Plus Jakarta Sans SemiBold"/>
                        </a:rPr>
                        <a:t>DRAM Hệ thống</a:t>
                      </a:r>
                      <a:endParaRPr lang="en-US" sz="1050" b="0" i="0" u="none" strike="noStrike" cap="none">
                        <a:solidFill>
                          <a:srgbClr val="0F172A"/>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6366F1"/>
                          </a:solidFill>
                          <a:latin typeface="Plus Jakarta Sans SemiBold"/>
                          <a:ea typeface="Plus Jakarta Sans SemiBold"/>
                          <a:cs typeface="Plus Jakarta Sans SemiBold"/>
                          <a:sym typeface="Plus Jakarta Sans SemiBold"/>
                        </a:rPr>
                        <a:t>Intel Optane (App Direct Mode)</a:t>
                      </a:r>
                      <a:endParaRPr lang="en-US" sz="1050" b="0" i="0" u="none" strike="noStrike" cap="none">
                        <a:solidFill>
                          <a:srgbClr val="6366F1"/>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0F172A"/>
                          </a:solidFill>
                          <a:latin typeface="Plus Jakarta Sans SemiBold"/>
                          <a:ea typeface="Plus Jakarta Sans SemiBold"/>
                          <a:cs typeface="Plus Jakarta Sans SemiBold"/>
                          <a:sym typeface="Plus Jakarta Sans SemiBold"/>
                        </a:rPr>
                        <a:t>Đánh giá kỹ thuật từ nhóm nghiên cứu</a:t>
                      </a:r>
                      <a:endParaRPr lang="en-US" sz="1050" b="0" i="0" u="none" strike="noStrike" cap="none">
                        <a:solidFill>
                          <a:srgbClr val="0F172A"/>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r>
              <a:tr h="58292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Random Read Latency (Độ trễ đọc)</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~81 ns</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DC2626"/>
                          </a:solidFill>
                          <a:latin typeface="Plus Jakarta Sans SemiBold"/>
                          <a:ea typeface="Plus Jakarta Sans SemiBold"/>
                          <a:cs typeface="Plus Jakarta Sans SemiBold"/>
                          <a:sym typeface="Plus Jakarta Sans SemiBold"/>
                        </a:rPr>
                        <a:t>~305 ns</a:t>
                      </a:r>
                      <a:endParaRPr lang="en-US" sz="1050" b="0" i="0" u="none" strike="noStrike" cap="none">
                        <a:solidFill>
                          <a:srgbClr val="DC2626"/>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Chậm hơn DRAM khoảng 3-4 lần do gánh nặng ECC phần cứng.</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58292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Random Write Latency (Độ trễ ghi)</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~81 ns</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10B981"/>
                          </a:solidFill>
                          <a:latin typeface="Plus Jakarta Sans SemiBold"/>
                          <a:ea typeface="Plus Jakarta Sans SemiBold"/>
                          <a:cs typeface="Plus Jakarta Sans SemiBold"/>
                          <a:sym typeface="Plus Jakarta Sans SemiBold"/>
                        </a:rPr>
                        <a:t>~94 ns</a:t>
                      </a:r>
                      <a:endParaRPr lang="en-US" sz="1050" b="0" i="0" u="none" strike="noStrike" cap="none">
                        <a:solidFill>
                          <a:srgbClr val="10B981"/>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Hiệu năng ghi cực kỳ ấn tượng nhờ bộ nhớ đệm pin nội bộ XPBuffer.</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58292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Tính bất đối xứng Đọc / Ghi</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Hoàn toàn cân bằng</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6366F1"/>
                          </a:solidFill>
                          <a:latin typeface="Plus Jakarta Sans SemiBold"/>
                          <a:ea typeface="Plus Jakarta Sans SemiBold"/>
                          <a:cs typeface="Plus Jakarta Sans SemiBold"/>
                          <a:sym typeface="Plus Jakarta Sans SemiBold"/>
                        </a:rPr>
                        <a:t>Ghi nhanh hơn Đọc</a:t>
                      </a:r>
                      <a:endParaRPr lang="en-US" sz="1050" b="0" i="0" u="none" strike="noStrike" cap="none">
                        <a:solidFill>
                          <a:srgbClr val="6366F1"/>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Đảo ngược hoàn toàn</a:t>
                      </a:r>
                      <a:r>
                        <a:rPr lang="en-US" sz="1050" b="0" i="0" u="none" strike="noStrike" cap="none">
                          <a:solidFill>
                            <a:srgbClr val="475569"/>
                          </a:solidFill>
                          <a:latin typeface="Plus Jakarta Sans"/>
                          <a:ea typeface="Plus Jakarta Sans"/>
                          <a:cs typeface="Plus Jakarta Sans"/>
                          <a:sym typeface="Plus Jakarta Sans"/>
                        </a:rPr>
                        <a:t> so với nguyên lý Flash NAND (Đọc nhanh, Ghi chậm).</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58292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Băng thông đọc tuần tự</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Cực cao (~100 GB/s)</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Thấp hơn DRAM 2 - 3x</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Đạt hiệu suất tối đa khi sử dụng nhiều luồng song song (Multi-threaded).</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520" name="Google Shape;520;p30"/>
          <p:cNvSpPr/>
          <p:nvPr/>
        </p:nvSpPr>
        <p:spPr>
          <a:xfrm>
            <a:off x="771525" y="2690812"/>
            <a:ext cx="2406104"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1" name="Google Shape;521;p30"/>
          <p:cNvSpPr/>
          <p:nvPr/>
        </p:nvSpPr>
        <p:spPr>
          <a:xfrm>
            <a:off x="3177629" y="2690812"/>
            <a:ext cx="151908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2" name="Google Shape;522;p30"/>
          <p:cNvSpPr/>
          <p:nvPr/>
        </p:nvSpPr>
        <p:spPr>
          <a:xfrm>
            <a:off x="4696717" y="2690812"/>
            <a:ext cx="2181969"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3" name="Google Shape;523;p30"/>
          <p:cNvSpPr/>
          <p:nvPr/>
        </p:nvSpPr>
        <p:spPr>
          <a:xfrm>
            <a:off x="6878687" y="2690812"/>
            <a:ext cx="454178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4" name="Google Shape;524;p30"/>
          <p:cNvSpPr txBox="1"/>
          <p:nvPr/>
        </p:nvSpPr>
        <p:spPr>
          <a:xfrm>
            <a:off x="1000125" y="5424487"/>
            <a:ext cx="10229850" cy="1980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1" i="0" u="none" strike="noStrike" cap="none">
                <a:solidFill>
                  <a:srgbClr val="475569"/>
                </a:solidFill>
                <a:latin typeface="Plus Jakarta Sans"/>
                <a:ea typeface="Plus Jakarta Sans"/>
                <a:cs typeface="Plus Jakarta Sans"/>
                <a:sym typeface="Plus Jakarta Sans"/>
              </a:rPr>
              <a:t>Phát hiện khoa học:</a:t>
            </a:r>
            <a:r>
              <a:rPr lang="en-US" sz="975" b="0" i="0" u="none" strike="noStrike" cap="none">
                <a:solidFill>
                  <a:srgbClr val="475569"/>
                </a:solidFill>
                <a:latin typeface="Plus Jakarta Sans"/>
                <a:ea typeface="Plus Jakarta Sans"/>
                <a:cs typeface="Plus Jakarta Sans"/>
                <a:sym typeface="Plus Jakarta Sans"/>
              </a:rPr>
              <a:t> Việc giả lập bộ nhớ phi khả biến bằng phần mềm trên nền DRAM hoàn toàn </a:t>
            </a:r>
            <a:r>
              <a:rPr lang="en-US" sz="975" b="1" i="0" u="none" strike="noStrike" cap="none">
                <a:solidFill>
                  <a:srgbClr val="475569"/>
                </a:solidFill>
                <a:latin typeface="Plus Jakarta Sans"/>
                <a:ea typeface="Plus Jakarta Sans"/>
                <a:cs typeface="Plus Jakarta Sans"/>
                <a:sym typeface="Plus Jakarta Sans"/>
              </a:rPr>
              <a:t>không tái hiện chính xác</a:t>
            </a:r>
            <a:r>
              <a:rPr lang="en-US" sz="975" b="0" i="0" u="none" strike="noStrike" cap="none">
                <a:solidFill>
                  <a:srgbClr val="475569"/>
                </a:solidFill>
                <a:latin typeface="Plus Jakarta Sans"/>
                <a:ea typeface="Plus Jakarta Sans"/>
                <a:cs typeface="Plus Jakarta Sans"/>
                <a:sym typeface="Plus Jakarta Sans"/>
              </a:rPr>
              <a:t> được các hành vi vật lý bất đối xứng của linh kiện thực tế.</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525" name="Google Shape;525;p30"/>
          <p:cNvSpPr/>
          <p:nvPr/>
        </p:nvSpPr>
        <p:spPr>
          <a:xfrm>
            <a:off x="771525" y="3286125"/>
            <a:ext cx="2406104"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6" name="Google Shape;526;p30"/>
          <p:cNvSpPr/>
          <p:nvPr/>
        </p:nvSpPr>
        <p:spPr>
          <a:xfrm>
            <a:off x="3177629" y="3286125"/>
            <a:ext cx="1519088"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7" name="Google Shape;527;p30"/>
          <p:cNvSpPr/>
          <p:nvPr/>
        </p:nvSpPr>
        <p:spPr>
          <a:xfrm>
            <a:off x="4696717" y="3286125"/>
            <a:ext cx="218196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8" name="Google Shape;528;p30"/>
          <p:cNvSpPr/>
          <p:nvPr/>
        </p:nvSpPr>
        <p:spPr>
          <a:xfrm>
            <a:off x="6878687" y="3286125"/>
            <a:ext cx="4541787"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9" name="Google Shape;529;p30"/>
          <p:cNvSpPr/>
          <p:nvPr/>
        </p:nvSpPr>
        <p:spPr>
          <a:xfrm>
            <a:off x="771525" y="3867150"/>
            <a:ext cx="2406104"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0" name="Google Shape;530;p30"/>
          <p:cNvSpPr/>
          <p:nvPr/>
        </p:nvSpPr>
        <p:spPr>
          <a:xfrm>
            <a:off x="3177629" y="3867150"/>
            <a:ext cx="1519088"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1" name="Google Shape;531;p30"/>
          <p:cNvSpPr/>
          <p:nvPr/>
        </p:nvSpPr>
        <p:spPr>
          <a:xfrm>
            <a:off x="4696717" y="3867150"/>
            <a:ext cx="218196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2" name="Google Shape;532;p30"/>
          <p:cNvSpPr/>
          <p:nvPr/>
        </p:nvSpPr>
        <p:spPr>
          <a:xfrm>
            <a:off x="6878687" y="3867150"/>
            <a:ext cx="4541787"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3" name="Google Shape;533;p30"/>
          <p:cNvSpPr/>
          <p:nvPr/>
        </p:nvSpPr>
        <p:spPr>
          <a:xfrm>
            <a:off x="771525" y="4448175"/>
            <a:ext cx="2406104"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4" name="Google Shape;534;p30"/>
          <p:cNvSpPr/>
          <p:nvPr/>
        </p:nvSpPr>
        <p:spPr>
          <a:xfrm>
            <a:off x="3177629" y="4448175"/>
            <a:ext cx="1519088"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5" name="Google Shape;535;p30"/>
          <p:cNvSpPr/>
          <p:nvPr/>
        </p:nvSpPr>
        <p:spPr>
          <a:xfrm>
            <a:off x="4696717" y="4448175"/>
            <a:ext cx="218196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6" name="Google Shape;536;p30"/>
          <p:cNvSpPr/>
          <p:nvPr/>
        </p:nvSpPr>
        <p:spPr>
          <a:xfrm>
            <a:off x="6878687" y="4448175"/>
            <a:ext cx="4541787"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7" name="Google Shape;537;p30"/>
          <p:cNvSpPr/>
          <p:nvPr/>
        </p:nvSpPr>
        <p:spPr>
          <a:xfrm>
            <a:off x="771525" y="5029200"/>
            <a:ext cx="2406104"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8" name="Google Shape;538;p30"/>
          <p:cNvSpPr/>
          <p:nvPr/>
        </p:nvSpPr>
        <p:spPr>
          <a:xfrm>
            <a:off x="3177629" y="5029200"/>
            <a:ext cx="1519088"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9" name="Google Shape;539;p30"/>
          <p:cNvSpPr/>
          <p:nvPr/>
        </p:nvSpPr>
        <p:spPr>
          <a:xfrm>
            <a:off x="4696717" y="5029200"/>
            <a:ext cx="218196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40" name="Google Shape;540;p30"/>
          <p:cNvSpPr/>
          <p:nvPr/>
        </p:nvSpPr>
        <p:spPr>
          <a:xfrm>
            <a:off x="6878687" y="5029200"/>
            <a:ext cx="4541787"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41" name="Google Shape;541;p30"/>
          <p:cNvSpPr txBox="1"/>
          <p:nvPr/>
        </p:nvSpPr>
        <p:spPr>
          <a:xfrm>
            <a:off x="771525" y="485775"/>
            <a:ext cx="11181397" cy="47053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Kết Quả Đo Đạc Thực Tế Module Intel Optane</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542" name="Google Shape;542;p30"/>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6"/>
        <p:cNvGrpSpPr/>
        <p:nvPr/>
      </p:nvGrpSpPr>
      <p:grpSpPr>
        <a:xfrm>
          <a:off x="0" y="0"/>
          <a:ext cx="0" cy="0"/>
          <a:chOff x="0" y="0"/>
          <a:chExt cx="0" cy="0"/>
        </a:xfrm>
      </p:grpSpPr>
      <p:pic>
        <p:nvPicPr>
          <p:cNvPr id="547" name="Google Shape;547;p31"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548" name="Google Shape;548;p31" descr="image.png"/>
          <p:cNvPicPr preferRelativeResize="0"/>
          <p:nvPr/>
        </p:nvPicPr>
        <p:blipFill rotWithShape="1">
          <a:blip r:embed="rId2"/>
          <a:srcRect/>
          <a:stretch>
            <a:fillRect/>
          </a:stretch>
        </p:blipFill>
        <p:spPr>
          <a:xfrm>
            <a:off x="771525" y="4916983"/>
            <a:ext cx="10648950" cy="609600"/>
          </a:xfrm>
          <a:prstGeom prst="rect">
            <a:avLst/>
          </a:prstGeom>
          <a:noFill/>
          <a:ln>
            <a:noFill/>
          </a:ln>
        </p:spPr>
      </p:pic>
      <p:graphicFrame>
        <p:nvGraphicFramePr>
          <p:cNvPr id="549" name="Google Shape;549;p31"/>
          <p:cNvGraphicFramePr/>
          <p:nvPr/>
        </p:nvGraphicFramePr>
        <p:xfrm>
          <a:off x="771525" y="2043707"/>
          <a:ext cx="10648950" cy="3000000"/>
        </p:xfrm>
        <a:graphic>
          <a:graphicData uri="http://schemas.openxmlformats.org/drawingml/2006/table">
            <a:tbl>
              <a:tblPr firstRow="1" bandRow="1">
                <a:noFill/>
                <a:tableStyleId>{DF3C2146-B867-4D5D-ABA1-988120CD81A7}</a:tableStyleId>
              </a:tblPr>
              <a:tblGrid>
                <a:gridCol w="2496000"/>
                <a:gridCol w="874650"/>
                <a:gridCol w="1842800"/>
                <a:gridCol w="1632800"/>
                <a:gridCol w="2087750"/>
                <a:gridCol w="1714950"/>
              </a:tblGrid>
              <a:tr h="415375">
                <a:tc>
                  <a:txBody>
                    <a:bodyPr/>
                    <a:lstStyle/>
                    <a:p>
                      <a:pPr marL="0" marR="0" lvl="0" indent="0" algn="l" rtl="0">
                        <a:spcBef>
                          <a:spcPts val="0"/>
                        </a:spcBef>
                        <a:spcAft>
                          <a:spcPts val="0"/>
                        </a:spcAft>
                        <a:buNone/>
                      </a:pPr>
                      <a:r>
                        <a:rPr lang="en-US" sz="1050" b="0" i="0" u="none" strike="noStrike" cap="none">
                          <a:solidFill>
                            <a:srgbClr val="0F172A"/>
                          </a:solidFill>
                          <a:latin typeface="Plus Jakarta Sans SemiBold"/>
                          <a:ea typeface="Plus Jakarta Sans SemiBold"/>
                          <a:cs typeface="Plus Jakarta Sans SemiBold"/>
                          <a:sym typeface="Plus Jakarta Sans SemiBold"/>
                        </a:rPr>
                        <a:t>Đặc tính vật lý</a:t>
                      </a:r>
                      <a:endParaRPr lang="en-US" sz="1050" b="0" i="0" u="none" strike="noStrike" cap="none">
                        <a:solidFill>
                          <a:srgbClr val="0F172A"/>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0F172A"/>
                          </a:solidFill>
                          <a:latin typeface="Plus Jakarta Sans SemiBold"/>
                          <a:ea typeface="Plus Jakarta Sans SemiBold"/>
                          <a:cs typeface="Plus Jakarta Sans SemiBold"/>
                          <a:sym typeface="Plus Jakarta Sans SemiBold"/>
                        </a:rPr>
                        <a:t>DRAM</a:t>
                      </a:r>
                      <a:endParaRPr lang="en-US" sz="1050" b="0" i="0" u="none" strike="noStrike" cap="none">
                        <a:solidFill>
                          <a:srgbClr val="0F172A"/>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050" b="0" i="0" u="none" strike="noStrike" cap="none">
                          <a:solidFill>
                            <a:srgbClr val="4F46E5"/>
                          </a:solidFill>
                          <a:latin typeface="Plus Jakarta Sans SemiBold"/>
                          <a:ea typeface="Plus Jakarta Sans SemiBold"/>
                          <a:cs typeface="Plus Jakarta Sans SemiBold"/>
                          <a:sym typeface="Plus Jakarta Sans SemiBold"/>
                        </a:rPr>
                        <a:t>PCM (SCM)</a:t>
                      </a:r>
                      <a:endParaRPr lang="en-US" sz="1050" b="0" i="0" u="none" strike="noStrike" cap="none">
                        <a:solidFill>
                          <a:srgbClr val="4F46E5"/>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E0E7FF"/>
                    </a:solidFill>
                  </a:tcPr>
                </a:tc>
                <a:tc>
                  <a:txBody>
                    <a:bodyPr/>
                    <a:lstStyle/>
                    <a:p>
                      <a:pPr marL="0" marR="0" lvl="0" indent="0" algn="l" rtl="0">
                        <a:spcBef>
                          <a:spcPts val="0"/>
                        </a:spcBef>
                        <a:spcAft>
                          <a:spcPts val="0"/>
                        </a:spcAft>
                        <a:buNone/>
                      </a:pPr>
                      <a:r>
                        <a:rPr lang="en-US" sz="1050" b="0" i="0" u="none" strike="noStrike" cap="none">
                          <a:solidFill>
                            <a:srgbClr val="4F46E5"/>
                          </a:solidFill>
                          <a:latin typeface="Plus Jakarta Sans SemiBold"/>
                          <a:ea typeface="Plus Jakarta Sans SemiBold"/>
                          <a:cs typeface="Plus Jakarta Sans SemiBold"/>
                          <a:sym typeface="Plus Jakarta Sans SemiBold"/>
                        </a:rPr>
                        <a:t>ReRAM (SCM)</a:t>
                      </a:r>
                      <a:endParaRPr lang="en-US" sz="1050" b="0" i="0" u="none" strike="noStrike" cap="none">
                        <a:solidFill>
                          <a:srgbClr val="4F46E5"/>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E0E7FF"/>
                    </a:solidFill>
                  </a:tcPr>
                </a:tc>
                <a:tc>
                  <a:txBody>
                    <a:bodyPr/>
                    <a:lstStyle/>
                    <a:p>
                      <a:pPr marL="0" marR="0" lvl="0" indent="0" algn="l" rtl="0">
                        <a:spcBef>
                          <a:spcPts val="0"/>
                        </a:spcBef>
                        <a:spcAft>
                          <a:spcPts val="0"/>
                        </a:spcAft>
                        <a:buNone/>
                      </a:pPr>
                      <a:r>
                        <a:rPr lang="en-US" sz="1050" b="0" i="0" u="none" strike="noStrike" cap="none">
                          <a:solidFill>
                            <a:srgbClr val="4F46E5"/>
                          </a:solidFill>
                          <a:latin typeface="Plus Jakarta Sans SemiBold"/>
                          <a:ea typeface="Plus Jakarta Sans SemiBold"/>
                          <a:cs typeface="Plus Jakarta Sans SemiBold"/>
                          <a:sym typeface="Plus Jakarta Sans SemiBold"/>
                        </a:rPr>
                        <a:t>Intel Optane</a:t>
                      </a:r>
                      <a:endParaRPr lang="en-US" sz="1050" b="0" i="0" u="none" strike="noStrike" cap="none">
                        <a:solidFill>
                          <a:srgbClr val="4F46E5"/>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E0E7FF"/>
                    </a:solidFill>
                  </a:tcPr>
                </a:tc>
                <a:tc>
                  <a:txBody>
                    <a:bodyPr/>
                    <a:lstStyle/>
                    <a:p>
                      <a:pPr marL="0" marR="0" lvl="0" indent="0" algn="l" rtl="0">
                        <a:spcBef>
                          <a:spcPts val="0"/>
                        </a:spcBef>
                        <a:spcAft>
                          <a:spcPts val="0"/>
                        </a:spcAft>
                        <a:buNone/>
                      </a:pPr>
                      <a:r>
                        <a:rPr lang="en-US" sz="1050" b="0" i="0" u="none" strike="noStrike" cap="none">
                          <a:solidFill>
                            <a:srgbClr val="B91C1C"/>
                          </a:solidFill>
                          <a:latin typeface="Plus Jakarta Sans SemiBold"/>
                          <a:ea typeface="Plus Jakarta Sans SemiBold"/>
                          <a:cs typeface="Plus Jakarta Sans SemiBold"/>
                          <a:sym typeface="Plus Jakarta Sans SemiBold"/>
                        </a:rPr>
                        <a:t>NAND Flash</a:t>
                      </a:r>
                      <a:endParaRPr lang="en-US" sz="1050" b="0" i="0" u="none" strike="noStrike" cap="none">
                        <a:solidFill>
                          <a:srgbClr val="B91C1C"/>
                        </a:solidFill>
                        <a:latin typeface="Plus Jakarta Sans SemiBold"/>
                        <a:ea typeface="Plus Jakarta Sans SemiBold"/>
                        <a:cs typeface="Plus Jakarta Sans SemiBold"/>
                        <a:sym typeface="Plus Jakarta Sans SemiBold"/>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EE2E2"/>
                    </a:solidFill>
                  </a:tcPr>
                </a:tc>
              </a:tr>
              <a:tr h="41537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Khả năng giữ điện (Volatile)</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Có</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Không</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Không</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Không</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Không</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41537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Truy cập địa chỉ Byte</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Có</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Có</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Có</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Có</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Không (Block I/O)</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41537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Kích thước ô nhớ vật lý (F²)</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6</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8</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4 - 10</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~4 (Cấu trúc 3D XPoint)</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4</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41537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Yêu cầu linh kiện Selector</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1T1C</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Bắt buộc hoàn toàn</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Tùy chọn thiết kế</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Có (Dùng OTS)</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Không bắt buộc</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415375">
                <a:tc>
                  <a:txBody>
                    <a:bodyPr/>
                    <a:lstStyle/>
                    <a:p>
                      <a:pPr marL="0" marR="0" lvl="0" indent="0" algn="l" rtl="0">
                        <a:spcBef>
                          <a:spcPts val="0"/>
                        </a:spcBef>
                        <a:spcAft>
                          <a:spcPts val="0"/>
                        </a:spcAft>
                        <a:buNone/>
                      </a:pPr>
                      <a:r>
                        <a:rPr lang="en-US" sz="1050" b="1" i="0" u="none" strike="noStrike" cap="none">
                          <a:solidFill>
                            <a:srgbClr val="475569"/>
                          </a:solidFill>
                          <a:latin typeface="Plus Jakarta Sans"/>
                          <a:ea typeface="Plus Jakarta Sans"/>
                          <a:cs typeface="Plus Jakarta Sans"/>
                          <a:sym typeface="Plus Jakarta Sans"/>
                        </a:rPr>
                        <a:t>Độ bền ghi giới hạn (Chu kỳ)</a:t>
                      </a:r>
                      <a:endParaRPr lang="en-US" sz="1050" b="1"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Vô hạn</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10⁸–10⁹</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1011</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~10⁶–10⁷</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475569"/>
                          </a:solidFill>
                          <a:latin typeface="Plus Jakarta Sans"/>
                          <a:ea typeface="Plus Jakarta Sans"/>
                          <a:cs typeface="Plus Jakarta Sans"/>
                          <a:sym typeface="Plus Jakarta Sans"/>
                        </a:rPr>
                        <a:t>10⁴–10⁵</a:t>
                      </a:r>
                      <a:endParaRPr lang="en-US" sz="1050" b="0" i="0" u="none" strike="noStrike" cap="none">
                        <a:solidFill>
                          <a:srgbClr val="475569"/>
                        </a:solidFill>
                        <a:latin typeface="Plus Jakarta Sans"/>
                        <a:ea typeface="Plus Jakarta Sans"/>
                        <a:cs typeface="Plus Jakarta Sans"/>
                        <a:sym typeface="Plus Jakarta Sans"/>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550" name="Google Shape;550;p31"/>
          <p:cNvSpPr/>
          <p:nvPr/>
        </p:nvSpPr>
        <p:spPr>
          <a:xfrm>
            <a:off x="771525" y="2434232"/>
            <a:ext cx="2495996"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1" name="Google Shape;551;p31"/>
          <p:cNvSpPr/>
          <p:nvPr/>
        </p:nvSpPr>
        <p:spPr>
          <a:xfrm>
            <a:off x="3267521" y="2434232"/>
            <a:ext cx="874662"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2" name="Google Shape;552;p31"/>
          <p:cNvSpPr/>
          <p:nvPr/>
        </p:nvSpPr>
        <p:spPr>
          <a:xfrm>
            <a:off x="4142184" y="2434232"/>
            <a:ext cx="1842789"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3" name="Google Shape;553;p31"/>
          <p:cNvSpPr/>
          <p:nvPr/>
        </p:nvSpPr>
        <p:spPr>
          <a:xfrm>
            <a:off x="5984974" y="2434232"/>
            <a:ext cx="1632793"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4" name="Google Shape;554;p31"/>
          <p:cNvSpPr/>
          <p:nvPr/>
        </p:nvSpPr>
        <p:spPr>
          <a:xfrm>
            <a:off x="7617767" y="2434232"/>
            <a:ext cx="208776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5" name="Google Shape;555;p31"/>
          <p:cNvSpPr/>
          <p:nvPr/>
        </p:nvSpPr>
        <p:spPr>
          <a:xfrm>
            <a:off x="9705528" y="2434232"/>
            <a:ext cx="1714946"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6" name="Google Shape;556;p31"/>
          <p:cNvSpPr txBox="1"/>
          <p:nvPr/>
        </p:nvSpPr>
        <p:spPr>
          <a:xfrm>
            <a:off x="1000125" y="5107483"/>
            <a:ext cx="10229850" cy="228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125" b="1" i="0" u="none" strike="noStrike" cap="none">
                <a:solidFill>
                  <a:srgbClr val="4F46E5"/>
                </a:solidFill>
                <a:latin typeface="Plus Jakarta Sans"/>
                <a:ea typeface="Plus Jakarta Sans"/>
                <a:cs typeface="Plus Jakarta Sans"/>
                <a:sym typeface="Plus Jakarta Sans"/>
              </a:rPr>
              <a:t>"Không tồn tại một công nghệ tối ưu hoàn hảo mọi mặt — Storage-Class Memory đại diện cho nghệ thuật đánh đổi vật lý có kiểm soát."</a:t>
            </a:r>
            <a:endParaRPr lang="en-US" sz="1125" b="1" i="0" u="none" strike="noStrike" cap="none">
              <a:solidFill>
                <a:srgbClr val="4F46E5"/>
              </a:solidFill>
              <a:latin typeface="Plus Jakarta Sans"/>
              <a:ea typeface="Plus Jakarta Sans"/>
              <a:cs typeface="Plus Jakarta Sans"/>
              <a:sym typeface="Plus Jakarta Sans"/>
            </a:endParaRPr>
          </a:p>
        </p:txBody>
      </p:sp>
      <p:sp>
        <p:nvSpPr>
          <p:cNvPr id="557" name="Google Shape;557;p31"/>
          <p:cNvSpPr/>
          <p:nvPr/>
        </p:nvSpPr>
        <p:spPr>
          <a:xfrm>
            <a:off x="771525" y="2858095"/>
            <a:ext cx="249599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8" name="Google Shape;558;p31"/>
          <p:cNvSpPr/>
          <p:nvPr/>
        </p:nvSpPr>
        <p:spPr>
          <a:xfrm>
            <a:off x="3267521" y="2858095"/>
            <a:ext cx="874662"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9" name="Google Shape;559;p31"/>
          <p:cNvSpPr/>
          <p:nvPr/>
        </p:nvSpPr>
        <p:spPr>
          <a:xfrm>
            <a:off x="4142184" y="2858095"/>
            <a:ext cx="184278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0" name="Google Shape;560;p31"/>
          <p:cNvSpPr/>
          <p:nvPr/>
        </p:nvSpPr>
        <p:spPr>
          <a:xfrm>
            <a:off x="5984974" y="2858095"/>
            <a:ext cx="1632793"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1" name="Google Shape;561;p31"/>
          <p:cNvSpPr/>
          <p:nvPr/>
        </p:nvSpPr>
        <p:spPr>
          <a:xfrm>
            <a:off x="7617767" y="2858095"/>
            <a:ext cx="208776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2" name="Google Shape;562;p31"/>
          <p:cNvSpPr/>
          <p:nvPr/>
        </p:nvSpPr>
        <p:spPr>
          <a:xfrm>
            <a:off x="9705528" y="2858095"/>
            <a:ext cx="171494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3" name="Google Shape;563;p31"/>
          <p:cNvSpPr/>
          <p:nvPr/>
        </p:nvSpPr>
        <p:spPr>
          <a:xfrm>
            <a:off x="771525" y="3267670"/>
            <a:ext cx="249599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4" name="Google Shape;564;p31"/>
          <p:cNvSpPr/>
          <p:nvPr/>
        </p:nvSpPr>
        <p:spPr>
          <a:xfrm>
            <a:off x="3267521" y="3267670"/>
            <a:ext cx="874662"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5" name="Google Shape;565;p31"/>
          <p:cNvSpPr/>
          <p:nvPr/>
        </p:nvSpPr>
        <p:spPr>
          <a:xfrm>
            <a:off x="4142184" y="3267670"/>
            <a:ext cx="184278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6" name="Google Shape;566;p31"/>
          <p:cNvSpPr/>
          <p:nvPr/>
        </p:nvSpPr>
        <p:spPr>
          <a:xfrm>
            <a:off x="5984974" y="3267670"/>
            <a:ext cx="1632793"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7" name="Google Shape;567;p31"/>
          <p:cNvSpPr/>
          <p:nvPr/>
        </p:nvSpPr>
        <p:spPr>
          <a:xfrm>
            <a:off x="7617767" y="3267670"/>
            <a:ext cx="208776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8" name="Google Shape;568;p31"/>
          <p:cNvSpPr/>
          <p:nvPr/>
        </p:nvSpPr>
        <p:spPr>
          <a:xfrm>
            <a:off x="9705528" y="3267670"/>
            <a:ext cx="171494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9" name="Google Shape;569;p31"/>
          <p:cNvSpPr/>
          <p:nvPr/>
        </p:nvSpPr>
        <p:spPr>
          <a:xfrm>
            <a:off x="771525" y="3677245"/>
            <a:ext cx="249599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0" name="Google Shape;570;p31"/>
          <p:cNvSpPr/>
          <p:nvPr/>
        </p:nvSpPr>
        <p:spPr>
          <a:xfrm>
            <a:off x="3267521" y="3677245"/>
            <a:ext cx="874662"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1" name="Google Shape;571;p31"/>
          <p:cNvSpPr/>
          <p:nvPr/>
        </p:nvSpPr>
        <p:spPr>
          <a:xfrm>
            <a:off x="4142184" y="3677245"/>
            <a:ext cx="184278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2" name="Google Shape;572;p31"/>
          <p:cNvSpPr/>
          <p:nvPr/>
        </p:nvSpPr>
        <p:spPr>
          <a:xfrm>
            <a:off x="5984974" y="3677245"/>
            <a:ext cx="1632793"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3" name="Google Shape;573;p31"/>
          <p:cNvSpPr/>
          <p:nvPr/>
        </p:nvSpPr>
        <p:spPr>
          <a:xfrm>
            <a:off x="7617767" y="3677245"/>
            <a:ext cx="208776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4" name="Google Shape;574;p31"/>
          <p:cNvSpPr/>
          <p:nvPr/>
        </p:nvSpPr>
        <p:spPr>
          <a:xfrm>
            <a:off x="9705528" y="3677245"/>
            <a:ext cx="171494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5" name="Google Shape;575;p31"/>
          <p:cNvSpPr/>
          <p:nvPr/>
        </p:nvSpPr>
        <p:spPr>
          <a:xfrm>
            <a:off x="771525" y="4086820"/>
            <a:ext cx="249599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6" name="Google Shape;576;p31"/>
          <p:cNvSpPr/>
          <p:nvPr/>
        </p:nvSpPr>
        <p:spPr>
          <a:xfrm>
            <a:off x="3267521" y="4086820"/>
            <a:ext cx="874662"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7" name="Google Shape;577;p31"/>
          <p:cNvSpPr/>
          <p:nvPr/>
        </p:nvSpPr>
        <p:spPr>
          <a:xfrm>
            <a:off x="4142184" y="4086820"/>
            <a:ext cx="184278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8" name="Google Shape;578;p31"/>
          <p:cNvSpPr/>
          <p:nvPr/>
        </p:nvSpPr>
        <p:spPr>
          <a:xfrm>
            <a:off x="5984974" y="4086820"/>
            <a:ext cx="1632793"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79" name="Google Shape;579;p31"/>
          <p:cNvSpPr/>
          <p:nvPr/>
        </p:nvSpPr>
        <p:spPr>
          <a:xfrm>
            <a:off x="7617767" y="4086820"/>
            <a:ext cx="208776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0" name="Google Shape;580;p31"/>
          <p:cNvSpPr/>
          <p:nvPr/>
        </p:nvSpPr>
        <p:spPr>
          <a:xfrm>
            <a:off x="9705528" y="4086820"/>
            <a:ext cx="171494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1" name="Google Shape;581;p31"/>
          <p:cNvSpPr/>
          <p:nvPr/>
        </p:nvSpPr>
        <p:spPr>
          <a:xfrm>
            <a:off x="771525" y="4521696"/>
            <a:ext cx="249599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2" name="Google Shape;582;p31"/>
          <p:cNvSpPr/>
          <p:nvPr/>
        </p:nvSpPr>
        <p:spPr>
          <a:xfrm>
            <a:off x="3267521" y="4521696"/>
            <a:ext cx="874662"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3" name="Google Shape;583;p31"/>
          <p:cNvSpPr/>
          <p:nvPr/>
        </p:nvSpPr>
        <p:spPr>
          <a:xfrm>
            <a:off x="4142184" y="4521696"/>
            <a:ext cx="1842789"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4" name="Google Shape;584;p31"/>
          <p:cNvSpPr/>
          <p:nvPr/>
        </p:nvSpPr>
        <p:spPr>
          <a:xfrm>
            <a:off x="5984974" y="4521696"/>
            <a:ext cx="1632793"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5" name="Google Shape;585;p31"/>
          <p:cNvSpPr/>
          <p:nvPr/>
        </p:nvSpPr>
        <p:spPr>
          <a:xfrm>
            <a:off x="7617767" y="4521696"/>
            <a:ext cx="2087760"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6" name="Google Shape;586;p31"/>
          <p:cNvSpPr/>
          <p:nvPr/>
        </p:nvSpPr>
        <p:spPr>
          <a:xfrm>
            <a:off x="9705528" y="4521696"/>
            <a:ext cx="1714946"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7" name="Google Shape;587;p31"/>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Tổng Kết So Sánh Toàn Diện Các Công Nghệ Bộ Nhớ</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588" name="Google Shape;588;p31"/>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2"/>
        <p:cNvGrpSpPr/>
        <p:nvPr/>
      </p:nvGrpSpPr>
      <p:grpSpPr>
        <a:xfrm>
          <a:off x="0" y="0"/>
          <a:ext cx="0" cy="0"/>
          <a:chOff x="0" y="0"/>
          <a:chExt cx="0" cy="0"/>
        </a:xfrm>
      </p:grpSpPr>
      <p:pic>
        <p:nvPicPr>
          <p:cNvPr id="593" name="Google Shape;593;p32"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594" name="Google Shape;594;p32" descr="image.png"/>
          <p:cNvPicPr preferRelativeResize="0"/>
          <p:nvPr/>
        </p:nvPicPr>
        <p:blipFill rotWithShape="1">
          <a:blip r:embed="rId2"/>
          <a:srcRect/>
          <a:stretch>
            <a:fillRect/>
          </a:stretch>
        </p:blipFill>
        <p:spPr>
          <a:xfrm>
            <a:off x="6381750" y="2262187"/>
            <a:ext cx="5038725" cy="2095500"/>
          </a:xfrm>
          <a:prstGeom prst="rect">
            <a:avLst/>
          </a:prstGeom>
          <a:noFill/>
          <a:ln>
            <a:noFill/>
          </a:ln>
        </p:spPr>
      </p:pic>
      <p:sp>
        <p:nvSpPr>
          <p:cNvPr id="595" name="Google Shape;595;p32"/>
          <p:cNvSpPr txBox="1"/>
          <p:nvPr/>
        </p:nvSpPr>
        <p:spPr>
          <a:xfrm>
            <a:off x="6381750" y="4500562"/>
            <a:ext cx="5038725" cy="2132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050" b="0" i="0" u="none" strike="noStrike" cap="none">
                <a:solidFill>
                  <a:srgbClr val="4338CA"/>
                </a:solidFill>
                <a:latin typeface="Plus Jakarta Sans SemiBold"/>
                <a:ea typeface="Plus Jakarta Sans SemiBold"/>
                <a:cs typeface="Plus Jakarta Sans SemiBold"/>
                <a:sym typeface="Plus Jakarta Sans SemiBold"/>
              </a:rPr>
              <a:t>Tương lai lai hóa bộ nhớ:</a:t>
            </a:r>
            <a:endParaRPr lang="en-US" sz="1050" b="0" i="0" u="none" strike="noStrike" cap="none">
              <a:solidFill>
                <a:srgbClr val="4338CA"/>
              </a:solidFill>
              <a:latin typeface="Plus Jakarta Sans SemiBold"/>
              <a:ea typeface="Plus Jakarta Sans SemiBold"/>
              <a:cs typeface="Plus Jakarta Sans SemiBold"/>
              <a:sym typeface="Plus Jakarta Sans SemiBold"/>
            </a:endParaRPr>
          </a:p>
        </p:txBody>
      </p:sp>
      <p:sp>
        <p:nvSpPr>
          <p:cNvPr id="596" name="Google Shape;596;p32"/>
          <p:cNvSpPr txBox="1"/>
          <p:nvPr/>
        </p:nvSpPr>
        <p:spPr>
          <a:xfrm>
            <a:off x="6381750" y="4713833"/>
            <a:ext cx="5038725" cy="5942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975" b="0" i="0" u="none" strike="noStrike" cap="none">
                <a:solidFill>
                  <a:srgbClr val="475569"/>
                </a:solidFill>
                <a:latin typeface="Plus Jakarta Sans"/>
                <a:ea typeface="Plus Jakarta Sans"/>
                <a:cs typeface="Plus Jakarta Sans"/>
                <a:sym typeface="Plus Jakarta Sans"/>
              </a:rPr>
              <a:t>Thiết kế hệ thống lai (Hybrid Memory DRAM + SCM) song song với nghiên cứu kiến trúc tính toán trong bộ nhớ (ReRAM PIM) đang là hai mũi nhọn khoa học nhận được đầu tư mạnh mẽ nhất hiện nay.</a:t>
            </a:r>
            <a:endParaRPr lang="en-US" sz="975" b="0" i="0" u="none" strike="noStrike" cap="none">
              <a:solidFill>
                <a:srgbClr val="475569"/>
              </a:solidFill>
              <a:latin typeface="Plus Jakarta Sans"/>
              <a:ea typeface="Plus Jakarta Sans"/>
              <a:cs typeface="Plus Jakarta Sans"/>
              <a:sym typeface="Plus Jakarta Sans"/>
            </a:endParaRPr>
          </a:p>
        </p:txBody>
      </p:sp>
      <p:sp>
        <p:nvSpPr>
          <p:cNvPr id="597" name="Google Shape;597;p32"/>
          <p:cNvSpPr txBox="1"/>
          <p:nvPr/>
        </p:nvSpPr>
        <p:spPr>
          <a:xfrm>
            <a:off x="1000125" y="2727870"/>
            <a:ext cx="4810125"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PCM &amp; ReRAM hoàn toàn khả thi làm SCM:</a:t>
            </a:r>
            <a:r>
              <a:rPr lang="en-US" sz="1125" b="0" i="0" u="none" strike="noStrike" cap="none">
                <a:solidFill>
                  <a:srgbClr val="475569"/>
                </a:solidFill>
                <a:latin typeface="Plus Jakarta Sans"/>
                <a:ea typeface="Plus Jakarta Sans"/>
                <a:cs typeface="Plus Jakarta Sans"/>
                <a:sym typeface="Plus Jakarta Sans"/>
              </a:rPr>
              <a:t> PCM sở hữu sự chín muồi vượt bậc trong dây chuyền chế tạo công nghiệp, trong khi ReRAM chứng minh tiềm năng mật độ và cấu trúc đơn giản, tiết kiệm năng lượng hơn hẳn.</a:t>
            </a:r>
            <a:endParaRPr lang="en-US" sz="1125" b="0" i="0" u="none" strike="noStrike" cap="none">
              <a:solidFill>
                <a:srgbClr val="475569"/>
              </a:solidFill>
              <a:latin typeface="Plus Jakarta Sans"/>
              <a:ea typeface="Plus Jakarta Sans"/>
              <a:cs typeface="Plus Jakarta Sans"/>
              <a:sym typeface="Plus Jakarta Sans"/>
            </a:endParaRPr>
          </a:p>
        </p:txBody>
      </p:sp>
      <p:sp>
        <p:nvSpPr>
          <p:cNvPr id="598" name="Google Shape;598;p32"/>
          <p:cNvSpPr txBox="1"/>
          <p:nvPr/>
        </p:nvSpPr>
        <p:spPr>
          <a:xfrm>
            <a:off x="1000125" y="3785145"/>
            <a:ext cx="4810125"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475569"/>
                </a:solidFill>
                <a:latin typeface="Plus Jakarta Sans"/>
                <a:ea typeface="Plus Jakarta Sans"/>
                <a:cs typeface="Plus Jakarta Sans"/>
                <a:sym typeface="Plus Jakarta Sans"/>
              </a:rPr>
              <a:t>Thực tế thương mại từ Intel Optane:</a:t>
            </a:r>
            <a:r>
              <a:rPr lang="en-US" sz="1125" b="0" i="0" u="none" strike="noStrike" cap="none">
                <a:solidFill>
                  <a:srgbClr val="475569"/>
                </a:solidFill>
                <a:latin typeface="Plus Jakarta Sans"/>
                <a:ea typeface="Plus Jakarta Sans"/>
                <a:cs typeface="Plus Jakarta Sans"/>
                <a:sym typeface="Plus Jakarta Sans"/>
              </a:rPr>
              <a:t> Chứng minh sự tồn tại thực tế của SCM nhưng cảnh báo các rào cản độ trễ hệ thống (~305 ns) cao hơn lý thuyết phòng thí nghiệm, đòi hỏi sự cải cách toàn diện từ hệ điều hành và trình biên dịch.</a:t>
            </a:r>
            <a:endParaRPr lang="en-US" sz="1125" b="0" i="0" u="none" strike="noStrike" cap="none">
              <a:solidFill>
                <a:srgbClr val="475569"/>
              </a:solidFill>
              <a:latin typeface="Plus Jakarta Sans"/>
              <a:ea typeface="Plus Jakarta Sans"/>
              <a:cs typeface="Plus Jakarta Sans"/>
              <a:sym typeface="Plus Jakarta Sans"/>
            </a:endParaRPr>
          </a:p>
        </p:txBody>
      </p:sp>
      <p:pic>
        <p:nvPicPr>
          <p:cNvPr id="599" name="Google Shape;599;p32" descr="image.png"/>
          <p:cNvPicPr preferRelativeResize="0"/>
          <p:nvPr/>
        </p:nvPicPr>
        <p:blipFill rotWithShape="1">
          <a:blip r:embed="rId3"/>
          <a:srcRect/>
          <a:stretch>
            <a:fillRect/>
          </a:stretch>
        </p:blipFill>
        <p:spPr>
          <a:xfrm>
            <a:off x="6391275" y="2271712"/>
            <a:ext cx="5019675" cy="2076450"/>
          </a:xfrm>
          <a:prstGeom prst="rect">
            <a:avLst/>
          </a:prstGeom>
          <a:noFill/>
          <a:ln>
            <a:noFill/>
          </a:ln>
        </p:spPr>
      </p:pic>
      <p:sp>
        <p:nvSpPr>
          <p:cNvPr id="600" name="Google Shape;600;p32"/>
          <p:cNvSpPr txBox="1"/>
          <p:nvPr/>
        </p:nvSpPr>
        <p:spPr>
          <a:xfrm>
            <a:off x="771525" y="2727870"/>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601" name="Google Shape;601;p32"/>
          <p:cNvSpPr txBox="1"/>
          <p:nvPr/>
        </p:nvSpPr>
        <p:spPr>
          <a:xfrm>
            <a:off x="771525" y="3785145"/>
            <a:ext cx="142875" cy="228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1" i="0" u="none" strike="noStrike" cap="none">
                <a:solidFill>
                  <a:srgbClr val="6366F1"/>
                </a:solidFill>
                <a:latin typeface="Plus Jakarta Sans"/>
                <a:ea typeface="Plus Jakarta Sans"/>
                <a:cs typeface="Plus Jakarta Sans"/>
                <a:sym typeface="Plus Jakarta Sans"/>
              </a:rPr>
              <a:t>→</a:t>
            </a:r>
            <a:endParaRPr lang="en-US" sz="1125" b="1" i="0" u="none" strike="noStrike" cap="none">
              <a:solidFill>
                <a:srgbClr val="6366F1"/>
              </a:solidFill>
              <a:latin typeface="Plus Jakarta Sans"/>
              <a:ea typeface="Plus Jakarta Sans"/>
              <a:cs typeface="Plus Jakarta Sans"/>
              <a:sym typeface="Plus Jakarta Sans"/>
            </a:endParaRPr>
          </a:p>
        </p:txBody>
      </p:sp>
      <p:sp>
        <p:nvSpPr>
          <p:cNvPr id="602" name="Google Shape;602;p32"/>
          <p:cNvSpPr txBox="1"/>
          <p:nvPr/>
        </p:nvSpPr>
        <p:spPr>
          <a:xfrm>
            <a:off x="771525" y="485775"/>
            <a:ext cx="11181397" cy="4076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0" i="0" u="none" strike="noStrike" cap="none">
                <a:solidFill>
                  <a:srgbClr val="0F172A"/>
                </a:solidFill>
                <a:latin typeface="Playfair Display SemiBold"/>
                <a:ea typeface="Playfair Display SemiBold"/>
                <a:cs typeface="Playfair Display SemiBold"/>
                <a:sym typeface="Playfair Display SemiBold"/>
              </a:rPr>
              <a:t>Kết Luận và Định Hướng Phát Triển Tương Lai</a:t>
            </a:r>
            <a:endParaRPr lang="en-US" sz="2550" b="0" i="0" u="none" strike="noStrike" cap="none">
              <a:solidFill>
                <a:srgbClr val="0F172A"/>
              </a:solidFill>
              <a:latin typeface="Playfair Display SemiBold"/>
              <a:ea typeface="Playfair Display SemiBold"/>
              <a:cs typeface="Playfair Display SemiBold"/>
              <a:sym typeface="Playfair Display SemiBold"/>
            </a:endParaRPr>
          </a:p>
        </p:txBody>
      </p:sp>
      <p:sp>
        <p:nvSpPr>
          <p:cNvPr id="603" name="Google Shape;603;p32"/>
          <p:cNvSpPr/>
          <p:nvPr/>
        </p:nvSpPr>
        <p:spPr>
          <a:xfrm>
            <a:off x="771525" y="988665"/>
            <a:ext cx="10648950" cy="1905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04" name="TextBox 603"/>
          <p:cNvSpPr txBox="1"/>
          <p:nvPr/>
        </p:nvSpPr>
        <p:spPr>
          <a:xfrm>
            <a:off x="768096" y="5760720"/>
            <a:ext cx="10652760" cy="777240"/>
          </a:xfrm>
          <a:prstGeom prst="rect">
            <a:avLst/>
          </a:prstGeom>
          <a:noFill/>
        </p:spPr>
        <p:txBody>
          <a:bodyPr wrap="square">
            <a:spAutoFit/>
          </a:bodyPr>
          <a:lstStyle/>
          <a:p>
            <a:pPr algn="ctr"/>
            <a:r>
              <a:rPr sz="1100" i="1">
                <a:solidFill>
                  <a:srgbClr val="94A3B8"/>
                </a:solidFill>
              </a:rPr>
              <a:t>“NVM đang chuyển phân cấp bộ nhớ từ các tầng rời rạc thành một phổ liên tục — người thiết kế hệ thống có thêm lựa chọn nhưng cũng thêm phức tạp.”</a:t>
            </a:r>
            <a:endParaRPr sz="1100" i="1">
              <a:solidFill>
                <a:srgbClr val="94A3B8"/>
              </a:solidFil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13604</Words>
  <Application>WPS Spreadsheets</Application>
  <PresentationFormat>Widescreen</PresentationFormat>
  <Paragraphs>508</Paragraphs>
  <Slides>20</Slides>
  <Notes>22</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20</vt:i4>
      </vt:variant>
    </vt:vector>
  </HeadingPairs>
  <TitlesOfParts>
    <vt:vector size="38" baseType="lpstr">
      <vt:lpstr>Arial</vt:lpstr>
      <vt:lpstr>SimSun</vt:lpstr>
      <vt:lpstr>Wingdings</vt:lpstr>
      <vt:lpstr>Arial</vt:lpstr>
      <vt:lpstr>Calibri</vt:lpstr>
      <vt:lpstr>Helvetica Neue</vt:lpstr>
      <vt:lpstr>Plus Jakarta Sans Medium</vt:lpstr>
      <vt:lpstr>Thonburi</vt:lpstr>
      <vt:lpstr>Playfair Display</vt:lpstr>
      <vt:lpstr>Plus Jakarta Sans SemiBold</vt:lpstr>
      <vt:lpstr>Plus Jakarta Sans</vt:lpstr>
      <vt:lpstr>Playfair Display SemiBold</vt:lpstr>
      <vt:lpstr>DejaVu Math TeX Gyre</vt:lpstr>
      <vt:lpstr>Microsoft YaHei</vt:lpstr>
      <vt:lpstr>汉仪旗黑</vt:lpstr>
      <vt:lpstr>Arial Unicode MS</vt:lpstr>
      <vt:lpstr>宋体-简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lapistia34</cp:lastModifiedBy>
  <cp:revision>7</cp:revision>
  <dcterms:created xsi:type="dcterms:W3CDTF">2026-07-04T12:13:02Z</dcterms:created>
  <dcterms:modified xsi:type="dcterms:W3CDTF">2026-07-04T12:13:02Z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177F04E7A2D335D80BA8476AD25B300E_42</vt:lpwstr>
  </property>
  <property fmtid="{D5CDD505-2E9C-101B-9397-08002B2CF9AE}" pid="3" name="KSOProductBuildVer">
    <vt:lpwstr>1033-6.13.1.8710</vt:lpwstr>
  </property>
</Properties>
</file>